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71"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12" y="16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F1362E-9250-4B8C-B4E7-6B05199420EE}" type="datetimeFigureOut">
              <a:rPr lang="zh-CN" altLang="en-US" smtClean="0"/>
              <a:t>2025/6/21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A194C-891A-4BDA-A4C2-FAE9F82F2D6F}" type="slidenum">
              <a:rPr lang="zh-CN" altLang="en-US" smtClean="0"/>
              <a:t>‹#›</a:t>
            </a:fld>
            <a:endParaRPr lang="zh-CN" altLang="en-US"/>
          </a:p>
        </p:txBody>
      </p:sp>
    </p:spTree>
    <p:extLst>
      <p:ext uri="{BB962C8B-B14F-4D97-AF65-F5344CB8AC3E}">
        <p14:creationId xmlns:p14="http://schemas.microsoft.com/office/powerpoint/2010/main" val="3190467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等线" panose="02010600030101010101" pitchFamily="2" charset="-122"/>
              </a:rPr>
              <a:t>Hello everyone, my name is </a:t>
            </a:r>
            <a:r>
              <a:rPr lang="en-US" altLang="zh-CN" sz="1800" dirty="0" err="1">
                <a:effectLst/>
                <a:latin typeface="Times New Roman" panose="02020603050405020304" pitchFamily="18" charset="0"/>
                <a:ea typeface="等线" panose="02010600030101010101" pitchFamily="2" charset="-122"/>
              </a:rPr>
              <a:t>Qihang</a:t>
            </a:r>
            <a:r>
              <a:rPr lang="en-US" altLang="zh-CN" sz="1800" dirty="0">
                <a:effectLst/>
                <a:latin typeface="Times New Roman" panose="02020603050405020304" pitchFamily="18" charset="0"/>
                <a:ea typeface="等线" panose="02010600030101010101" pitchFamily="2" charset="-122"/>
              </a:rPr>
              <a:t> Peng. </a:t>
            </a:r>
            <a:r>
              <a:rPr lang="en-US" altLang="zh-CN" sz="2800" dirty="0"/>
              <a:t>Currently </a:t>
            </a:r>
            <a:r>
              <a:rPr lang="en-US" altLang="zh-CN" sz="4000" dirty="0"/>
              <a:t>I am a first-year PhD student at Tsinghua University.</a:t>
            </a:r>
            <a:r>
              <a:rPr lang="en-US" altLang="zh-CN" sz="2800" dirty="0"/>
              <a:t> </a:t>
            </a:r>
            <a:r>
              <a:rPr lang="en-US" altLang="zh-CN" sz="1800" dirty="0">
                <a:effectLst/>
                <a:latin typeface="Times New Roman" panose="02020603050405020304" pitchFamily="18" charset="0"/>
                <a:ea typeface="等线" panose="02010600030101010101" pitchFamily="2" charset="-122"/>
              </a:rPr>
              <a:t>I will give a presentation named as </a:t>
            </a:r>
            <a:r>
              <a:rPr lang="en-US" altLang="zh-CN" sz="1800" i="1" dirty="0">
                <a:effectLst/>
                <a:latin typeface="Times New Roman" panose="02020603050405020304" pitchFamily="18" charset="0"/>
                <a:ea typeface="等线" panose="02010600030101010101" pitchFamily="2" charset="-122"/>
              </a:rPr>
              <a:t>Decoding DNS Centralization: Measuring and Identifying NS Domains Across Hosting Providers</a:t>
            </a:r>
            <a:r>
              <a:rPr lang="en-US" altLang="zh-CN" sz="1800" dirty="0">
                <a:effectLst/>
                <a:latin typeface="Times New Roman" panose="02020603050405020304" pitchFamily="18" charset="0"/>
                <a:ea typeface="等线" panose="02010600030101010101" pitchFamily="2" charset="-122"/>
              </a:rPr>
              <a:t>.</a:t>
            </a:r>
            <a:endParaRPr lang="zh-CN" altLang="en-US" dirty="0"/>
          </a:p>
        </p:txBody>
      </p:sp>
      <p:sp>
        <p:nvSpPr>
          <p:cNvPr id="4" name="灯片编号占位符 3"/>
          <p:cNvSpPr>
            <a:spLocks noGrp="1"/>
          </p:cNvSpPr>
          <p:nvPr>
            <p:ph type="sldNum" sz="quarter" idx="5"/>
          </p:nvPr>
        </p:nvSpPr>
        <p:spPr/>
        <p:txBody>
          <a:bodyPr/>
          <a:lstStyle/>
          <a:p>
            <a:fld id="{F2AA194C-891A-4BDA-A4C2-FAE9F82F2D6F}" type="slidenum">
              <a:rPr lang="zh-CN" altLang="en-US" smtClean="0"/>
              <a:t>1</a:t>
            </a:fld>
            <a:endParaRPr lang="zh-CN" altLang="en-US"/>
          </a:p>
        </p:txBody>
      </p:sp>
    </p:spTree>
    <p:extLst>
      <p:ext uri="{BB962C8B-B14F-4D97-AF65-F5344CB8AC3E}">
        <p14:creationId xmlns:p14="http://schemas.microsoft.com/office/powerpoint/2010/main" val="1860850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等线" panose="02010600030101010101" pitchFamily="2" charset="-122"/>
              </a:rPr>
              <a:t>What is DNS, or Domain Name System? It’s a critical infrastructure that translates domain names to IP addresses. If we use a browser to try to access example.com, our browser will request the DNS automatically for the IP address. The progress for resolving is recursive,  as shown in the picture, we need to access several name servers, such as the Root, TLD name server and authoritative name servers. Each name server has a domain name and we will call it NS for short. We call that the final name server which returns the IP host this domain, usually this name server is provided by an external hosting provider.</a:t>
            </a:r>
            <a:endParaRPr lang="zh-CN" altLang="en-US" dirty="0"/>
          </a:p>
        </p:txBody>
      </p:sp>
      <p:sp>
        <p:nvSpPr>
          <p:cNvPr id="4" name="灯片编号占位符 3"/>
          <p:cNvSpPr>
            <a:spLocks noGrp="1"/>
          </p:cNvSpPr>
          <p:nvPr>
            <p:ph type="sldNum" sz="quarter" idx="5"/>
          </p:nvPr>
        </p:nvSpPr>
        <p:spPr/>
        <p:txBody>
          <a:bodyPr/>
          <a:lstStyle/>
          <a:p>
            <a:fld id="{F2AA194C-891A-4BDA-A4C2-FAE9F82F2D6F}" type="slidenum">
              <a:rPr lang="zh-CN" altLang="en-US" smtClean="0"/>
              <a:t>2</a:t>
            </a:fld>
            <a:endParaRPr lang="zh-CN" altLang="en-US"/>
          </a:p>
        </p:txBody>
      </p:sp>
    </p:spTree>
    <p:extLst>
      <p:ext uri="{BB962C8B-B14F-4D97-AF65-F5344CB8AC3E}">
        <p14:creationId xmlns:p14="http://schemas.microsoft.com/office/powerpoint/2010/main" val="526728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等线" panose="02010600030101010101" pitchFamily="2" charset="-122"/>
              </a:rPr>
              <a:t>DNS is designed as a distributed system for low delay and high robustness. But in recent years, DNS has become more and more centralized across multiple layers. </a:t>
            </a:r>
            <a:r>
              <a:rPr lang="en-US" altLang="zh-CN" sz="2800" dirty="0"/>
              <a:t>The table shows a measurement result from APNIC. We can observe that the top 10 </a:t>
            </a:r>
            <a:r>
              <a:rPr lang="en-US" altLang="zh-CN" sz="2800" dirty="0" err="1"/>
              <a:t>ASes</a:t>
            </a:r>
            <a:r>
              <a:rPr lang="en-US" altLang="zh-CN" sz="2800" dirty="0"/>
              <a:t> handle over 76% of DNS queries, indicating a clear trend of centralization at the hosting provider level. </a:t>
            </a:r>
            <a:r>
              <a:rPr lang="en-US" altLang="zh-CN" dirty="0"/>
              <a:t>However, this data does not clearly reflect the degree of centralization of DNS in the hosting provider sector.</a:t>
            </a:r>
            <a:endParaRPr lang="zh-CN" altLang="en-US" dirty="0"/>
          </a:p>
        </p:txBody>
      </p:sp>
      <p:sp>
        <p:nvSpPr>
          <p:cNvPr id="4" name="灯片编号占位符 3"/>
          <p:cNvSpPr>
            <a:spLocks noGrp="1"/>
          </p:cNvSpPr>
          <p:nvPr>
            <p:ph type="sldNum" sz="quarter" idx="5"/>
          </p:nvPr>
        </p:nvSpPr>
        <p:spPr/>
        <p:txBody>
          <a:bodyPr/>
          <a:lstStyle/>
          <a:p>
            <a:fld id="{F2AA194C-891A-4BDA-A4C2-FAE9F82F2D6F}" type="slidenum">
              <a:rPr lang="zh-CN" altLang="en-US" smtClean="0"/>
              <a:t>3</a:t>
            </a:fld>
            <a:endParaRPr lang="zh-CN" altLang="en-US"/>
          </a:p>
        </p:txBody>
      </p:sp>
    </p:spTree>
    <p:extLst>
      <p:ext uri="{BB962C8B-B14F-4D97-AF65-F5344CB8AC3E}">
        <p14:creationId xmlns:p14="http://schemas.microsoft.com/office/powerpoint/2010/main" val="2706271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等线" panose="02010600030101010101" pitchFamily="2" charset="-122"/>
              </a:rPr>
              <a:t>What is the harm of the centralization of hosting providers in DNS? Well, assume that there is a provider hosting 50% domains, and unluckily, the service of the provider is vulnerable so that hackers can change the IP of the domains it records. Or the service becomes unavailable. As we can say that these raise significant harm to the Internet</a:t>
            </a:r>
            <a:endParaRPr lang="zh-CN" altLang="en-US" dirty="0"/>
          </a:p>
        </p:txBody>
      </p:sp>
      <p:sp>
        <p:nvSpPr>
          <p:cNvPr id="4" name="灯片编号占位符 3"/>
          <p:cNvSpPr>
            <a:spLocks noGrp="1"/>
          </p:cNvSpPr>
          <p:nvPr>
            <p:ph type="sldNum" sz="quarter" idx="5"/>
          </p:nvPr>
        </p:nvSpPr>
        <p:spPr/>
        <p:txBody>
          <a:bodyPr/>
          <a:lstStyle/>
          <a:p>
            <a:fld id="{F2AA194C-891A-4BDA-A4C2-FAE9F82F2D6F}" type="slidenum">
              <a:rPr lang="zh-CN" altLang="en-US" smtClean="0"/>
              <a:t>4</a:t>
            </a:fld>
            <a:endParaRPr lang="zh-CN" altLang="en-US"/>
          </a:p>
        </p:txBody>
      </p:sp>
    </p:spTree>
    <p:extLst>
      <p:ext uri="{BB962C8B-B14F-4D97-AF65-F5344CB8AC3E}">
        <p14:creationId xmlns:p14="http://schemas.microsoft.com/office/powerpoint/2010/main" val="4081490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等线" panose="02010600030101010101" pitchFamily="2" charset="-122"/>
              </a:rPr>
              <a:t>If we want to avoid this, we may first measure how centralized DNS is, then we will face the problem of how to identify providers. Checking AS, or checking the physical servers belong to which entity is a usual method. But, NS is not a physical server but a logical server, the relationship between NS and physical servers may be many-to-many. It’s impossible for us to identify hosting providers by identifying physical server providers. We can also check NS, it’s a good idea, but we may not identify their providers simply. </a:t>
            </a:r>
            <a:r>
              <a:rPr lang="en-US" altLang="zh-CN" sz="2800" dirty="0"/>
              <a:t>In fact, accurately identifying NS records remains a major challenge. </a:t>
            </a:r>
            <a:r>
              <a:rPr lang="en-US" altLang="zh-CN" sz="1800" dirty="0">
                <a:effectLst/>
                <a:latin typeface="Times New Roman" panose="02020603050405020304" pitchFamily="18" charset="0"/>
                <a:ea typeface="等线" panose="02010600030101010101" pitchFamily="2" charset="-122"/>
              </a:rPr>
              <a:t>For example, can we identify the providers of these NS?</a:t>
            </a:r>
            <a:endParaRPr lang="zh-CN" altLang="en-US" dirty="0"/>
          </a:p>
        </p:txBody>
      </p:sp>
      <p:sp>
        <p:nvSpPr>
          <p:cNvPr id="4" name="灯片编号占位符 3"/>
          <p:cNvSpPr>
            <a:spLocks noGrp="1"/>
          </p:cNvSpPr>
          <p:nvPr>
            <p:ph type="sldNum" sz="quarter" idx="5"/>
          </p:nvPr>
        </p:nvSpPr>
        <p:spPr/>
        <p:txBody>
          <a:bodyPr/>
          <a:lstStyle/>
          <a:p>
            <a:fld id="{F2AA194C-891A-4BDA-A4C2-FAE9F82F2D6F}" type="slidenum">
              <a:rPr lang="zh-CN" altLang="en-US" smtClean="0"/>
              <a:t>5</a:t>
            </a:fld>
            <a:endParaRPr lang="zh-CN" altLang="en-US"/>
          </a:p>
        </p:txBody>
      </p:sp>
    </p:spTree>
    <p:extLst>
      <p:ext uri="{BB962C8B-B14F-4D97-AF65-F5344CB8AC3E}">
        <p14:creationId xmlns:p14="http://schemas.microsoft.com/office/powerpoint/2010/main" val="3369179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These three examples highlight two challenges in identifying NS records. First, the NS domain name may not explicitly contain information about the corresponding provider—for instance, </a:t>
            </a:r>
            <a:r>
              <a:rPr lang="en-US" altLang="zh-CN" i="1" dirty="0"/>
              <a:t>hichina.com</a:t>
            </a:r>
            <a:r>
              <a:rPr lang="en-US" altLang="zh-CN" dirty="0"/>
              <a:t> and </a:t>
            </a:r>
            <a:r>
              <a:rPr lang="en-US" altLang="zh-CN" i="1" dirty="0"/>
              <a:t>registrar-servers.com</a:t>
            </a:r>
            <a:r>
              <a:rPr lang="en-US" altLang="zh-CN" dirty="0"/>
              <a:t> belong to Alibaba Cloud and Namecheap, respectively. Second, even when a domain name appears to indicate the provider, this information may be inaccurate due to mergers or partnerships between providers. For example, while </a:t>
            </a:r>
            <a:r>
              <a:rPr lang="en-US" altLang="zh-CN" i="1" dirty="0"/>
              <a:t>linode.com</a:t>
            </a:r>
            <a:r>
              <a:rPr lang="en-US" altLang="zh-CN" dirty="0"/>
              <a:t> seems to belong to </a:t>
            </a:r>
            <a:r>
              <a:rPr lang="en-US" altLang="zh-CN" dirty="0" err="1"/>
              <a:t>Linode</a:t>
            </a:r>
            <a:r>
              <a:rPr lang="en-US" altLang="zh-CN" dirty="0"/>
              <a:t>, its NS domain is now controlled by Akamai following Akamai’s acquisition of </a:t>
            </a:r>
            <a:r>
              <a:rPr lang="en-US" altLang="zh-CN" dirty="0" err="1"/>
              <a:t>Linode</a:t>
            </a:r>
            <a:r>
              <a:rPr lang="en-US" altLang="zh-CN" dirty="0"/>
              <a:t>. </a:t>
            </a:r>
            <a:r>
              <a:rPr lang="en-US" altLang="zh-CN" sz="1800" dirty="0">
                <a:effectLst/>
                <a:latin typeface="Times New Roman" panose="02020603050405020304" pitchFamily="18" charset="0"/>
                <a:ea typeface="等线" panose="02010600030101010101" pitchFamily="2" charset="-122"/>
              </a:rPr>
              <a:t>So, how to overcome these </a:t>
            </a:r>
            <a:r>
              <a:rPr lang="en-US" altLang="zh-CN" sz="1800" dirty="0"/>
              <a:t>challenges to</a:t>
            </a:r>
            <a:r>
              <a:rPr lang="en-US" altLang="zh-CN" sz="1800" dirty="0">
                <a:effectLst/>
                <a:latin typeface="Times New Roman" panose="02020603050405020304" pitchFamily="18" charset="0"/>
                <a:ea typeface="等线" panose="02010600030101010101" pitchFamily="2" charset="-122"/>
              </a:rPr>
              <a:t> identify providers by checking NS?</a:t>
            </a:r>
            <a:endParaRPr lang="zh-CN" altLang="en-US" dirty="0"/>
          </a:p>
        </p:txBody>
      </p:sp>
      <p:sp>
        <p:nvSpPr>
          <p:cNvPr id="4" name="灯片编号占位符 3"/>
          <p:cNvSpPr>
            <a:spLocks noGrp="1"/>
          </p:cNvSpPr>
          <p:nvPr>
            <p:ph type="sldNum" sz="quarter" idx="5"/>
          </p:nvPr>
        </p:nvSpPr>
        <p:spPr/>
        <p:txBody>
          <a:bodyPr/>
          <a:lstStyle/>
          <a:p>
            <a:fld id="{F2AA194C-891A-4BDA-A4C2-FAE9F82F2D6F}" type="slidenum">
              <a:rPr lang="zh-CN" altLang="en-US" smtClean="0"/>
              <a:t>6</a:t>
            </a:fld>
            <a:endParaRPr lang="zh-CN" altLang="en-US"/>
          </a:p>
        </p:txBody>
      </p:sp>
    </p:spTree>
    <p:extLst>
      <p:ext uri="{BB962C8B-B14F-4D97-AF65-F5344CB8AC3E}">
        <p14:creationId xmlns:p14="http://schemas.microsoft.com/office/powerpoint/2010/main" val="3058285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Now we have a workflow. Given a list of NS, we will identify them by grouping and labeling. Labeling is simple by using the registration information from WHOIS and so on. How about grouping? We will introduce our method, which is grouping by textual pattern similarity and co-hosting similarity.</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F2AA194C-891A-4BDA-A4C2-FAE9F82F2D6F}" type="slidenum">
              <a:rPr lang="zh-CN" altLang="en-US" smtClean="0"/>
              <a:t>7</a:t>
            </a:fld>
            <a:endParaRPr lang="zh-CN" altLang="en-US"/>
          </a:p>
        </p:txBody>
      </p:sp>
    </p:spTree>
    <p:extLst>
      <p:ext uri="{BB962C8B-B14F-4D97-AF65-F5344CB8AC3E}">
        <p14:creationId xmlns:p14="http://schemas.microsoft.com/office/powerpoint/2010/main" val="3258336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What is textual pattern similarity? Given an NS domain like this, we will cut it into subdomains, base and </a:t>
            </a:r>
            <a:r>
              <a:rPr lang="en-US" altLang="zh-CN" sz="1800" kern="100" dirty="0" err="1">
                <a:effectLst/>
                <a:latin typeface="Times New Roman" panose="02020603050405020304" pitchFamily="18" charset="0"/>
                <a:ea typeface="等线" panose="02010600030101010101" pitchFamily="2" charset="-122"/>
                <a:cs typeface="Times New Roman" panose="02020603050405020304" pitchFamily="18" charset="0"/>
              </a:rPr>
              <a:t>eTLD</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We introduce “core” which consists of base and part of subdomains. We can define NS1 and NS2 are similar if and only if they meet the three rules. Here is an example of using these rules for grouping. You may think it simple, but it is effective in our practice.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F2AA194C-891A-4BDA-A4C2-FAE9F82F2D6F}" type="slidenum">
              <a:rPr lang="zh-CN" altLang="en-US" smtClean="0"/>
              <a:t>8</a:t>
            </a:fld>
            <a:endParaRPr lang="zh-CN" altLang="en-US"/>
          </a:p>
        </p:txBody>
      </p:sp>
    </p:spTree>
    <p:extLst>
      <p:ext uri="{BB962C8B-B14F-4D97-AF65-F5344CB8AC3E}">
        <p14:creationId xmlns:p14="http://schemas.microsoft.com/office/powerpoint/2010/main" val="351190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等线" panose="02010600030101010101" pitchFamily="2" charset="-122"/>
              </a:rPr>
              <a:t>As for co-hosting similarity, it’s based on the fact that for most users choosing two or more hosting providers only increases operational costs, so NS domains co-hosting a substantial volume of user domains likely belong to the same provider. As for the threshold for grouping we choose 90% after enough experiments. Here is an example.</a:t>
            </a:r>
            <a:endParaRPr lang="zh-CN" altLang="en-US" dirty="0"/>
          </a:p>
        </p:txBody>
      </p:sp>
      <p:sp>
        <p:nvSpPr>
          <p:cNvPr id="4" name="灯片编号占位符 3"/>
          <p:cNvSpPr>
            <a:spLocks noGrp="1"/>
          </p:cNvSpPr>
          <p:nvPr>
            <p:ph type="sldNum" sz="quarter" idx="5"/>
          </p:nvPr>
        </p:nvSpPr>
        <p:spPr/>
        <p:txBody>
          <a:bodyPr/>
          <a:lstStyle/>
          <a:p>
            <a:fld id="{F2AA194C-891A-4BDA-A4C2-FAE9F82F2D6F}" type="slidenum">
              <a:rPr lang="zh-CN" altLang="en-US" smtClean="0"/>
              <a:t>9</a:t>
            </a:fld>
            <a:endParaRPr lang="zh-CN" altLang="en-US"/>
          </a:p>
        </p:txBody>
      </p:sp>
    </p:spTree>
    <p:extLst>
      <p:ext uri="{BB962C8B-B14F-4D97-AF65-F5344CB8AC3E}">
        <p14:creationId xmlns:p14="http://schemas.microsoft.com/office/powerpoint/2010/main" val="2928529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等线" panose="02010600030101010101" pitchFamily="2" charset="-122"/>
              </a:rPr>
              <a:t>Given the description of these two methods, we can give the full workflow of our method as the slides.</a:t>
            </a:r>
            <a:endParaRPr lang="zh-CN" altLang="en-US" dirty="0"/>
          </a:p>
        </p:txBody>
      </p:sp>
      <p:sp>
        <p:nvSpPr>
          <p:cNvPr id="4" name="灯片编号占位符 3"/>
          <p:cNvSpPr>
            <a:spLocks noGrp="1"/>
          </p:cNvSpPr>
          <p:nvPr>
            <p:ph type="sldNum" sz="quarter" idx="5"/>
          </p:nvPr>
        </p:nvSpPr>
        <p:spPr/>
        <p:txBody>
          <a:bodyPr/>
          <a:lstStyle/>
          <a:p>
            <a:fld id="{F2AA194C-891A-4BDA-A4C2-FAE9F82F2D6F}" type="slidenum">
              <a:rPr lang="zh-CN" altLang="en-US" smtClean="0"/>
              <a:t>10</a:t>
            </a:fld>
            <a:endParaRPr lang="zh-CN" altLang="en-US"/>
          </a:p>
        </p:txBody>
      </p:sp>
    </p:spTree>
    <p:extLst>
      <p:ext uri="{BB962C8B-B14F-4D97-AF65-F5344CB8AC3E}">
        <p14:creationId xmlns:p14="http://schemas.microsoft.com/office/powerpoint/2010/main" val="1792642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For evaluation and comparison, </a:t>
            </a:r>
            <a:r>
              <a:rPr lang="en-US" altLang="zh-CN" sz="2800" dirty="0"/>
              <a:t>to the best of our knowledge, there is currently no widely recognized benchmark dataset available in this area, so</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we make a test dataset consisting of 773 NS domains to conduct the experiments, </a:t>
            </a:r>
            <a:r>
              <a:rPr lang="en-US" altLang="zh-CN" sz="2800" kern="100" dirty="0">
                <a:effectLst/>
                <a:latin typeface="Times New Roman" panose="02020603050405020304" pitchFamily="18" charset="0"/>
                <a:ea typeface="等线" panose="02010600030101010101" pitchFamily="2" charset="-122"/>
                <a:cs typeface="Times New Roman" panose="02020603050405020304" pitchFamily="18" charset="0"/>
              </a:rPr>
              <a:t>a</a:t>
            </a:r>
            <a:r>
              <a:rPr lang="en-US" altLang="zh-CN" sz="2800" dirty="0"/>
              <a:t>ll of these NS domains are manually labeled by us.</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2800" dirty="0"/>
              <a:t>For comparison, we adopt three domain identification methods commonly used in prior work as baselines: the combination of WHOIS and digital certificates, WHOIS alone, and AS registration information alone. </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The result proves that our method achieves higher accuracy.</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2AA194C-891A-4BDA-A4C2-FAE9F82F2D6F}" type="slidenum">
              <a:rPr lang="zh-CN" altLang="en-US" smtClean="0"/>
              <a:t>11</a:t>
            </a:fld>
            <a:endParaRPr lang="zh-CN" altLang="en-US"/>
          </a:p>
        </p:txBody>
      </p:sp>
    </p:spTree>
    <p:extLst>
      <p:ext uri="{BB962C8B-B14F-4D97-AF65-F5344CB8AC3E}">
        <p14:creationId xmlns:p14="http://schemas.microsoft.com/office/powerpoint/2010/main" val="2475298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等线" panose="02010600030101010101" pitchFamily="2" charset="-122"/>
              </a:rPr>
              <a:t>We conduct a measurement on .com </a:t>
            </a:r>
            <a:r>
              <a:rPr lang="en-US" altLang="zh-CN" sz="1800" dirty="0" err="1">
                <a:effectLst/>
                <a:latin typeface="Times New Roman" panose="02020603050405020304" pitchFamily="18" charset="0"/>
                <a:ea typeface="等线" panose="02010600030101010101" pitchFamily="2" charset="-122"/>
              </a:rPr>
              <a:t>.net</a:t>
            </a:r>
            <a:r>
              <a:rPr lang="en-US" altLang="zh-CN" sz="1800" dirty="0">
                <a:effectLst/>
                <a:latin typeface="Times New Roman" panose="02020603050405020304" pitchFamily="18" charset="0"/>
                <a:ea typeface="等线" panose="02010600030101010101" pitchFamily="2" charset="-122"/>
              </a:rPr>
              <a:t> and .org zone, here is top 10 providers that host the most domains. For the whole measurement result, we can see that top 10 hosting 54.19% while top 100 hosting 82.99%, while there are over 530 thousand providers.</a:t>
            </a:r>
            <a:endParaRPr lang="zh-CN" altLang="en-US" dirty="0"/>
          </a:p>
        </p:txBody>
      </p:sp>
      <p:sp>
        <p:nvSpPr>
          <p:cNvPr id="4" name="灯片编号占位符 3"/>
          <p:cNvSpPr>
            <a:spLocks noGrp="1"/>
          </p:cNvSpPr>
          <p:nvPr>
            <p:ph type="sldNum" sz="quarter" idx="5"/>
          </p:nvPr>
        </p:nvSpPr>
        <p:spPr/>
        <p:txBody>
          <a:bodyPr/>
          <a:lstStyle/>
          <a:p>
            <a:fld id="{F2AA194C-891A-4BDA-A4C2-FAE9F82F2D6F}" type="slidenum">
              <a:rPr lang="zh-CN" altLang="en-US" smtClean="0"/>
              <a:t>12</a:t>
            </a:fld>
            <a:endParaRPr lang="zh-CN" altLang="en-US"/>
          </a:p>
        </p:txBody>
      </p:sp>
    </p:spTree>
    <p:extLst>
      <p:ext uri="{BB962C8B-B14F-4D97-AF65-F5344CB8AC3E}">
        <p14:creationId xmlns:p14="http://schemas.microsoft.com/office/powerpoint/2010/main" val="2007100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A35FFD-4BE4-0E7D-180E-90A2FC63A29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84EE90D-958E-EE81-DAF7-919222466E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4DCC740-18AC-6014-ACCC-76E9E829F230}"/>
              </a:ext>
            </a:extLst>
          </p:cNvPr>
          <p:cNvSpPr>
            <a:spLocks noGrp="1"/>
          </p:cNvSpPr>
          <p:nvPr>
            <p:ph type="dt" sz="half" idx="10"/>
          </p:nvPr>
        </p:nvSpPr>
        <p:spPr/>
        <p:txBody>
          <a:bodyPr/>
          <a:lstStyle/>
          <a:p>
            <a:fld id="{7326982F-5BA9-4C75-812B-64EECBFB54F6}" type="datetimeFigureOut">
              <a:rPr lang="zh-CN" altLang="en-US" smtClean="0"/>
              <a:t>2025/6/21</a:t>
            </a:fld>
            <a:endParaRPr lang="zh-CN" altLang="en-US"/>
          </a:p>
        </p:txBody>
      </p:sp>
      <p:sp>
        <p:nvSpPr>
          <p:cNvPr id="5" name="页脚占位符 4">
            <a:extLst>
              <a:ext uri="{FF2B5EF4-FFF2-40B4-BE49-F238E27FC236}">
                <a16:creationId xmlns:a16="http://schemas.microsoft.com/office/drawing/2014/main" id="{EB7012DC-DE7B-92DA-06A6-6729F5BFB59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2E9B11E-AE6E-8F17-380A-D27850914B38}"/>
              </a:ext>
            </a:extLst>
          </p:cNvPr>
          <p:cNvSpPr>
            <a:spLocks noGrp="1"/>
          </p:cNvSpPr>
          <p:nvPr>
            <p:ph type="sldNum" sz="quarter" idx="12"/>
          </p:nvPr>
        </p:nvSpPr>
        <p:spPr/>
        <p:txBody>
          <a:bodyPr/>
          <a:lstStyle/>
          <a:p>
            <a:fld id="{1295E324-7014-4587-9AE4-3837DD41CD07}" type="slidenum">
              <a:rPr lang="zh-CN" altLang="en-US" smtClean="0"/>
              <a:t>‹#›</a:t>
            </a:fld>
            <a:endParaRPr lang="zh-CN" altLang="en-US"/>
          </a:p>
        </p:txBody>
      </p:sp>
    </p:spTree>
    <p:extLst>
      <p:ext uri="{BB962C8B-B14F-4D97-AF65-F5344CB8AC3E}">
        <p14:creationId xmlns:p14="http://schemas.microsoft.com/office/powerpoint/2010/main" val="4104059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C982B8-2284-6E1D-DE6A-D6FE3F54F42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66267CC-5913-3C06-CA45-D0E73A10B3F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F890304-C980-EC63-51B0-6CAC4E1B7767}"/>
              </a:ext>
            </a:extLst>
          </p:cNvPr>
          <p:cNvSpPr>
            <a:spLocks noGrp="1"/>
          </p:cNvSpPr>
          <p:nvPr>
            <p:ph type="dt" sz="half" idx="10"/>
          </p:nvPr>
        </p:nvSpPr>
        <p:spPr/>
        <p:txBody>
          <a:bodyPr/>
          <a:lstStyle/>
          <a:p>
            <a:fld id="{7326982F-5BA9-4C75-812B-64EECBFB54F6}" type="datetimeFigureOut">
              <a:rPr lang="zh-CN" altLang="en-US" smtClean="0"/>
              <a:t>2025/6/21</a:t>
            </a:fld>
            <a:endParaRPr lang="zh-CN" altLang="en-US"/>
          </a:p>
        </p:txBody>
      </p:sp>
      <p:sp>
        <p:nvSpPr>
          <p:cNvPr id="5" name="页脚占位符 4">
            <a:extLst>
              <a:ext uri="{FF2B5EF4-FFF2-40B4-BE49-F238E27FC236}">
                <a16:creationId xmlns:a16="http://schemas.microsoft.com/office/drawing/2014/main" id="{10839762-B7A4-AA5A-AD1D-E12083D9DB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0CF28F4-600F-5FC1-30B6-1997AFEBDF75}"/>
              </a:ext>
            </a:extLst>
          </p:cNvPr>
          <p:cNvSpPr>
            <a:spLocks noGrp="1"/>
          </p:cNvSpPr>
          <p:nvPr>
            <p:ph type="sldNum" sz="quarter" idx="12"/>
          </p:nvPr>
        </p:nvSpPr>
        <p:spPr/>
        <p:txBody>
          <a:bodyPr/>
          <a:lstStyle/>
          <a:p>
            <a:fld id="{1295E324-7014-4587-9AE4-3837DD41CD07}" type="slidenum">
              <a:rPr lang="zh-CN" altLang="en-US" smtClean="0"/>
              <a:t>‹#›</a:t>
            </a:fld>
            <a:endParaRPr lang="zh-CN" altLang="en-US"/>
          </a:p>
        </p:txBody>
      </p:sp>
    </p:spTree>
    <p:extLst>
      <p:ext uri="{BB962C8B-B14F-4D97-AF65-F5344CB8AC3E}">
        <p14:creationId xmlns:p14="http://schemas.microsoft.com/office/powerpoint/2010/main" val="1850308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2D5FF6-5FF4-1117-EAF1-FC724925845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3D2A96B-F9B6-C974-275C-CB31199145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A47B3FE-2A12-BF6C-AA7E-7A0EC496F581}"/>
              </a:ext>
            </a:extLst>
          </p:cNvPr>
          <p:cNvSpPr>
            <a:spLocks noGrp="1"/>
          </p:cNvSpPr>
          <p:nvPr>
            <p:ph type="dt" sz="half" idx="10"/>
          </p:nvPr>
        </p:nvSpPr>
        <p:spPr/>
        <p:txBody>
          <a:bodyPr/>
          <a:lstStyle/>
          <a:p>
            <a:fld id="{7326982F-5BA9-4C75-812B-64EECBFB54F6}" type="datetimeFigureOut">
              <a:rPr lang="zh-CN" altLang="en-US" smtClean="0"/>
              <a:t>2025/6/21</a:t>
            </a:fld>
            <a:endParaRPr lang="zh-CN" altLang="en-US"/>
          </a:p>
        </p:txBody>
      </p:sp>
      <p:sp>
        <p:nvSpPr>
          <p:cNvPr id="5" name="页脚占位符 4">
            <a:extLst>
              <a:ext uri="{FF2B5EF4-FFF2-40B4-BE49-F238E27FC236}">
                <a16:creationId xmlns:a16="http://schemas.microsoft.com/office/drawing/2014/main" id="{50783160-38D0-6A3B-A182-71657A0DBBB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98BB5AD-F6E6-7C6A-BCFD-EC05853D674E}"/>
              </a:ext>
            </a:extLst>
          </p:cNvPr>
          <p:cNvSpPr>
            <a:spLocks noGrp="1"/>
          </p:cNvSpPr>
          <p:nvPr>
            <p:ph type="sldNum" sz="quarter" idx="12"/>
          </p:nvPr>
        </p:nvSpPr>
        <p:spPr/>
        <p:txBody>
          <a:bodyPr/>
          <a:lstStyle/>
          <a:p>
            <a:fld id="{1295E324-7014-4587-9AE4-3837DD41CD07}" type="slidenum">
              <a:rPr lang="zh-CN" altLang="en-US" smtClean="0"/>
              <a:t>‹#›</a:t>
            </a:fld>
            <a:endParaRPr lang="zh-CN" altLang="en-US"/>
          </a:p>
        </p:txBody>
      </p:sp>
    </p:spTree>
    <p:extLst>
      <p:ext uri="{BB962C8B-B14F-4D97-AF65-F5344CB8AC3E}">
        <p14:creationId xmlns:p14="http://schemas.microsoft.com/office/powerpoint/2010/main" val="2611786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C5E7EA-271F-9BA6-0E89-67A06522750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18452D7-8BC6-C38A-C836-6BE3D020CA6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17188DA-B287-DE49-1F57-88F2E3F4234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CAADD6A-27FC-F03B-69F8-B67E1E29A8A5}"/>
              </a:ext>
            </a:extLst>
          </p:cNvPr>
          <p:cNvSpPr>
            <a:spLocks noGrp="1"/>
          </p:cNvSpPr>
          <p:nvPr>
            <p:ph type="dt" sz="half" idx="10"/>
          </p:nvPr>
        </p:nvSpPr>
        <p:spPr/>
        <p:txBody>
          <a:bodyPr/>
          <a:lstStyle/>
          <a:p>
            <a:fld id="{7326982F-5BA9-4C75-812B-64EECBFB54F6}" type="datetimeFigureOut">
              <a:rPr lang="zh-CN" altLang="en-US" smtClean="0"/>
              <a:t>2025/6/21</a:t>
            </a:fld>
            <a:endParaRPr lang="zh-CN" altLang="en-US"/>
          </a:p>
        </p:txBody>
      </p:sp>
      <p:sp>
        <p:nvSpPr>
          <p:cNvPr id="6" name="页脚占位符 5">
            <a:extLst>
              <a:ext uri="{FF2B5EF4-FFF2-40B4-BE49-F238E27FC236}">
                <a16:creationId xmlns:a16="http://schemas.microsoft.com/office/drawing/2014/main" id="{6FBDA4D9-D7D2-4589-34ED-937E2E65D03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12B7A1-C9BF-42C0-5D5F-E2ACBB3B5F93}"/>
              </a:ext>
            </a:extLst>
          </p:cNvPr>
          <p:cNvSpPr>
            <a:spLocks noGrp="1"/>
          </p:cNvSpPr>
          <p:nvPr>
            <p:ph type="sldNum" sz="quarter" idx="12"/>
          </p:nvPr>
        </p:nvSpPr>
        <p:spPr/>
        <p:txBody>
          <a:bodyPr/>
          <a:lstStyle/>
          <a:p>
            <a:fld id="{1295E324-7014-4587-9AE4-3837DD41CD07}" type="slidenum">
              <a:rPr lang="zh-CN" altLang="en-US" smtClean="0"/>
              <a:t>‹#›</a:t>
            </a:fld>
            <a:endParaRPr lang="zh-CN" altLang="en-US"/>
          </a:p>
        </p:txBody>
      </p:sp>
    </p:spTree>
    <p:extLst>
      <p:ext uri="{BB962C8B-B14F-4D97-AF65-F5344CB8AC3E}">
        <p14:creationId xmlns:p14="http://schemas.microsoft.com/office/powerpoint/2010/main" val="3762012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D46EF9-AABA-4C37-8AC9-F40F02D7A38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8BDB768-75D7-B3AC-2234-C10DF8CC71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3AEF51F-D5CB-01DB-663C-9E0A7F9FF0F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105ED82-2F71-C3DB-BC79-FCC0935468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F9B42E3-6E0E-B21C-29CB-46934789877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D09D559-65DB-6734-8C56-172B86B0AEB1}"/>
              </a:ext>
            </a:extLst>
          </p:cNvPr>
          <p:cNvSpPr>
            <a:spLocks noGrp="1"/>
          </p:cNvSpPr>
          <p:nvPr>
            <p:ph type="dt" sz="half" idx="10"/>
          </p:nvPr>
        </p:nvSpPr>
        <p:spPr/>
        <p:txBody>
          <a:bodyPr/>
          <a:lstStyle/>
          <a:p>
            <a:fld id="{7326982F-5BA9-4C75-812B-64EECBFB54F6}" type="datetimeFigureOut">
              <a:rPr lang="zh-CN" altLang="en-US" smtClean="0"/>
              <a:t>2025/6/21</a:t>
            </a:fld>
            <a:endParaRPr lang="zh-CN" altLang="en-US"/>
          </a:p>
        </p:txBody>
      </p:sp>
      <p:sp>
        <p:nvSpPr>
          <p:cNvPr id="8" name="页脚占位符 7">
            <a:extLst>
              <a:ext uri="{FF2B5EF4-FFF2-40B4-BE49-F238E27FC236}">
                <a16:creationId xmlns:a16="http://schemas.microsoft.com/office/drawing/2014/main" id="{9077F6C2-7E5B-B772-71F8-FC694D84D7D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38811BD-3733-F416-7FDC-548E071A5392}"/>
              </a:ext>
            </a:extLst>
          </p:cNvPr>
          <p:cNvSpPr>
            <a:spLocks noGrp="1"/>
          </p:cNvSpPr>
          <p:nvPr>
            <p:ph type="sldNum" sz="quarter" idx="12"/>
          </p:nvPr>
        </p:nvSpPr>
        <p:spPr/>
        <p:txBody>
          <a:bodyPr/>
          <a:lstStyle/>
          <a:p>
            <a:fld id="{1295E324-7014-4587-9AE4-3837DD41CD07}" type="slidenum">
              <a:rPr lang="zh-CN" altLang="en-US" smtClean="0"/>
              <a:t>‹#›</a:t>
            </a:fld>
            <a:endParaRPr lang="zh-CN" altLang="en-US"/>
          </a:p>
        </p:txBody>
      </p:sp>
    </p:spTree>
    <p:extLst>
      <p:ext uri="{BB962C8B-B14F-4D97-AF65-F5344CB8AC3E}">
        <p14:creationId xmlns:p14="http://schemas.microsoft.com/office/powerpoint/2010/main" val="3919012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6DC78A-B2D5-FA38-C492-8B729F2389C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71D64FF-9083-7E76-AF53-654C4C1CED95}"/>
              </a:ext>
            </a:extLst>
          </p:cNvPr>
          <p:cNvSpPr>
            <a:spLocks noGrp="1"/>
          </p:cNvSpPr>
          <p:nvPr>
            <p:ph type="dt" sz="half" idx="10"/>
          </p:nvPr>
        </p:nvSpPr>
        <p:spPr/>
        <p:txBody>
          <a:bodyPr/>
          <a:lstStyle/>
          <a:p>
            <a:fld id="{7326982F-5BA9-4C75-812B-64EECBFB54F6}" type="datetimeFigureOut">
              <a:rPr lang="zh-CN" altLang="en-US" smtClean="0"/>
              <a:t>2025/6/21</a:t>
            </a:fld>
            <a:endParaRPr lang="zh-CN" altLang="en-US"/>
          </a:p>
        </p:txBody>
      </p:sp>
      <p:sp>
        <p:nvSpPr>
          <p:cNvPr id="4" name="页脚占位符 3">
            <a:extLst>
              <a:ext uri="{FF2B5EF4-FFF2-40B4-BE49-F238E27FC236}">
                <a16:creationId xmlns:a16="http://schemas.microsoft.com/office/drawing/2014/main" id="{320031B4-2D1A-1685-F138-D156DFAECA6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3D3BD60-4563-6D49-2FBF-912826AE2035}"/>
              </a:ext>
            </a:extLst>
          </p:cNvPr>
          <p:cNvSpPr>
            <a:spLocks noGrp="1"/>
          </p:cNvSpPr>
          <p:nvPr>
            <p:ph type="sldNum" sz="quarter" idx="12"/>
          </p:nvPr>
        </p:nvSpPr>
        <p:spPr/>
        <p:txBody>
          <a:bodyPr/>
          <a:lstStyle/>
          <a:p>
            <a:fld id="{1295E324-7014-4587-9AE4-3837DD41CD07}" type="slidenum">
              <a:rPr lang="zh-CN" altLang="en-US" smtClean="0"/>
              <a:t>‹#›</a:t>
            </a:fld>
            <a:endParaRPr lang="zh-CN" altLang="en-US"/>
          </a:p>
        </p:txBody>
      </p:sp>
    </p:spTree>
    <p:extLst>
      <p:ext uri="{BB962C8B-B14F-4D97-AF65-F5344CB8AC3E}">
        <p14:creationId xmlns:p14="http://schemas.microsoft.com/office/powerpoint/2010/main" val="3587909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7FC9EE7-DCB7-A7D0-5494-5C5F9EDCF964}"/>
              </a:ext>
            </a:extLst>
          </p:cNvPr>
          <p:cNvSpPr>
            <a:spLocks noGrp="1"/>
          </p:cNvSpPr>
          <p:nvPr>
            <p:ph type="dt" sz="half" idx="10"/>
          </p:nvPr>
        </p:nvSpPr>
        <p:spPr/>
        <p:txBody>
          <a:bodyPr/>
          <a:lstStyle/>
          <a:p>
            <a:fld id="{7326982F-5BA9-4C75-812B-64EECBFB54F6}" type="datetimeFigureOut">
              <a:rPr lang="zh-CN" altLang="en-US" smtClean="0"/>
              <a:t>2025/6/21</a:t>
            </a:fld>
            <a:endParaRPr lang="zh-CN" altLang="en-US"/>
          </a:p>
        </p:txBody>
      </p:sp>
      <p:sp>
        <p:nvSpPr>
          <p:cNvPr id="3" name="页脚占位符 2">
            <a:extLst>
              <a:ext uri="{FF2B5EF4-FFF2-40B4-BE49-F238E27FC236}">
                <a16:creationId xmlns:a16="http://schemas.microsoft.com/office/drawing/2014/main" id="{281AEC8F-311B-BFFD-96F0-B70BFE89E51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8EBB520-79EB-8EAB-F81F-90200132A68B}"/>
              </a:ext>
            </a:extLst>
          </p:cNvPr>
          <p:cNvSpPr>
            <a:spLocks noGrp="1"/>
          </p:cNvSpPr>
          <p:nvPr>
            <p:ph type="sldNum" sz="quarter" idx="12"/>
          </p:nvPr>
        </p:nvSpPr>
        <p:spPr/>
        <p:txBody>
          <a:bodyPr/>
          <a:lstStyle/>
          <a:p>
            <a:fld id="{1295E324-7014-4587-9AE4-3837DD41CD07}" type="slidenum">
              <a:rPr lang="zh-CN" altLang="en-US" smtClean="0"/>
              <a:t>‹#›</a:t>
            </a:fld>
            <a:endParaRPr lang="zh-CN" altLang="en-US"/>
          </a:p>
        </p:txBody>
      </p:sp>
    </p:spTree>
    <p:extLst>
      <p:ext uri="{BB962C8B-B14F-4D97-AF65-F5344CB8AC3E}">
        <p14:creationId xmlns:p14="http://schemas.microsoft.com/office/powerpoint/2010/main" val="4088288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65778-16C6-E212-61C6-63F6865E607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FA1B421-309B-DCD0-886D-1FF4403E25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5323D69-24D9-96D7-DD8E-FDA5CA48C1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461A8A3-ABC0-E028-B9E0-5D6A8E6AEC79}"/>
              </a:ext>
            </a:extLst>
          </p:cNvPr>
          <p:cNvSpPr>
            <a:spLocks noGrp="1"/>
          </p:cNvSpPr>
          <p:nvPr>
            <p:ph type="dt" sz="half" idx="10"/>
          </p:nvPr>
        </p:nvSpPr>
        <p:spPr/>
        <p:txBody>
          <a:bodyPr/>
          <a:lstStyle/>
          <a:p>
            <a:fld id="{7326982F-5BA9-4C75-812B-64EECBFB54F6}" type="datetimeFigureOut">
              <a:rPr lang="zh-CN" altLang="en-US" smtClean="0"/>
              <a:t>2025/6/21</a:t>
            </a:fld>
            <a:endParaRPr lang="zh-CN" altLang="en-US"/>
          </a:p>
        </p:txBody>
      </p:sp>
      <p:sp>
        <p:nvSpPr>
          <p:cNvPr id="6" name="页脚占位符 5">
            <a:extLst>
              <a:ext uri="{FF2B5EF4-FFF2-40B4-BE49-F238E27FC236}">
                <a16:creationId xmlns:a16="http://schemas.microsoft.com/office/drawing/2014/main" id="{A2190146-3D55-4407-AA37-8EC38666FD9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103721D-6C99-C37C-2AEB-74325E5F016D}"/>
              </a:ext>
            </a:extLst>
          </p:cNvPr>
          <p:cNvSpPr>
            <a:spLocks noGrp="1"/>
          </p:cNvSpPr>
          <p:nvPr>
            <p:ph type="sldNum" sz="quarter" idx="12"/>
          </p:nvPr>
        </p:nvSpPr>
        <p:spPr/>
        <p:txBody>
          <a:bodyPr/>
          <a:lstStyle/>
          <a:p>
            <a:fld id="{1295E324-7014-4587-9AE4-3837DD41CD07}" type="slidenum">
              <a:rPr lang="zh-CN" altLang="en-US" smtClean="0"/>
              <a:t>‹#›</a:t>
            </a:fld>
            <a:endParaRPr lang="zh-CN" altLang="en-US"/>
          </a:p>
        </p:txBody>
      </p:sp>
    </p:spTree>
    <p:extLst>
      <p:ext uri="{BB962C8B-B14F-4D97-AF65-F5344CB8AC3E}">
        <p14:creationId xmlns:p14="http://schemas.microsoft.com/office/powerpoint/2010/main" val="4012895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8127C3-C611-31F0-303B-D9675808BF8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0ABAD87-D52D-3B6A-9339-73D8BBBF88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126353B-A9C5-21B0-DF60-285D6F1AEE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E7419D3-49E9-204F-32EB-5E580F1B20B3}"/>
              </a:ext>
            </a:extLst>
          </p:cNvPr>
          <p:cNvSpPr>
            <a:spLocks noGrp="1"/>
          </p:cNvSpPr>
          <p:nvPr>
            <p:ph type="dt" sz="half" idx="10"/>
          </p:nvPr>
        </p:nvSpPr>
        <p:spPr/>
        <p:txBody>
          <a:bodyPr/>
          <a:lstStyle/>
          <a:p>
            <a:fld id="{7326982F-5BA9-4C75-812B-64EECBFB54F6}" type="datetimeFigureOut">
              <a:rPr lang="zh-CN" altLang="en-US" smtClean="0"/>
              <a:t>2025/6/21</a:t>
            </a:fld>
            <a:endParaRPr lang="zh-CN" altLang="en-US"/>
          </a:p>
        </p:txBody>
      </p:sp>
      <p:sp>
        <p:nvSpPr>
          <p:cNvPr id="6" name="页脚占位符 5">
            <a:extLst>
              <a:ext uri="{FF2B5EF4-FFF2-40B4-BE49-F238E27FC236}">
                <a16:creationId xmlns:a16="http://schemas.microsoft.com/office/drawing/2014/main" id="{41B592BC-141B-5774-C37A-E013A68143F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5186D5D-FCA6-BF4D-D0E2-5960DA6FAA39}"/>
              </a:ext>
            </a:extLst>
          </p:cNvPr>
          <p:cNvSpPr>
            <a:spLocks noGrp="1"/>
          </p:cNvSpPr>
          <p:nvPr>
            <p:ph type="sldNum" sz="quarter" idx="12"/>
          </p:nvPr>
        </p:nvSpPr>
        <p:spPr/>
        <p:txBody>
          <a:bodyPr/>
          <a:lstStyle/>
          <a:p>
            <a:fld id="{1295E324-7014-4587-9AE4-3837DD41CD07}" type="slidenum">
              <a:rPr lang="zh-CN" altLang="en-US" smtClean="0"/>
              <a:t>‹#›</a:t>
            </a:fld>
            <a:endParaRPr lang="zh-CN" altLang="en-US"/>
          </a:p>
        </p:txBody>
      </p:sp>
    </p:spTree>
    <p:extLst>
      <p:ext uri="{BB962C8B-B14F-4D97-AF65-F5344CB8AC3E}">
        <p14:creationId xmlns:p14="http://schemas.microsoft.com/office/powerpoint/2010/main" val="2198700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C85EA-99B4-ECF0-E21D-43A46321C66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F75F286-131A-41B7-6B79-8732A0A2325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52B8E0-94AB-1712-AD08-F3767A971352}"/>
              </a:ext>
            </a:extLst>
          </p:cNvPr>
          <p:cNvSpPr>
            <a:spLocks noGrp="1"/>
          </p:cNvSpPr>
          <p:nvPr>
            <p:ph type="dt" sz="half" idx="10"/>
          </p:nvPr>
        </p:nvSpPr>
        <p:spPr/>
        <p:txBody>
          <a:bodyPr/>
          <a:lstStyle/>
          <a:p>
            <a:fld id="{7326982F-5BA9-4C75-812B-64EECBFB54F6}" type="datetimeFigureOut">
              <a:rPr lang="zh-CN" altLang="en-US" smtClean="0"/>
              <a:t>2025/6/21</a:t>
            </a:fld>
            <a:endParaRPr lang="zh-CN" altLang="en-US"/>
          </a:p>
        </p:txBody>
      </p:sp>
      <p:sp>
        <p:nvSpPr>
          <p:cNvPr id="5" name="页脚占位符 4">
            <a:extLst>
              <a:ext uri="{FF2B5EF4-FFF2-40B4-BE49-F238E27FC236}">
                <a16:creationId xmlns:a16="http://schemas.microsoft.com/office/drawing/2014/main" id="{41DF3EAF-EB23-6959-A3EE-1B86DE1585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D99250-C931-418C-68FF-BD5BCCB943C5}"/>
              </a:ext>
            </a:extLst>
          </p:cNvPr>
          <p:cNvSpPr>
            <a:spLocks noGrp="1"/>
          </p:cNvSpPr>
          <p:nvPr>
            <p:ph type="sldNum" sz="quarter" idx="12"/>
          </p:nvPr>
        </p:nvSpPr>
        <p:spPr/>
        <p:txBody>
          <a:bodyPr/>
          <a:lstStyle/>
          <a:p>
            <a:fld id="{1295E324-7014-4587-9AE4-3837DD41CD07}" type="slidenum">
              <a:rPr lang="zh-CN" altLang="en-US" smtClean="0"/>
              <a:t>‹#›</a:t>
            </a:fld>
            <a:endParaRPr lang="zh-CN" altLang="en-US"/>
          </a:p>
        </p:txBody>
      </p:sp>
    </p:spTree>
    <p:extLst>
      <p:ext uri="{BB962C8B-B14F-4D97-AF65-F5344CB8AC3E}">
        <p14:creationId xmlns:p14="http://schemas.microsoft.com/office/powerpoint/2010/main" val="355854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E9B1555-377A-D309-1102-282EA46C60A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3763B5F-3809-4C49-1365-251C33C9D05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CC39F9-0310-8162-C8E8-4589FDD2989B}"/>
              </a:ext>
            </a:extLst>
          </p:cNvPr>
          <p:cNvSpPr>
            <a:spLocks noGrp="1"/>
          </p:cNvSpPr>
          <p:nvPr>
            <p:ph type="dt" sz="half" idx="10"/>
          </p:nvPr>
        </p:nvSpPr>
        <p:spPr/>
        <p:txBody>
          <a:bodyPr/>
          <a:lstStyle/>
          <a:p>
            <a:fld id="{7326982F-5BA9-4C75-812B-64EECBFB54F6}" type="datetimeFigureOut">
              <a:rPr lang="zh-CN" altLang="en-US" smtClean="0"/>
              <a:t>2025/6/21</a:t>
            </a:fld>
            <a:endParaRPr lang="zh-CN" altLang="en-US"/>
          </a:p>
        </p:txBody>
      </p:sp>
      <p:sp>
        <p:nvSpPr>
          <p:cNvPr id="5" name="页脚占位符 4">
            <a:extLst>
              <a:ext uri="{FF2B5EF4-FFF2-40B4-BE49-F238E27FC236}">
                <a16:creationId xmlns:a16="http://schemas.microsoft.com/office/drawing/2014/main" id="{0315F0D4-02B2-901D-3AB2-4CC828F27D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9E497BD-33C3-5FBA-8681-15A2E61C7540}"/>
              </a:ext>
            </a:extLst>
          </p:cNvPr>
          <p:cNvSpPr>
            <a:spLocks noGrp="1"/>
          </p:cNvSpPr>
          <p:nvPr>
            <p:ph type="sldNum" sz="quarter" idx="12"/>
          </p:nvPr>
        </p:nvSpPr>
        <p:spPr/>
        <p:txBody>
          <a:bodyPr/>
          <a:lstStyle/>
          <a:p>
            <a:fld id="{1295E324-7014-4587-9AE4-3837DD41CD07}" type="slidenum">
              <a:rPr lang="zh-CN" altLang="en-US" smtClean="0"/>
              <a:t>‹#›</a:t>
            </a:fld>
            <a:endParaRPr lang="zh-CN" altLang="en-US"/>
          </a:p>
        </p:txBody>
      </p:sp>
    </p:spTree>
    <p:extLst>
      <p:ext uri="{BB962C8B-B14F-4D97-AF65-F5344CB8AC3E}">
        <p14:creationId xmlns:p14="http://schemas.microsoft.com/office/powerpoint/2010/main" val="3521251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47C46FC-C2E2-5825-50C3-8CFF6DC8D1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E69D88E-DF3D-FCB7-4E0F-9988165AB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5EA73A1-A31D-150C-1561-BB57BF6558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26982F-5BA9-4C75-812B-64EECBFB54F6}" type="datetimeFigureOut">
              <a:rPr lang="zh-CN" altLang="en-US" smtClean="0"/>
              <a:t>2025/6/21</a:t>
            </a:fld>
            <a:endParaRPr lang="zh-CN" altLang="en-US"/>
          </a:p>
        </p:txBody>
      </p:sp>
      <p:sp>
        <p:nvSpPr>
          <p:cNvPr id="5" name="页脚占位符 4">
            <a:extLst>
              <a:ext uri="{FF2B5EF4-FFF2-40B4-BE49-F238E27FC236}">
                <a16:creationId xmlns:a16="http://schemas.microsoft.com/office/drawing/2014/main" id="{69CD65F2-7202-E211-FE00-06F7E98C41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8BA4D1A1-A5B4-A595-BF7C-88EA31DE5C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95E324-7014-4587-9AE4-3837DD41CD07}" type="slidenum">
              <a:rPr lang="zh-CN" altLang="en-US" smtClean="0"/>
              <a:t>‹#›</a:t>
            </a:fld>
            <a:endParaRPr lang="zh-CN" altLang="en-US"/>
          </a:p>
        </p:txBody>
      </p:sp>
    </p:spTree>
    <p:extLst>
      <p:ext uri="{BB962C8B-B14F-4D97-AF65-F5344CB8AC3E}">
        <p14:creationId xmlns:p14="http://schemas.microsoft.com/office/powerpoint/2010/main" val="39200195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8.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7.sv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jpe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svg"/><Relationship Id="rId3" Type="http://schemas.openxmlformats.org/officeDocument/2006/relationships/image" Target="../media/image4.png"/><Relationship Id="rId7" Type="http://schemas.openxmlformats.org/officeDocument/2006/relationships/image" Target="../media/image24.svg"/><Relationship Id="rId12"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svg"/><Relationship Id="rId15" Type="http://schemas.openxmlformats.org/officeDocument/2006/relationships/image" Target="../media/image32.sv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svg"/><Relationship Id="rId1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2.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14B4F88-D454-822E-6959-E72E96450BE4}"/>
              </a:ext>
            </a:extLst>
          </p:cNvPr>
          <p:cNvSpPr/>
          <p:nvPr/>
        </p:nvSpPr>
        <p:spPr>
          <a:xfrm>
            <a:off x="-4" y="1"/>
            <a:ext cx="12192001" cy="3563006"/>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6" name="文本框 5">
            <a:extLst>
              <a:ext uri="{FF2B5EF4-FFF2-40B4-BE49-F238E27FC236}">
                <a16:creationId xmlns:a16="http://schemas.microsoft.com/office/drawing/2014/main" id="{A572E3DB-ADF1-DB2A-31F2-EB9625EEDFAC}"/>
              </a:ext>
            </a:extLst>
          </p:cNvPr>
          <p:cNvSpPr txBox="1"/>
          <p:nvPr/>
        </p:nvSpPr>
        <p:spPr>
          <a:xfrm>
            <a:off x="857903" y="1808681"/>
            <a:ext cx="10476186" cy="1200329"/>
          </a:xfrm>
          <a:prstGeom prst="rect">
            <a:avLst/>
          </a:prstGeom>
          <a:noFill/>
        </p:spPr>
        <p:txBody>
          <a:bodyPr wrap="square" rtlCol="0">
            <a:spAutoFit/>
          </a:bodyPr>
          <a:lstStyle/>
          <a:p>
            <a:pPr algn="ctr"/>
            <a:r>
              <a:rPr lang="en-US" altLang="zh-CN" sz="3600" b="1" dirty="0">
                <a:solidFill>
                  <a:schemeClr val="bg1"/>
                </a:solidFill>
              </a:rPr>
              <a:t>Decoding DNS Centralization: Measuring and Identifying NS Domains Across Hosting Providers</a:t>
            </a:r>
            <a:endParaRPr lang="zh-CN" altLang="en-US" sz="3600" b="1" dirty="0">
              <a:solidFill>
                <a:schemeClr val="bg1"/>
              </a:solidFill>
            </a:endParaRPr>
          </a:p>
        </p:txBody>
      </p:sp>
      <p:sp>
        <p:nvSpPr>
          <p:cNvPr id="7" name="文本框 6">
            <a:extLst>
              <a:ext uri="{FF2B5EF4-FFF2-40B4-BE49-F238E27FC236}">
                <a16:creationId xmlns:a16="http://schemas.microsoft.com/office/drawing/2014/main" id="{5F204B41-F151-A9E1-2ED1-705715A31218}"/>
              </a:ext>
            </a:extLst>
          </p:cNvPr>
          <p:cNvSpPr txBox="1"/>
          <p:nvPr/>
        </p:nvSpPr>
        <p:spPr>
          <a:xfrm>
            <a:off x="2379274" y="3816412"/>
            <a:ext cx="7433443" cy="830997"/>
          </a:xfrm>
          <a:prstGeom prst="rect">
            <a:avLst/>
          </a:prstGeom>
          <a:noFill/>
        </p:spPr>
        <p:txBody>
          <a:bodyPr wrap="square" rtlCol="0">
            <a:spAutoFit/>
          </a:bodyPr>
          <a:lstStyle/>
          <a:p>
            <a:pPr algn="ctr"/>
            <a:r>
              <a:rPr lang="en-US" altLang="zh-CN" sz="2400" b="1" dirty="0" err="1">
                <a:latin typeface="微软雅黑" panose="020B0503020204020204" pitchFamily="34" charset="-122"/>
                <a:ea typeface="微软雅黑" panose="020B0503020204020204" pitchFamily="34" charset="-122"/>
              </a:rPr>
              <a:t>Qihang</a:t>
            </a:r>
            <a:r>
              <a:rPr lang="en-US" altLang="zh-CN" sz="2400" b="1" dirty="0">
                <a:latin typeface="微软雅黑" panose="020B0503020204020204" pitchFamily="34" charset="-122"/>
                <a:ea typeface="微软雅黑" panose="020B0503020204020204" pitchFamily="34" charset="-122"/>
              </a:rPr>
              <a:t> Peng</a:t>
            </a:r>
            <a:r>
              <a:rPr lang="en-US" altLang="zh-CN" sz="2400" dirty="0">
                <a:latin typeface="微软雅黑" panose="020B0503020204020204" pitchFamily="34" charset="-122"/>
                <a:ea typeface="微软雅黑" panose="020B0503020204020204" pitchFamily="34" charset="-122"/>
              </a:rPr>
              <a:t>, </a:t>
            </a:r>
            <a:r>
              <a:rPr lang="en-US" altLang="zh-CN" sz="2400" dirty="0" err="1">
                <a:latin typeface="微软雅黑" panose="020B0503020204020204" pitchFamily="34" charset="-122"/>
                <a:ea typeface="微软雅黑" panose="020B0503020204020204" pitchFamily="34" charset="-122"/>
              </a:rPr>
              <a:t>Mingming</a:t>
            </a:r>
            <a:r>
              <a:rPr lang="en-US" altLang="zh-CN" sz="2400" dirty="0">
                <a:latin typeface="微软雅黑" panose="020B0503020204020204" pitchFamily="34" charset="-122"/>
                <a:ea typeface="微软雅黑" panose="020B0503020204020204" pitchFamily="34" charset="-122"/>
              </a:rPr>
              <a:t> Zhang, </a:t>
            </a:r>
            <a:r>
              <a:rPr lang="en-US" altLang="zh-CN" sz="2400" dirty="0" err="1">
                <a:latin typeface="微软雅黑" panose="020B0503020204020204" pitchFamily="34" charset="-122"/>
                <a:ea typeface="微软雅黑" panose="020B0503020204020204" pitchFamily="34" charset="-122"/>
              </a:rPr>
              <a:t>Deliang</a:t>
            </a:r>
            <a:r>
              <a:rPr lang="en-US" altLang="zh-CN" sz="2400" dirty="0">
                <a:latin typeface="微软雅黑" panose="020B0503020204020204" pitchFamily="34" charset="-122"/>
                <a:ea typeface="微软雅黑" panose="020B0503020204020204" pitchFamily="34" charset="-122"/>
              </a:rPr>
              <a:t> Chang, Jia Zhang, </a:t>
            </a:r>
            <a:r>
              <a:rPr lang="en-US" altLang="zh-CN" sz="2400" dirty="0" err="1">
                <a:latin typeface="微软雅黑" panose="020B0503020204020204" pitchFamily="34" charset="-122"/>
                <a:ea typeface="微软雅黑" panose="020B0503020204020204" pitchFamily="34" charset="-122"/>
              </a:rPr>
              <a:t>Baojun</a:t>
            </a:r>
            <a:r>
              <a:rPr lang="en-US" altLang="zh-CN" sz="2400" dirty="0">
                <a:latin typeface="微软雅黑" panose="020B0503020204020204" pitchFamily="34" charset="-122"/>
                <a:ea typeface="微软雅黑" panose="020B0503020204020204" pitchFamily="34" charset="-122"/>
              </a:rPr>
              <a:t> Liu, </a:t>
            </a:r>
            <a:r>
              <a:rPr lang="en-US" altLang="zh-CN" sz="2400" dirty="0" err="1">
                <a:latin typeface="微软雅黑" panose="020B0503020204020204" pitchFamily="34" charset="-122"/>
                <a:ea typeface="微软雅黑" panose="020B0503020204020204" pitchFamily="34" charset="-122"/>
              </a:rPr>
              <a:t>Haixin</a:t>
            </a:r>
            <a:r>
              <a:rPr lang="en-US" altLang="zh-CN" sz="2400" dirty="0">
                <a:latin typeface="微软雅黑" panose="020B0503020204020204" pitchFamily="34" charset="-122"/>
                <a:ea typeface="微软雅黑" panose="020B0503020204020204" pitchFamily="34" charset="-122"/>
              </a:rPr>
              <a:t> Duan</a:t>
            </a:r>
            <a:endParaRPr lang="zh-CN" altLang="en-US" sz="2400" dirty="0">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1D095C9A-47F1-C639-776E-4638C548B5C5}"/>
              </a:ext>
            </a:extLst>
          </p:cNvPr>
          <p:cNvPicPr>
            <a:picLocks noChangeAspect="1"/>
          </p:cNvPicPr>
          <p:nvPr/>
        </p:nvPicPr>
        <p:blipFill>
          <a:blip r:embed="rId3"/>
          <a:stretch>
            <a:fillRect/>
          </a:stretch>
        </p:blipFill>
        <p:spPr>
          <a:xfrm>
            <a:off x="1162047" y="5260205"/>
            <a:ext cx="9867906" cy="1354792"/>
          </a:xfrm>
          <a:prstGeom prst="rect">
            <a:avLst/>
          </a:prstGeom>
        </p:spPr>
      </p:pic>
      <p:sp>
        <p:nvSpPr>
          <p:cNvPr id="10" name="AutoShape 4" descr="IETF logo">
            <a:extLst>
              <a:ext uri="{FF2B5EF4-FFF2-40B4-BE49-F238E27FC236}">
                <a16:creationId xmlns:a16="http://schemas.microsoft.com/office/drawing/2014/main" id="{E983861F-7507-0321-1733-EFFE2A55D25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6" descr="IETF logo">
            <a:extLst>
              <a:ext uri="{FF2B5EF4-FFF2-40B4-BE49-F238E27FC236}">
                <a16:creationId xmlns:a16="http://schemas.microsoft.com/office/drawing/2014/main" id="{89BFBB01-8A59-E8FE-0533-B773ACF54935}"/>
              </a:ext>
            </a:extLst>
          </p:cNvPr>
          <p:cNvSpPr>
            <a:spLocks noChangeAspect="1" noChangeArrowheads="1"/>
          </p:cNvSpPr>
          <p:nvPr/>
        </p:nvSpPr>
        <p:spPr bwMode="auto">
          <a:xfrm>
            <a:off x="1162047" y="453501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32" name="Picture 8" descr="Internet Engineering Task Force - Wikipedia">
            <a:extLst>
              <a:ext uri="{FF2B5EF4-FFF2-40B4-BE49-F238E27FC236}">
                <a16:creationId xmlns:a16="http://schemas.microsoft.com/office/drawing/2014/main" id="{FF28A269-3D37-074A-5514-35A55D2648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381" y="0"/>
            <a:ext cx="1630060" cy="93303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bout - IEEE Entrepreneurship">
            <a:extLst>
              <a:ext uri="{FF2B5EF4-FFF2-40B4-BE49-F238E27FC236}">
                <a16:creationId xmlns:a16="http://schemas.microsoft.com/office/drawing/2014/main" id="{558B738D-5D45-05E2-EAEE-551333C01D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820788" cy="93303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87667F89-BBD5-FFE7-D739-BB8F2866E8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0686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6" name="文本框 5">
            <a:extLst>
              <a:ext uri="{FF2B5EF4-FFF2-40B4-BE49-F238E27FC236}">
                <a16:creationId xmlns:a16="http://schemas.microsoft.com/office/drawing/2014/main" id="{A572E3DB-ADF1-DB2A-31F2-EB9625EEDFAC}"/>
              </a:ext>
            </a:extLst>
          </p:cNvPr>
          <p:cNvSpPr txBox="1"/>
          <p:nvPr/>
        </p:nvSpPr>
        <p:spPr>
          <a:xfrm>
            <a:off x="462722" y="3105833"/>
            <a:ext cx="2610511" cy="646331"/>
          </a:xfrm>
          <a:prstGeom prst="rect">
            <a:avLst/>
          </a:prstGeom>
          <a:noFill/>
        </p:spPr>
        <p:txBody>
          <a:bodyPr wrap="square" rtlCol="0">
            <a:spAutoFit/>
          </a:bodyPr>
          <a:lstStyle/>
          <a:p>
            <a:pPr algn="ctr"/>
            <a:r>
              <a:rPr lang="en-US" altLang="zh-CN" sz="3600" b="1" dirty="0">
                <a:solidFill>
                  <a:schemeClr val="bg1"/>
                </a:solidFill>
              </a:rPr>
              <a:t>Outlines</a:t>
            </a:r>
            <a:endParaRPr lang="zh-CN" altLang="en-US" sz="3600" b="1" dirty="0">
              <a:solidFill>
                <a:schemeClr val="bg1"/>
              </a:solidFill>
            </a:endParaRPr>
          </a:p>
        </p:txBody>
      </p:sp>
      <p:sp>
        <p:nvSpPr>
          <p:cNvPr id="10" name="AutoShape 4" descr="IETF logo">
            <a:extLst>
              <a:ext uri="{FF2B5EF4-FFF2-40B4-BE49-F238E27FC236}">
                <a16:creationId xmlns:a16="http://schemas.microsoft.com/office/drawing/2014/main" id="{E983861F-7507-0321-1733-EFFE2A55D254}"/>
              </a:ext>
            </a:extLst>
          </p:cNvPr>
          <p:cNvSpPr>
            <a:spLocks noChangeAspect="1" noChangeArrowheads="1"/>
          </p:cNvSpPr>
          <p:nvPr/>
        </p:nvSpPr>
        <p:spPr bwMode="auto">
          <a:xfrm>
            <a:off x="5880538" y="393801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6" descr="IETF logo">
            <a:extLst>
              <a:ext uri="{FF2B5EF4-FFF2-40B4-BE49-F238E27FC236}">
                <a16:creationId xmlns:a16="http://schemas.microsoft.com/office/drawing/2014/main" id="{89BFBB01-8A59-E8FE-0533-B773ACF54935}"/>
              </a:ext>
            </a:extLst>
          </p:cNvPr>
          <p:cNvSpPr>
            <a:spLocks noChangeAspect="1" noChangeArrowheads="1"/>
          </p:cNvSpPr>
          <p:nvPr/>
        </p:nvSpPr>
        <p:spPr bwMode="auto">
          <a:xfrm>
            <a:off x="2281399" y="521479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0" y="184298"/>
            <a:ext cx="6097314" cy="646331"/>
          </a:xfrm>
          <a:prstGeom prst="rect">
            <a:avLst/>
          </a:prstGeom>
          <a:noFill/>
        </p:spPr>
        <p:txBody>
          <a:bodyPr wrap="square">
            <a:spAutoFit/>
          </a:bodyPr>
          <a:lstStyle/>
          <a:p>
            <a:r>
              <a:rPr lang="en-US" altLang="zh-CN" sz="3600" b="1" i="0" u="sng" dirty="0">
                <a:solidFill>
                  <a:schemeClr val="bg1"/>
                </a:solidFill>
                <a:effectLst/>
                <a:latin typeface="HelveticaNeue-Bold"/>
              </a:rPr>
              <a:t>D</a:t>
            </a:r>
            <a:r>
              <a:rPr lang="en-US" altLang="zh-CN" sz="3600" b="1" i="0" dirty="0">
                <a:solidFill>
                  <a:schemeClr val="bg1"/>
                </a:solidFill>
                <a:effectLst/>
                <a:latin typeface="HelveticaNeue-Bold"/>
              </a:rPr>
              <a:t>omain </a:t>
            </a:r>
            <a:r>
              <a:rPr lang="en-US" altLang="zh-CN" sz="3600" b="1" i="0" u="sng" dirty="0">
                <a:solidFill>
                  <a:schemeClr val="bg1"/>
                </a:solidFill>
                <a:effectLst/>
                <a:latin typeface="HelveticaNeue-Bold"/>
              </a:rPr>
              <a:t>N</a:t>
            </a:r>
            <a:r>
              <a:rPr lang="en-US" altLang="zh-CN" sz="3600" b="1" i="0" dirty="0">
                <a:solidFill>
                  <a:schemeClr val="bg1"/>
                </a:solidFill>
                <a:effectLst/>
                <a:latin typeface="HelveticaNeue-Bold"/>
              </a:rPr>
              <a:t>ame </a:t>
            </a:r>
            <a:r>
              <a:rPr lang="en-US" altLang="zh-CN" sz="3600" b="1" i="0" u="sng" dirty="0">
                <a:solidFill>
                  <a:schemeClr val="bg1"/>
                </a:solidFill>
                <a:effectLst/>
                <a:latin typeface="HelveticaNeue-Bold"/>
              </a:rPr>
              <a:t>S</a:t>
            </a:r>
            <a:r>
              <a:rPr lang="en-US" altLang="zh-CN" sz="3600" b="1" i="0" dirty="0">
                <a:solidFill>
                  <a:schemeClr val="bg1"/>
                </a:solidFill>
                <a:effectLst/>
                <a:latin typeface="HelveticaNeue-Bold"/>
              </a:rPr>
              <a:t>ystem</a:t>
            </a:r>
            <a:endParaRPr lang="zh-CN" altLang="en-US" sz="3600" dirty="0">
              <a:solidFill>
                <a:schemeClr val="bg1"/>
              </a:solidFill>
            </a:endParaRPr>
          </a:p>
        </p:txBody>
      </p:sp>
      <p:pic>
        <p:nvPicPr>
          <p:cNvPr id="14" name="图形 13" descr="Internet 纯色填充">
            <a:extLst>
              <a:ext uri="{FF2B5EF4-FFF2-40B4-BE49-F238E27FC236}">
                <a16:creationId xmlns:a16="http://schemas.microsoft.com/office/drawing/2014/main" id="{A81A4851-7A2C-BD0F-5FDD-76D092323D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94034" y="3785615"/>
            <a:ext cx="914400" cy="914400"/>
          </a:xfrm>
          <a:prstGeom prst="rect">
            <a:avLst/>
          </a:prstGeom>
        </p:spPr>
      </p:pic>
      <p:sp>
        <p:nvSpPr>
          <p:cNvPr id="15" name="文本框 14">
            <a:extLst>
              <a:ext uri="{FF2B5EF4-FFF2-40B4-BE49-F238E27FC236}">
                <a16:creationId xmlns:a16="http://schemas.microsoft.com/office/drawing/2014/main" id="{0759864C-1A22-F46D-0E4C-B3BC3EFD4306}"/>
              </a:ext>
            </a:extLst>
          </p:cNvPr>
          <p:cNvSpPr txBox="1"/>
          <p:nvPr/>
        </p:nvSpPr>
        <p:spPr>
          <a:xfrm>
            <a:off x="2130972" y="4515349"/>
            <a:ext cx="1040524" cy="369332"/>
          </a:xfrm>
          <a:prstGeom prst="rect">
            <a:avLst/>
          </a:prstGeom>
          <a:noFill/>
        </p:spPr>
        <p:txBody>
          <a:bodyPr wrap="square" rtlCol="0">
            <a:spAutoFit/>
          </a:bodyPr>
          <a:lstStyle/>
          <a:p>
            <a:pPr algn="ctr"/>
            <a:r>
              <a:rPr lang="en-US" altLang="zh-CN" b="1" dirty="0">
                <a:solidFill>
                  <a:schemeClr val="tx1">
                    <a:lumMod val="50000"/>
                    <a:lumOff val="50000"/>
                  </a:schemeClr>
                </a:solidFill>
              </a:rPr>
              <a:t>Client</a:t>
            </a:r>
            <a:endParaRPr lang="zh-CN" altLang="en-US" b="1" dirty="0">
              <a:solidFill>
                <a:schemeClr val="tx1">
                  <a:lumMod val="50000"/>
                  <a:lumOff val="50000"/>
                </a:schemeClr>
              </a:solidFill>
            </a:endParaRPr>
          </a:p>
        </p:txBody>
      </p:sp>
      <p:pic>
        <p:nvPicPr>
          <p:cNvPr id="17" name="图片 16">
            <a:extLst>
              <a:ext uri="{FF2B5EF4-FFF2-40B4-BE49-F238E27FC236}">
                <a16:creationId xmlns:a16="http://schemas.microsoft.com/office/drawing/2014/main" id="{3D446A78-B237-DBEC-4EDD-242EC2327419}"/>
              </a:ext>
            </a:extLst>
          </p:cNvPr>
          <p:cNvPicPr>
            <a:picLocks noChangeAspect="1"/>
          </p:cNvPicPr>
          <p:nvPr/>
        </p:nvPicPr>
        <p:blipFill>
          <a:blip r:embed="rId5"/>
          <a:stretch>
            <a:fillRect/>
          </a:stretch>
        </p:blipFill>
        <p:spPr>
          <a:xfrm>
            <a:off x="5217496" y="3695088"/>
            <a:ext cx="867748" cy="1046221"/>
          </a:xfrm>
          <a:prstGeom prst="rect">
            <a:avLst/>
          </a:prstGeom>
        </p:spPr>
      </p:pic>
      <p:cxnSp>
        <p:nvCxnSpPr>
          <p:cNvPr id="19" name="直接箭头连接符 18">
            <a:extLst>
              <a:ext uri="{FF2B5EF4-FFF2-40B4-BE49-F238E27FC236}">
                <a16:creationId xmlns:a16="http://schemas.microsoft.com/office/drawing/2014/main" id="{76958E65-A743-8AD8-1ABF-AC4DB46DE7BD}"/>
              </a:ext>
            </a:extLst>
          </p:cNvPr>
          <p:cNvCxnSpPr/>
          <p:nvPr/>
        </p:nvCxnSpPr>
        <p:spPr>
          <a:xfrm>
            <a:off x="3418489" y="4095491"/>
            <a:ext cx="1566042" cy="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sp>
        <p:nvSpPr>
          <p:cNvPr id="20" name="文本框 19">
            <a:extLst>
              <a:ext uri="{FF2B5EF4-FFF2-40B4-BE49-F238E27FC236}">
                <a16:creationId xmlns:a16="http://schemas.microsoft.com/office/drawing/2014/main" id="{0A353027-84B5-27E8-AD8A-1F53E2492112}"/>
              </a:ext>
            </a:extLst>
          </p:cNvPr>
          <p:cNvSpPr txBox="1"/>
          <p:nvPr/>
        </p:nvSpPr>
        <p:spPr>
          <a:xfrm>
            <a:off x="3326664" y="3716007"/>
            <a:ext cx="1835759" cy="369332"/>
          </a:xfrm>
          <a:prstGeom prst="rect">
            <a:avLst/>
          </a:prstGeom>
          <a:noFill/>
        </p:spPr>
        <p:txBody>
          <a:bodyPr wrap="none" rtlCol="0">
            <a:spAutoFit/>
          </a:bodyPr>
          <a:lstStyle/>
          <a:p>
            <a:r>
              <a:rPr lang="en-US" altLang="zh-CN" dirty="0"/>
              <a:t>1. example.com?</a:t>
            </a:r>
            <a:endParaRPr lang="zh-CN" altLang="en-US" dirty="0"/>
          </a:p>
        </p:txBody>
      </p:sp>
      <p:pic>
        <p:nvPicPr>
          <p:cNvPr id="22" name="图片 21">
            <a:extLst>
              <a:ext uri="{FF2B5EF4-FFF2-40B4-BE49-F238E27FC236}">
                <a16:creationId xmlns:a16="http://schemas.microsoft.com/office/drawing/2014/main" id="{3C0EBFEB-8310-9B89-DFF7-DF16E9052F96}"/>
              </a:ext>
            </a:extLst>
          </p:cNvPr>
          <p:cNvPicPr>
            <a:picLocks noChangeAspect="1"/>
          </p:cNvPicPr>
          <p:nvPr/>
        </p:nvPicPr>
        <p:blipFill>
          <a:blip r:embed="rId6"/>
          <a:stretch>
            <a:fillRect/>
          </a:stretch>
        </p:blipFill>
        <p:spPr>
          <a:xfrm>
            <a:off x="8681637" y="2161054"/>
            <a:ext cx="801756" cy="838200"/>
          </a:xfrm>
          <a:prstGeom prst="rect">
            <a:avLst/>
          </a:prstGeom>
        </p:spPr>
      </p:pic>
      <p:pic>
        <p:nvPicPr>
          <p:cNvPr id="25" name="图片 24">
            <a:extLst>
              <a:ext uri="{FF2B5EF4-FFF2-40B4-BE49-F238E27FC236}">
                <a16:creationId xmlns:a16="http://schemas.microsoft.com/office/drawing/2014/main" id="{8DD599B5-6E18-C790-BDA4-C9DA1A1CD8C5}"/>
              </a:ext>
            </a:extLst>
          </p:cNvPr>
          <p:cNvPicPr>
            <a:picLocks noChangeAspect="1"/>
          </p:cNvPicPr>
          <p:nvPr/>
        </p:nvPicPr>
        <p:blipFill>
          <a:blip r:embed="rId6"/>
          <a:stretch>
            <a:fillRect/>
          </a:stretch>
        </p:blipFill>
        <p:spPr>
          <a:xfrm>
            <a:off x="8790142" y="3769339"/>
            <a:ext cx="801756" cy="838200"/>
          </a:xfrm>
          <a:prstGeom prst="rect">
            <a:avLst/>
          </a:prstGeom>
        </p:spPr>
      </p:pic>
      <p:pic>
        <p:nvPicPr>
          <p:cNvPr id="26" name="图片 25">
            <a:extLst>
              <a:ext uri="{FF2B5EF4-FFF2-40B4-BE49-F238E27FC236}">
                <a16:creationId xmlns:a16="http://schemas.microsoft.com/office/drawing/2014/main" id="{6CE41F20-0E74-378B-2FFD-680E6D2EC196}"/>
              </a:ext>
            </a:extLst>
          </p:cNvPr>
          <p:cNvPicPr>
            <a:picLocks noChangeAspect="1"/>
          </p:cNvPicPr>
          <p:nvPr/>
        </p:nvPicPr>
        <p:blipFill>
          <a:blip r:embed="rId6"/>
          <a:stretch>
            <a:fillRect/>
          </a:stretch>
        </p:blipFill>
        <p:spPr>
          <a:xfrm>
            <a:off x="8674064" y="5699543"/>
            <a:ext cx="801756" cy="838200"/>
          </a:xfrm>
          <a:prstGeom prst="rect">
            <a:avLst/>
          </a:prstGeom>
        </p:spPr>
      </p:pic>
      <p:cxnSp>
        <p:nvCxnSpPr>
          <p:cNvPr id="27" name="直接箭头连接符 26">
            <a:extLst>
              <a:ext uri="{FF2B5EF4-FFF2-40B4-BE49-F238E27FC236}">
                <a16:creationId xmlns:a16="http://schemas.microsoft.com/office/drawing/2014/main" id="{D09DBABA-AFF4-64C6-5676-A6340A36D444}"/>
              </a:ext>
            </a:extLst>
          </p:cNvPr>
          <p:cNvCxnSpPr>
            <a:cxnSpLocks/>
          </p:cNvCxnSpPr>
          <p:nvPr/>
        </p:nvCxnSpPr>
        <p:spPr>
          <a:xfrm flipH="1">
            <a:off x="3400914" y="4318836"/>
            <a:ext cx="1601191" cy="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29" name="直接箭头连接符 28">
            <a:extLst>
              <a:ext uri="{FF2B5EF4-FFF2-40B4-BE49-F238E27FC236}">
                <a16:creationId xmlns:a16="http://schemas.microsoft.com/office/drawing/2014/main" id="{E72DA5F7-9C37-22B3-900B-C5DACBC85F33}"/>
              </a:ext>
            </a:extLst>
          </p:cNvPr>
          <p:cNvCxnSpPr>
            <a:cxnSpLocks/>
          </p:cNvCxnSpPr>
          <p:nvPr/>
        </p:nvCxnSpPr>
        <p:spPr>
          <a:xfrm flipV="1">
            <a:off x="6171990" y="2380420"/>
            <a:ext cx="2378376" cy="1191075"/>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31" name="直接箭头连接符 30">
            <a:extLst>
              <a:ext uri="{FF2B5EF4-FFF2-40B4-BE49-F238E27FC236}">
                <a16:creationId xmlns:a16="http://schemas.microsoft.com/office/drawing/2014/main" id="{1F374D7D-6BCB-7190-F21F-8CAA529D5DC1}"/>
              </a:ext>
            </a:extLst>
          </p:cNvPr>
          <p:cNvCxnSpPr>
            <a:cxnSpLocks/>
          </p:cNvCxnSpPr>
          <p:nvPr/>
        </p:nvCxnSpPr>
        <p:spPr>
          <a:xfrm flipH="1">
            <a:off x="6151927" y="2586682"/>
            <a:ext cx="2398439" cy="1158984"/>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34" name="直接箭头连接符 33">
            <a:extLst>
              <a:ext uri="{FF2B5EF4-FFF2-40B4-BE49-F238E27FC236}">
                <a16:creationId xmlns:a16="http://schemas.microsoft.com/office/drawing/2014/main" id="{6A852580-DF1F-6776-32F9-A0E2079B692C}"/>
              </a:ext>
            </a:extLst>
          </p:cNvPr>
          <p:cNvCxnSpPr>
            <a:cxnSpLocks/>
          </p:cNvCxnSpPr>
          <p:nvPr/>
        </p:nvCxnSpPr>
        <p:spPr>
          <a:xfrm>
            <a:off x="6318705" y="4125305"/>
            <a:ext cx="2231661" cy="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35" name="直接箭头连接符 34">
            <a:extLst>
              <a:ext uri="{FF2B5EF4-FFF2-40B4-BE49-F238E27FC236}">
                <a16:creationId xmlns:a16="http://schemas.microsoft.com/office/drawing/2014/main" id="{D48176D7-9B74-C56A-A63A-8ADB87ACBAD1}"/>
              </a:ext>
            </a:extLst>
          </p:cNvPr>
          <p:cNvCxnSpPr>
            <a:cxnSpLocks/>
          </p:cNvCxnSpPr>
          <p:nvPr/>
        </p:nvCxnSpPr>
        <p:spPr>
          <a:xfrm flipH="1">
            <a:off x="6301130" y="4318836"/>
            <a:ext cx="2249236" cy="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44" name="直接箭头连接符 43">
            <a:extLst>
              <a:ext uri="{FF2B5EF4-FFF2-40B4-BE49-F238E27FC236}">
                <a16:creationId xmlns:a16="http://schemas.microsoft.com/office/drawing/2014/main" id="{879E4BEF-BD74-EAA2-1881-3F651C99AFE5}"/>
              </a:ext>
            </a:extLst>
          </p:cNvPr>
          <p:cNvCxnSpPr>
            <a:cxnSpLocks/>
          </p:cNvCxnSpPr>
          <p:nvPr/>
        </p:nvCxnSpPr>
        <p:spPr>
          <a:xfrm>
            <a:off x="6301130" y="4780100"/>
            <a:ext cx="2164953" cy="127641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48" name="直接箭头连接符 47">
            <a:extLst>
              <a:ext uri="{FF2B5EF4-FFF2-40B4-BE49-F238E27FC236}">
                <a16:creationId xmlns:a16="http://schemas.microsoft.com/office/drawing/2014/main" id="{A06BEE62-FEC2-7781-7096-ACDAF2542466}"/>
              </a:ext>
            </a:extLst>
          </p:cNvPr>
          <p:cNvCxnSpPr>
            <a:cxnSpLocks/>
          </p:cNvCxnSpPr>
          <p:nvPr/>
        </p:nvCxnSpPr>
        <p:spPr>
          <a:xfrm flipH="1" flipV="1">
            <a:off x="6185338" y="4910728"/>
            <a:ext cx="2280745" cy="1361056"/>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sp>
        <p:nvSpPr>
          <p:cNvPr id="50" name="文本框 49">
            <a:extLst>
              <a:ext uri="{FF2B5EF4-FFF2-40B4-BE49-F238E27FC236}">
                <a16:creationId xmlns:a16="http://schemas.microsoft.com/office/drawing/2014/main" id="{AA39C0F3-DB28-F158-8B14-8D316A8CACF9}"/>
              </a:ext>
            </a:extLst>
          </p:cNvPr>
          <p:cNvSpPr txBox="1"/>
          <p:nvPr/>
        </p:nvSpPr>
        <p:spPr>
          <a:xfrm>
            <a:off x="5796728" y="2383608"/>
            <a:ext cx="1835759" cy="369332"/>
          </a:xfrm>
          <a:prstGeom prst="rect">
            <a:avLst/>
          </a:prstGeom>
          <a:noFill/>
        </p:spPr>
        <p:txBody>
          <a:bodyPr wrap="none" rtlCol="0">
            <a:spAutoFit/>
          </a:bodyPr>
          <a:lstStyle/>
          <a:p>
            <a:r>
              <a:rPr lang="en-US" altLang="zh-CN" dirty="0"/>
              <a:t>2. example.com?</a:t>
            </a:r>
            <a:endParaRPr lang="zh-CN" altLang="en-US" dirty="0"/>
          </a:p>
        </p:txBody>
      </p:sp>
      <p:sp>
        <p:nvSpPr>
          <p:cNvPr id="51" name="文本框 50">
            <a:extLst>
              <a:ext uri="{FF2B5EF4-FFF2-40B4-BE49-F238E27FC236}">
                <a16:creationId xmlns:a16="http://schemas.microsoft.com/office/drawing/2014/main" id="{A7B7C763-B460-A6E4-86F2-E6DB3B7CF10B}"/>
              </a:ext>
            </a:extLst>
          </p:cNvPr>
          <p:cNvSpPr txBox="1"/>
          <p:nvPr/>
        </p:nvSpPr>
        <p:spPr>
          <a:xfrm>
            <a:off x="7199769" y="3181108"/>
            <a:ext cx="1991251" cy="369332"/>
          </a:xfrm>
          <a:prstGeom prst="rect">
            <a:avLst/>
          </a:prstGeom>
          <a:noFill/>
        </p:spPr>
        <p:txBody>
          <a:bodyPr wrap="none" rtlCol="0">
            <a:spAutoFit/>
          </a:bodyPr>
          <a:lstStyle/>
          <a:p>
            <a:r>
              <a:rPr lang="en-US" altLang="zh-CN" dirty="0"/>
              <a:t>3. redirect to .com</a:t>
            </a:r>
            <a:endParaRPr lang="zh-CN" altLang="en-US" dirty="0"/>
          </a:p>
        </p:txBody>
      </p:sp>
      <p:sp>
        <p:nvSpPr>
          <p:cNvPr id="57" name="文本框 56">
            <a:extLst>
              <a:ext uri="{FF2B5EF4-FFF2-40B4-BE49-F238E27FC236}">
                <a16:creationId xmlns:a16="http://schemas.microsoft.com/office/drawing/2014/main" id="{618BB280-71D0-3ECF-F885-D43FFFF7916F}"/>
              </a:ext>
            </a:extLst>
          </p:cNvPr>
          <p:cNvSpPr txBox="1"/>
          <p:nvPr/>
        </p:nvSpPr>
        <p:spPr>
          <a:xfrm>
            <a:off x="6556071" y="3753349"/>
            <a:ext cx="1835759" cy="369332"/>
          </a:xfrm>
          <a:prstGeom prst="rect">
            <a:avLst/>
          </a:prstGeom>
          <a:noFill/>
        </p:spPr>
        <p:txBody>
          <a:bodyPr wrap="none" rtlCol="0">
            <a:spAutoFit/>
          </a:bodyPr>
          <a:lstStyle/>
          <a:p>
            <a:r>
              <a:rPr lang="en-US" altLang="zh-CN" dirty="0"/>
              <a:t>4. example.com?</a:t>
            </a:r>
            <a:endParaRPr lang="zh-CN" altLang="en-US" dirty="0"/>
          </a:p>
        </p:txBody>
      </p:sp>
      <p:sp>
        <p:nvSpPr>
          <p:cNvPr id="58" name="文本框 57">
            <a:extLst>
              <a:ext uri="{FF2B5EF4-FFF2-40B4-BE49-F238E27FC236}">
                <a16:creationId xmlns:a16="http://schemas.microsoft.com/office/drawing/2014/main" id="{59B3743C-1DE2-717E-227C-9A60AB968B73}"/>
              </a:ext>
            </a:extLst>
          </p:cNvPr>
          <p:cNvSpPr txBox="1"/>
          <p:nvPr/>
        </p:nvSpPr>
        <p:spPr>
          <a:xfrm>
            <a:off x="6151927" y="4443199"/>
            <a:ext cx="3150221" cy="369332"/>
          </a:xfrm>
          <a:prstGeom prst="rect">
            <a:avLst/>
          </a:prstGeom>
          <a:noFill/>
        </p:spPr>
        <p:txBody>
          <a:bodyPr wrap="none" rtlCol="0">
            <a:spAutoFit/>
          </a:bodyPr>
          <a:lstStyle/>
          <a:p>
            <a:r>
              <a:rPr lang="en-US" altLang="zh-CN" dirty="0"/>
              <a:t>5. redirect to ns.example.com</a:t>
            </a:r>
            <a:endParaRPr lang="zh-CN" altLang="en-US" dirty="0"/>
          </a:p>
        </p:txBody>
      </p:sp>
      <p:sp>
        <p:nvSpPr>
          <p:cNvPr id="63" name="文本框 62">
            <a:extLst>
              <a:ext uri="{FF2B5EF4-FFF2-40B4-BE49-F238E27FC236}">
                <a16:creationId xmlns:a16="http://schemas.microsoft.com/office/drawing/2014/main" id="{AD9CEB1E-A881-ACD3-C166-31AEFE74B826}"/>
              </a:ext>
            </a:extLst>
          </p:cNvPr>
          <p:cNvSpPr txBox="1"/>
          <p:nvPr/>
        </p:nvSpPr>
        <p:spPr>
          <a:xfrm>
            <a:off x="7425748" y="5159214"/>
            <a:ext cx="1835759" cy="369332"/>
          </a:xfrm>
          <a:prstGeom prst="rect">
            <a:avLst/>
          </a:prstGeom>
          <a:noFill/>
        </p:spPr>
        <p:txBody>
          <a:bodyPr wrap="none" rtlCol="0">
            <a:spAutoFit/>
          </a:bodyPr>
          <a:lstStyle/>
          <a:p>
            <a:r>
              <a:rPr lang="en-US" altLang="zh-CN" dirty="0"/>
              <a:t>6. example.com?</a:t>
            </a:r>
            <a:endParaRPr lang="zh-CN" altLang="en-US" dirty="0"/>
          </a:p>
        </p:txBody>
      </p:sp>
      <p:sp>
        <p:nvSpPr>
          <p:cNvPr id="1024" name="文本框 1023">
            <a:extLst>
              <a:ext uri="{FF2B5EF4-FFF2-40B4-BE49-F238E27FC236}">
                <a16:creationId xmlns:a16="http://schemas.microsoft.com/office/drawing/2014/main" id="{519981DE-5B75-7BA5-36E9-B53DD786E9FD}"/>
              </a:ext>
            </a:extLst>
          </p:cNvPr>
          <p:cNvSpPr txBox="1"/>
          <p:nvPr/>
        </p:nvSpPr>
        <p:spPr>
          <a:xfrm>
            <a:off x="5796728" y="5803285"/>
            <a:ext cx="2182008" cy="369332"/>
          </a:xfrm>
          <a:prstGeom prst="rect">
            <a:avLst/>
          </a:prstGeom>
          <a:noFill/>
        </p:spPr>
        <p:txBody>
          <a:bodyPr wrap="none" rtlCol="0">
            <a:spAutoFit/>
          </a:bodyPr>
          <a:lstStyle/>
          <a:p>
            <a:r>
              <a:rPr lang="en-US" altLang="zh-CN" dirty="0"/>
              <a:t>7.IP of example.com</a:t>
            </a:r>
            <a:endParaRPr lang="zh-CN" altLang="en-US" dirty="0"/>
          </a:p>
        </p:txBody>
      </p:sp>
      <p:sp>
        <p:nvSpPr>
          <p:cNvPr id="1025" name="文本框 1024">
            <a:extLst>
              <a:ext uri="{FF2B5EF4-FFF2-40B4-BE49-F238E27FC236}">
                <a16:creationId xmlns:a16="http://schemas.microsoft.com/office/drawing/2014/main" id="{6C0AA339-E15B-6B62-7473-97EA4E8DC17E}"/>
              </a:ext>
            </a:extLst>
          </p:cNvPr>
          <p:cNvSpPr txBox="1"/>
          <p:nvPr/>
        </p:nvSpPr>
        <p:spPr>
          <a:xfrm>
            <a:off x="3142435" y="4347994"/>
            <a:ext cx="2182008" cy="369332"/>
          </a:xfrm>
          <a:prstGeom prst="rect">
            <a:avLst/>
          </a:prstGeom>
          <a:noFill/>
        </p:spPr>
        <p:txBody>
          <a:bodyPr wrap="none" rtlCol="0">
            <a:spAutoFit/>
          </a:bodyPr>
          <a:lstStyle/>
          <a:p>
            <a:r>
              <a:rPr lang="en-US" altLang="zh-CN" dirty="0"/>
              <a:t>8.IP of example.com</a:t>
            </a:r>
            <a:endParaRPr lang="zh-CN" altLang="en-US" dirty="0"/>
          </a:p>
        </p:txBody>
      </p:sp>
      <p:sp>
        <p:nvSpPr>
          <p:cNvPr id="1027" name="文本框 1026">
            <a:extLst>
              <a:ext uri="{FF2B5EF4-FFF2-40B4-BE49-F238E27FC236}">
                <a16:creationId xmlns:a16="http://schemas.microsoft.com/office/drawing/2014/main" id="{0759D7C7-49CA-E897-7E11-6808AA16F691}"/>
              </a:ext>
            </a:extLst>
          </p:cNvPr>
          <p:cNvSpPr txBox="1"/>
          <p:nvPr/>
        </p:nvSpPr>
        <p:spPr>
          <a:xfrm>
            <a:off x="5086055" y="4647718"/>
            <a:ext cx="1181734" cy="646331"/>
          </a:xfrm>
          <a:prstGeom prst="rect">
            <a:avLst/>
          </a:prstGeom>
          <a:noFill/>
        </p:spPr>
        <p:txBody>
          <a:bodyPr wrap="none" rtlCol="0">
            <a:spAutoFit/>
          </a:bodyPr>
          <a:lstStyle/>
          <a:p>
            <a:r>
              <a:rPr lang="en-US" altLang="zh-CN" b="1" dirty="0">
                <a:solidFill>
                  <a:schemeClr val="accent1">
                    <a:lumMod val="60000"/>
                    <a:lumOff val="40000"/>
                  </a:schemeClr>
                </a:solidFill>
              </a:rPr>
              <a:t>Recursive</a:t>
            </a:r>
          </a:p>
          <a:p>
            <a:pPr algn="ctr"/>
            <a:r>
              <a:rPr lang="en-US" altLang="zh-CN" b="1" dirty="0">
                <a:solidFill>
                  <a:schemeClr val="accent1">
                    <a:lumMod val="60000"/>
                    <a:lumOff val="40000"/>
                  </a:schemeClr>
                </a:solidFill>
              </a:rPr>
              <a:t>resolver</a:t>
            </a:r>
            <a:endParaRPr lang="zh-CN" altLang="en-US" b="1" dirty="0">
              <a:solidFill>
                <a:schemeClr val="accent1">
                  <a:lumMod val="60000"/>
                  <a:lumOff val="40000"/>
                </a:schemeClr>
              </a:solidFill>
            </a:endParaRPr>
          </a:p>
        </p:txBody>
      </p:sp>
      <p:sp>
        <p:nvSpPr>
          <p:cNvPr id="1028" name="文本框 1027">
            <a:extLst>
              <a:ext uri="{FF2B5EF4-FFF2-40B4-BE49-F238E27FC236}">
                <a16:creationId xmlns:a16="http://schemas.microsoft.com/office/drawing/2014/main" id="{59BBF884-438A-54A2-57AA-088041FF33D3}"/>
              </a:ext>
            </a:extLst>
          </p:cNvPr>
          <p:cNvSpPr txBox="1"/>
          <p:nvPr/>
        </p:nvSpPr>
        <p:spPr>
          <a:xfrm>
            <a:off x="9614664" y="2383608"/>
            <a:ext cx="1053494" cy="369332"/>
          </a:xfrm>
          <a:prstGeom prst="rect">
            <a:avLst/>
          </a:prstGeom>
          <a:noFill/>
        </p:spPr>
        <p:txBody>
          <a:bodyPr wrap="none" rtlCol="0">
            <a:spAutoFit/>
          </a:bodyPr>
          <a:lstStyle/>
          <a:p>
            <a:r>
              <a:rPr lang="en-US" altLang="zh-CN" b="1" dirty="0">
                <a:solidFill>
                  <a:schemeClr val="accent6"/>
                </a:solidFill>
              </a:rPr>
              <a:t>Root NS</a:t>
            </a:r>
            <a:endParaRPr lang="zh-CN" altLang="en-US" b="1" dirty="0">
              <a:solidFill>
                <a:schemeClr val="accent6"/>
              </a:solidFill>
            </a:endParaRPr>
          </a:p>
        </p:txBody>
      </p:sp>
      <p:sp>
        <p:nvSpPr>
          <p:cNvPr id="1029" name="文本框 1028">
            <a:extLst>
              <a:ext uri="{FF2B5EF4-FFF2-40B4-BE49-F238E27FC236}">
                <a16:creationId xmlns:a16="http://schemas.microsoft.com/office/drawing/2014/main" id="{E547C5A3-3BB1-A68F-BD7C-7043D27553AF}"/>
              </a:ext>
            </a:extLst>
          </p:cNvPr>
          <p:cNvSpPr txBox="1"/>
          <p:nvPr/>
        </p:nvSpPr>
        <p:spPr>
          <a:xfrm>
            <a:off x="9632489" y="3938015"/>
            <a:ext cx="954107" cy="369332"/>
          </a:xfrm>
          <a:prstGeom prst="rect">
            <a:avLst/>
          </a:prstGeom>
          <a:noFill/>
        </p:spPr>
        <p:txBody>
          <a:bodyPr wrap="none" rtlCol="0">
            <a:spAutoFit/>
          </a:bodyPr>
          <a:lstStyle/>
          <a:p>
            <a:r>
              <a:rPr lang="en-US" altLang="zh-CN" b="1" dirty="0">
                <a:solidFill>
                  <a:schemeClr val="accent6"/>
                </a:solidFill>
              </a:rPr>
              <a:t>TLD NS</a:t>
            </a:r>
            <a:endParaRPr lang="zh-CN" altLang="en-US" b="1" dirty="0">
              <a:solidFill>
                <a:schemeClr val="accent6"/>
              </a:solidFill>
            </a:endParaRPr>
          </a:p>
        </p:txBody>
      </p:sp>
      <p:sp>
        <p:nvSpPr>
          <p:cNvPr id="1030" name="文本框 1029">
            <a:extLst>
              <a:ext uri="{FF2B5EF4-FFF2-40B4-BE49-F238E27FC236}">
                <a16:creationId xmlns:a16="http://schemas.microsoft.com/office/drawing/2014/main" id="{53204513-936A-7048-FAD1-325967A8433F}"/>
              </a:ext>
            </a:extLst>
          </p:cNvPr>
          <p:cNvSpPr txBox="1"/>
          <p:nvPr/>
        </p:nvSpPr>
        <p:spPr>
          <a:xfrm>
            <a:off x="9679733" y="5795477"/>
            <a:ext cx="1871025" cy="646331"/>
          </a:xfrm>
          <a:prstGeom prst="rect">
            <a:avLst/>
          </a:prstGeom>
          <a:noFill/>
        </p:spPr>
        <p:txBody>
          <a:bodyPr wrap="none" rtlCol="0">
            <a:spAutoFit/>
          </a:bodyPr>
          <a:lstStyle/>
          <a:p>
            <a:r>
              <a:rPr lang="en-US" altLang="zh-CN" b="1" dirty="0">
                <a:solidFill>
                  <a:srgbClr val="FF0000"/>
                </a:solidFill>
              </a:rPr>
              <a:t>ns.example.com</a:t>
            </a:r>
          </a:p>
          <a:p>
            <a:r>
              <a:rPr lang="en-US" altLang="zh-CN" b="1" dirty="0">
                <a:solidFill>
                  <a:srgbClr val="FF0000"/>
                </a:solidFill>
              </a:rPr>
              <a:t>Auth NS</a:t>
            </a:r>
            <a:endParaRPr lang="zh-CN" altLang="en-US" b="1" dirty="0">
              <a:solidFill>
                <a:srgbClr val="FF0000"/>
              </a:solidFill>
            </a:endParaRPr>
          </a:p>
        </p:txBody>
      </p:sp>
      <p:sp>
        <p:nvSpPr>
          <p:cNvPr id="1031" name="文本框 1030">
            <a:extLst>
              <a:ext uri="{FF2B5EF4-FFF2-40B4-BE49-F238E27FC236}">
                <a16:creationId xmlns:a16="http://schemas.microsoft.com/office/drawing/2014/main" id="{CB5D6262-CAD4-7E5B-B1D9-E3F22D0FAD5E}"/>
              </a:ext>
            </a:extLst>
          </p:cNvPr>
          <p:cNvSpPr txBox="1"/>
          <p:nvPr/>
        </p:nvSpPr>
        <p:spPr>
          <a:xfrm>
            <a:off x="937458" y="1260406"/>
            <a:ext cx="10295572" cy="400110"/>
          </a:xfrm>
          <a:prstGeom prst="rect">
            <a:avLst/>
          </a:prstGeom>
          <a:noFill/>
        </p:spPr>
        <p:txBody>
          <a:bodyPr wrap="square" rtlCol="0">
            <a:spAutoFit/>
          </a:bodyPr>
          <a:lstStyle/>
          <a:p>
            <a:r>
              <a:rPr lang="en-US" altLang="zh-CN" sz="2000" b="1" dirty="0">
                <a:latin typeface="微软雅黑" panose="020B0503020204020204" pitchFamily="34" charset="-122"/>
                <a:ea typeface="微软雅黑" panose="020B0503020204020204" pitchFamily="34" charset="-122"/>
              </a:rPr>
              <a:t>DNS is a critical infrastructure that translates domain names to IP addresses.</a:t>
            </a:r>
            <a:endParaRPr lang="zh-CN" altLang="en-US" sz="2000" b="1" dirty="0">
              <a:latin typeface="微软雅黑" panose="020B0503020204020204" pitchFamily="34" charset="-122"/>
              <a:ea typeface="微软雅黑" panose="020B0503020204020204" pitchFamily="34" charset="-122"/>
            </a:endParaRP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1595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0" y="184298"/>
            <a:ext cx="6097314" cy="646331"/>
          </a:xfrm>
          <a:prstGeom prst="rect">
            <a:avLst/>
          </a:prstGeom>
          <a:noFill/>
        </p:spPr>
        <p:txBody>
          <a:bodyPr wrap="square">
            <a:spAutoFit/>
          </a:bodyPr>
          <a:lstStyle/>
          <a:p>
            <a:r>
              <a:rPr lang="en-US" altLang="zh-CN" sz="3600" b="1" i="0" dirty="0">
                <a:solidFill>
                  <a:schemeClr val="bg1"/>
                </a:solidFill>
                <a:effectLst/>
                <a:latin typeface="HelveticaNeue-Bold"/>
              </a:rPr>
              <a:t>DNS </a:t>
            </a:r>
            <a:r>
              <a:rPr lang="en-US" altLang="zh-CN" sz="3600" b="1" i="0" dirty="0" err="1">
                <a:solidFill>
                  <a:schemeClr val="bg1"/>
                </a:solidFill>
                <a:effectLst/>
                <a:latin typeface="HelveticaNeue-Bold"/>
              </a:rPr>
              <a:t>Centraliztion</a:t>
            </a:r>
            <a:endParaRPr lang="zh-CN" altLang="en-US" sz="3600" dirty="0">
              <a:solidFill>
                <a:schemeClr val="bg1"/>
              </a:solidFill>
            </a:endParaRPr>
          </a:p>
        </p:txBody>
      </p:sp>
      <p:sp>
        <p:nvSpPr>
          <p:cNvPr id="1031" name="文本框 1030">
            <a:extLst>
              <a:ext uri="{FF2B5EF4-FFF2-40B4-BE49-F238E27FC236}">
                <a16:creationId xmlns:a16="http://schemas.microsoft.com/office/drawing/2014/main" id="{CB5D6262-CAD4-7E5B-B1D9-E3F22D0FAD5E}"/>
              </a:ext>
            </a:extLst>
          </p:cNvPr>
          <p:cNvSpPr txBox="1"/>
          <p:nvPr/>
        </p:nvSpPr>
        <p:spPr>
          <a:xfrm>
            <a:off x="462722" y="1339234"/>
            <a:ext cx="10295572" cy="400110"/>
          </a:xfrm>
          <a:prstGeom prst="rect">
            <a:avLst/>
          </a:prstGeom>
          <a:noFill/>
        </p:spPr>
        <p:txBody>
          <a:bodyPr wrap="square" rtlCol="0">
            <a:spAutoFit/>
          </a:bodyPr>
          <a:lstStyle/>
          <a:p>
            <a:r>
              <a:rPr lang="en-US" altLang="zh-CN" sz="2000" b="1" dirty="0">
                <a:latin typeface="微软雅黑" panose="020B0503020204020204" pitchFamily="34" charset="-122"/>
                <a:ea typeface="微软雅黑" panose="020B0503020204020204" pitchFamily="34" charset="-122"/>
              </a:rPr>
              <a:t>DNS is designed as a distributed system, but…</a:t>
            </a:r>
            <a:endParaRPr lang="zh-CN" altLang="en-US" sz="2000" b="1" dirty="0">
              <a:latin typeface="微软雅黑" panose="020B0503020204020204" pitchFamily="34" charset="-122"/>
              <a:ea typeface="微软雅黑" panose="020B0503020204020204" pitchFamily="34" charset="-122"/>
            </a:endParaRP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pic>
        <p:nvPicPr>
          <p:cNvPr id="2" name="图形 1" descr="Internet 纯色填充">
            <a:extLst>
              <a:ext uri="{FF2B5EF4-FFF2-40B4-BE49-F238E27FC236}">
                <a16:creationId xmlns:a16="http://schemas.microsoft.com/office/drawing/2014/main" id="{7193C781-8411-5ED3-0C28-D8B7007DE3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2544" y="2194936"/>
            <a:ext cx="754117" cy="754117"/>
          </a:xfrm>
          <a:prstGeom prst="rect">
            <a:avLst/>
          </a:prstGeom>
        </p:spPr>
      </p:pic>
      <p:pic>
        <p:nvPicPr>
          <p:cNvPr id="3" name="图片 2">
            <a:extLst>
              <a:ext uri="{FF2B5EF4-FFF2-40B4-BE49-F238E27FC236}">
                <a16:creationId xmlns:a16="http://schemas.microsoft.com/office/drawing/2014/main" id="{8431BAA7-3E8C-D88E-EFAA-7AD5ABE32E7D}"/>
              </a:ext>
            </a:extLst>
          </p:cNvPr>
          <p:cNvPicPr>
            <a:picLocks noChangeAspect="1"/>
          </p:cNvPicPr>
          <p:nvPr/>
        </p:nvPicPr>
        <p:blipFill>
          <a:blip r:embed="rId6"/>
          <a:stretch>
            <a:fillRect/>
          </a:stretch>
        </p:blipFill>
        <p:spPr>
          <a:xfrm>
            <a:off x="1991425" y="2537596"/>
            <a:ext cx="619506" cy="746922"/>
          </a:xfrm>
          <a:prstGeom prst="rect">
            <a:avLst/>
          </a:prstGeom>
        </p:spPr>
      </p:pic>
      <p:cxnSp>
        <p:nvCxnSpPr>
          <p:cNvPr id="5" name="直接箭头连接符 4">
            <a:extLst>
              <a:ext uri="{FF2B5EF4-FFF2-40B4-BE49-F238E27FC236}">
                <a16:creationId xmlns:a16="http://schemas.microsoft.com/office/drawing/2014/main" id="{86B00AB7-1BB9-BAF0-7897-D6F4253FB67D}"/>
              </a:ext>
            </a:extLst>
          </p:cNvPr>
          <p:cNvCxnSpPr/>
          <p:nvPr/>
        </p:nvCxnSpPr>
        <p:spPr>
          <a:xfrm>
            <a:off x="1193519" y="2709098"/>
            <a:ext cx="701566" cy="27886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7" name="图形 6" descr="Internet 纯色填充">
            <a:extLst>
              <a:ext uri="{FF2B5EF4-FFF2-40B4-BE49-F238E27FC236}">
                <a16:creationId xmlns:a16="http://schemas.microsoft.com/office/drawing/2014/main" id="{8BAD0C4D-35FC-9A8F-6CFE-FE6EC5C7140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2544" y="4091200"/>
            <a:ext cx="754117" cy="754117"/>
          </a:xfrm>
          <a:prstGeom prst="rect">
            <a:avLst/>
          </a:prstGeom>
        </p:spPr>
      </p:pic>
      <p:pic>
        <p:nvPicPr>
          <p:cNvPr id="8" name="图片 7">
            <a:extLst>
              <a:ext uri="{FF2B5EF4-FFF2-40B4-BE49-F238E27FC236}">
                <a16:creationId xmlns:a16="http://schemas.microsoft.com/office/drawing/2014/main" id="{90275217-B451-E54E-91B3-6E82A4945085}"/>
              </a:ext>
            </a:extLst>
          </p:cNvPr>
          <p:cNvPicPr>
            <a:picLocks noChangeAspect="1"/>
          </p:cNvPicPr>
          <p:nvPr/>
        </p:nvPicPr>
        <p:blipFill>
          <a:blip r:embed="rId6"/>
          <a:stretch>
            <a:fillRect/>
          </a:stretch>
        </p:blipFill>
        <p:spPr>
          <a:xfrm>
            <a:off x="1991425" y="3522003"/>
            <a:ext cx="619506" cy="746922"/>
          </a:xfrm>
          <a:prstGeom prst="rect">
            <a:avLst/>
          </a:prstGeom>
        </p:spPr>
      </p:pic>
      <p:cxnSp>
        <p:nvCxnSpPr>
          <p:cNvPr id="9" name="直接箭头连接符 8">
            <a:extLst>
              <a:ext uri="{FF2B5EF4-FFF2-40B4-BE49-F238E27FC236}">
                <a16:creationId xmlns:a16="http://schemas.microsoft.com/office/drawing/2014/main" id="{21207C68-472E-799E-572B-F81EDF8A35CA}"/>
              </a:ext>
            </a:extLst>
          </p:cNvPr>
          <p:cNvCxnSpPr>
            <a:cxnSpLocks/>
          </p:cNvCxnSpPr>
          <p:nvPr/>
        </p:nvCxnSpPr>
        <p:spPr>
          <a:xfrm flipV="1">
            <a:off x="1193519" y="3924878"/>
            <a:ext cx="639967" cy="29128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6" name="图形 15" descr="Internet 纯色填充">
            <a:extLst>
              <a:ext uri="{FF2B5EF4-FFF2-40B4-BE49-F238E27FC236}">
                <a16:creationId xmlns:a16="http://schemas.microsoft.com/office/drawing/2014/main" id="{5938838B-7C00-BD7C-9BFE-978A9F6284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27381" y="2194935"/>
            <a:ext cx="754117" cy="754117"/>
          </a:xfrm>
          <a:prstGeom prst="rect">
            <a:avLst/>
          </a:prstGeom>
        </p:spPr>
      </p:pic>
      <p:pic>
        <p:nvPicPr>
          <p:cNvPr id="18" name="图片 17">
            <a:extLst>
              <a:ext uri="{FF2B5EF4-FFF2-40B4-BE49-F238E27FC236}">
                <a16:creationId xmlns:a16="http://schemas.microsoft.com/office/drawing/2014/main" id="{0F0D7338-C25E-E240-EE7C-CCAA4B1CB9AD}"/>
              </a:ext>
            </a:extLst>
          </p:cNvPr>
          <p:cNvPicPr>
            <a:picLocks noChangeAspect="1"/>
          </p:cNvPicPr>
          <p:nvPr/>
        </p:nvPicPr>
        <p:blipFill>
          <a:blip r:embed="rId6"/>
          <a:stretch>
            <a:fillRect/>
          </a:stretch>
        </p:blipFill>
        <p:spPr>
          <a:xfrm>
            <a:off x="2799284" y="2537596"/>
            <a:ext cx="619506" cy="746922"/>
          </a:xfrm>
          <a:prstGeom prst="rect">
            <a:avLst/>
          </a:prstGeom>
        </p:spPr>
      </p:pic>
      <p:cxnSp>
        <p:nvCxnSpPr>
          <p:cNvPr id="21" name="直接箭头连接符 20">
            <a:extLst>
              <a:ext uri="{FF2B5EF4-FFF2-40B4-BE49-F238E27FC236}">
                <a16:creationId xmlns:a16="http://schemas.microsoft.com/office/drawing/2014/main" id="{72387E50-2043-CF3A-3B9A-123DBE027A18}"/>
              </a:ext>
            </a:extLst>
          </p:cNvPr>
          <p:cNvCxnSpPr>
            <a:cxnSpLocks/>
          </p:cNvCxnSpPr>
          <p:nvPr/>
        </p:nvCxnSpPr>
        <p:spPr>
          <a:xfrm>
            <a:off x="3525815" y="4031303"/>
            <a:ext cx="701566" cy="27886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23" name="图形 22" descr="Internet 纯色填充">
            <a:extLst>
              <a:ext uri="{FF2B5EF4-FFF2-40B4-BE49-F238E27FC236}">
                <a16:creationId xmlns:a16="http://schemas.microsoft.com/office/drawing/2014/main" id="{5D4FE195-5A43-C727-BF37-E4F367B3FE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29719" y="4051226"/>
            <a:ext cx="754117" cy="754117"/>
          </a:xfrm>
          <a:prstGeom prst="rect">
            <a:avLst/>
          </a:prstGeom>
        </p:spPr>
      </p:pic>
      <p:pic>
        <p:nvPicPr>
          <p:cNvPr id="24" name="图片 23">
            <a:extLst>
              <a:ext uri="{FF2B5EF4-FFF2-40B4-BE49-F238E27FC236}">
                <a16:creationId xmlns:a16="http://schemas.microsoft.com/office/drawing/2014/main" id="{34C32B4E-DA8D-7074-5FC0-D7BF32392654}"/>
              </a:ext>
            </a:extLst>
          </p:cNvPr>
          <p:cNvPicPr>
            <a:picLocks noChangeAspect="1"/>
          </p:cNvPicPr>
          <p:nvPr/>
        </p:nvPicPr>
        <p:blipFill>
          <a:blip r:embed="rId6"/>
          <a:stretch>
            <a:fillRect/>
          </a:stretch>
        </p:blipFill>
        <p:spPr>
          <a:xfrm>
            <a:off x="2799284" y="3529374"/>
            <a:ext cx="619506" cy="746922"/>
          </a:xfrm>
          <a:prstGeom prst="rect">
            <a:avLst/>
          </a:prstGeom>
        </p:spPr>
      </p:pic>
      <p:cxnSp>
        <p:nvCxnSpPr>
          <p:cNvPr id="28" name="直接箭头连接符 27">
            <a:extLst>
              <a:ext uri="{FF2B5EF4-FFF2-40B4-BE49-F238E27FC236}">
                <a16:creationId xmlns:a16="http://schemas.microsoft.com/office/drawing/2014/main" id="{6236E060-33F3-267D-7141-50389E62444B}"/>
              </a:ext>
            </a:extLst>
          </p:cNvPr>
          <p:cNvCxnSpPr>
            <a:cxnSpLocks/>
          </p:cNvCxnSpPr>
          <p:nvPr/>
        </p:nvCxnSpPr>
        <p:spPr>
          <a:xfrm flipV="1">
            <a:off x="3468119" y="2657764"/>
            <a:ext cx="639967" cy="29128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6" name="箭头: 右 35">
            <a:extLst>
              <a:ext uri="{FF2B5EF4-FFF2-40B4-BE49-F238E27FC236}">
                <a16:creationId xmlns:a16="http://schemas.microsoft.com/office/drawing/2014/main" id="{659D6FC6-E900-5740-106E-BAFFAAF79777}"/>
              </a:ext>
            </a:extLst>
          </p:cNvPr>
          <p:cNvSpPr/>
          <p:nvPr/>
        </p:nvSpPr>
        <p:spPr>
          <a:xfrm>
            <a:off x="5421014" y="3358054"/>
            <a:ext cx="1349968" cy="283779"/>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43" name="图形 42" descr="Internet 纯色填充">
            <a:extLst>
              <a:ext uri="{FF2B5EF4-FFF2-40B4-BE49-F238E27FC236}">
                <a16:creationId xmlns:a16="http://schemas.microsoft.com/office/drawing/2014/main" id="{862DDAD7-1821-71E0-BB4E-0A4A2D7D47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50850" y="2154962"/>
            <a:ext cx="754117" cy="754117"/>
          </a:xfrm>
          <a:prstGeom prst="rect">
            <a:avLst/>
          </a:prstGeom>
        </p:spPr>
      </p:pic>
      <p:cxnSp>
        <p:nvCxnSpPr>
          <p:cNvPr id="45" name="直接箭头连接符 44">
            <a:extLst>
              <a:ext uri="{FF2B5EF4-FFF2-40B4-BE49-F238E27FC236}">
                <a16:creationId xmlns:a16="http://schemas.microsoft.com/office/drawing/2014/main" id="{4B509735-6776-9406-7B3F-EBD1CAA0C66D}"/>
              </a:ext>
            </a:extLst>
          </p:cNvPr>
          <p:cNvCxnSpPr>
            <a:cxnSpLocks/>
          </p:cNvCxnSpPr>
          <p:nvPr/>
        </p:nvCxnSpPr>
        <p:spPr>
          <a:xfrm>
            <a:off x="7531825" y="2669124"/>
            <a:ext cx="1036734" cy="56948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46" name="图形 45" descr="Internet 纯色填充">
            <a:extLst>
              <a:ext uri="{FF2B5EF4-FFF2-40B4-BE49-F238E27FC236}">
                <a16:creationId xmlns:a16="http://schemas.microsoft.com/office/drawing/2014/main" id="{DA5502BC-220C-CF85-1021-377432A2BB7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50850" y="4051226"/>
            <a:ext cx="754117" cy="754117"/>
          </a:xfrm>
          <a:prstGeom prst="rect">
            <a:avLst/>
          </a:prstGeom>
        </p:spPr>
      </p:pic>
      <p:cxnSp>
        <p:nvCxnSpPr>
          <p:cNvPr id="47" name="直接箭头连接符 46">
            <a:extLst>
              <a:ext uri="{FF2B5EF4-FFF2-40B4-BE49-F238E27FC236}">
                <a16:creationId xmlns:a16="http://schemas.microsoft.com/office/drawing/2014/main" id="{6A67CD68-F061-11BB-D5C8-B577C6FC609D}"/>
              </a:ext>
            </a:extLst>
          </p:cNvPr>
          <p:cNvCxnSpPr>
            <a:cxnSpLocks/>
          </p:cNvCxnSpPr>
          <p:nvPr/>
        </p:nvCxnSpPr>
        <p:spPr>
          <a:xfrm flipV="1">
            <a:off x="7531825" y="3736428"/>
            <a:ext cx="1146788" cy="43976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49" name="图形 48" descr="Internet 纯色填充">
            <a:extLst>
              <a:ext uri="{FF2B5EF4-FFF2-40B4-BE49-F238E27FC236}">
                <a16:creationId xmlns:a16="http://schemas.microsoft.com/office/drawing/2014/main" id="{3AD32A55-1F6C-BD61-B4A4-0CD794DB44D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65687" y="2092631"/>
            <a:ext cx="754117" cy="754117"/>
          </a:xfrm>
          <a:prstGeom prst="rect">
            <a:avLst/>
          </a:prstGeom>
        </p:spPr>
      </p:pic>
      <p:cxnSp>
        <p:nvCxnSpPr>
          <p:cNvPr id="52" name="直接箭头连接符 51">
            <a:extLst>
              <a:ext uri="{FF2B5EF4-FFF2-40B4-BE49-F238E27FC236}">
                <a16:creationId xmlns:a16="http://schemas.microsoft.com/office/drawing/2014/main" id="{9133D6A2-A359-19DC-6974-0597F0D09537}"/>
              </a:ext>
            </a:extLst>
          </p:cNvPr>
          <p:cNvCxnSpPr>
            <a:cxnSpLocks/>
          </p:cNvCxnSpPr>
          <p:nvPr/>
        </p:nvCxnSpPr>
        <p:spPr>
          <a:xfrm>
            <a:off x="9502095" y="3846328"/>
            <a:ext cx="1063592" cy="42386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53" name="图形 52" descr="Internet 纯色填充">
            <a:extLst>
              <a:ext uri="{FF2B5EF4-FFF2-40B4-BE49-F238E27FC236}">
                <a16:creationId xmlns:a16="http://schemas.microsoft.com/office/drawing/2014/main" id="{2E9B3949-A224-F59D-8748-BD708FA9650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68025" y="4011252"/>
            <a:ext cx="754117" cy="754117"/>
          </a:xfrm>
          <a:prstGeom prst="rect">
            <a:avLst/>
          </a:prstGeom>
        </p:spPr>
      </p:pic>
      <p:cxnSp>
        <p:nvCxnSpPr>
          <p:cNvPr id="54" name="直接箭头连接符 53">
            <a:extLst>
              <a:ext uri="{FF2B5EF4-FFF2-40B4-BE49-F238E27FC236}">
                <a16:creationId xmlns:a16="http://schemas.microsoft.com/office/drawing/2014/main" id="{B4D0D937-C950-0A07-CD6C-EF851627B155}"/>
              </a:ext>
            </a:extLst>
          </p:cNvPr>
          <p:cNvCxnSpPr>
            <a:cxnSpLocks/>
          </p:cNvCxnSpPr>
          <p:nvPr/>
        </p:nvCxnSpPr>
        <p:spPr>
          <a:xfrm flipV="1">
            <a:off x="9502095" y="2617790"/>
            <a:ext cx="944297" cy="62082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55" name="图片 54">
            <a:extLst>
              <a:ext uri="{FF2B5EF4-FFF2-40B4-BE49-F238E27FC236}">
                <a16:creationId xmlns:a16="http://schemas.microsoft.com/office/drawing/2014/main" id="{32C5C456-331B-02B9-A4EE-CFB97C381966}"/>
              </a:ext>
            </a:extLst>
          </p:cNvPr>
          <p:cNvPicPr>
            <a:picLocks noChangeAspect="1"/>
          </p:cNvPicPr>
          <p:nvPr/>
        </p:nvPicPr>
        <p:blipFill>
          <a:blip r:embed="rId6"/>
          <a:stretch>
            <a:fillRect/>
          </a:stretch>
        </p:blipFill>
        <p:spPr>
          <a:xfrm>
            <a:off x="8678613" y="3126482"/>
            <a:ext cx="619506" cy="746922"/>
          </a:xfrm>
          <a:prstGeom prst="rect">
            <a:avLst/>
          </a:prstGeom>
        </p:spPr>
      </p:pic>
      <p:sp>
        <p:nvSpPr>
          <p:cNvPr id="62" name="文本框 61">
            <a:extLst>
              <a:ext uri="{FF2B5EF4-FFF2-40B4-BE49-F238E27FC236}">
                <a16:creationId xmlns:a16="http://schemas.microsoft.com/office/drawing/2014/main" id="{D334CA32-4E31-69E5-F54A-9B1D397450D4}"/>
              </a:ext>
            </a:extLst>
          </p:cNvPr>
          <p:cNvSpPr txBox="1"/>
          <p:nvPr/>
        </p:nvSpPr>
        <p:spPr>
          <a:xfrm>
            <a:off x="462722" y="5759956"/>
            <a:ext cx="11262553" cy="523220"/>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DNS is becoming more and more centralized.</a:t>
            </a:r>
            <a:endParaRPr lang="zh-CN" altLang="en-US" sz="2800" b="1"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B4EE4736-46C6-7E9C-E55F-A17F5E05364A}"/>
              </a:ext>
            </a:extLst>
          </p:cNvPr>
          <p:cNvPicPr>
            <a:picLocks noChangeAspect="1"/>
          </p:cNvPicPr>
          <p:nvPr/>
        </p:nvPicPr>
        <p:blipFill>
          <a:blip r:embed="rId7"/>
          <a:stretch>
            <a:fillRect/>
          </a:stretch>
        </p:blipFill>
        <p:spPr>
          <a:xfrm>
            <a:off x="2301178" y="1821698"/>
            <a:ext cx="7020910" cy="3591094"/>
          </a:xfrm>
          <a:prstGeom prst="rect">
            <a:avLst/>
          </a:prstGeom>
        </p:spPr>
      </p:pic>
    </p:spTree>
    <p:extLst>
      <p:ext uri="{BB962C8B-B14F-4D97-AF65-F5344CB8AC3E}">
        <p14:creationId xmlns:p14="http://schemas.microsoft.com/office/powerpoint/2010/main" val="47097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
                                        </p:tgtEl>
                                        <p:attrNameLst>
                                          <p:attrName>style.visibility</p:attrName>
                                        </p:attrNameLst>
                                      </p:cBhvr>
                                      <p:to>
                                        <p:strVal val="visible"/>
                                      </p:to>
                                    </p:set>
                                    <p:anim calcmode="lin" valueType="num">
                                      <p:cBhvr additive="base">
                                        <p:cTn id="13" dur="500" fill="hold"/>
                                        <p:tgtEl>
                                          <p:spTgt spid="62"/>
                                        </p:tgtEl>
                                        <p:attrNameLst>
                                          <p:attrName>ppt_x</p:attrName>
                                        </p:attrNameLst>
                                      </p:cBhvr>
                                      <p:tavLst>
                                        <p:tav tm="0">
                                          <p:val>
                                            <p:strVal val="#ppt_x"/>
                                          </p:val>
                                        </p:tav>
                                        <p:tav tm="100000">
                                          <p:val>
                                            <p:strVal val="#ppt_x"/>
                                          </p:val>
                                        </p:tav>
                                      </p:tavLst>
                                    </p:anim>
                                    <p:anim calcmode="lin" valueType="num">
                                      <p:cBhvr additive="base">
                                        <p:cTn id="14"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0" y="184298"/>
            <a:ext cx="6097314" cy="646331"/>
          </a:xfrm>
          <a:prstGeom prst="rect">
            <a:avLst/>
          </a:prstGeom>
          <a:noFill/>
        </p:spPr>
        <p:txBody>
          <a:bodyPr wrap="square">
            <a:spAutoFit/>
          </a:bodyPr>
          <a:lstStyle/>
          <a:p>
            <a:r>
              <a:rPr lang="en-US" altLang="zh-CN" sz="3600" b="1" i="0" dirty="0">
                <a:solidFill>
                  <a:schemeClr val="bg1"/>
                </a:solidFill>
                <a:effectLst/>
                <a:latin typeface="HelveticaNeue-Bold"/>
              </a:rPr>
              <a:t>DNS </a:t>
            </a:r>
            <a:r>
              <a:rPr lang="en-US" altLang="zh-CN" sz="3600" b="1" i="0" dirty="0" err="1">
                <a:solidFill>
                  <a:schemeClr val="bg1"/>
                </a:solidFill>
                <a:effectLst/>
                <a:latin typeface="HelveticaNeue-Bold"/>
              </a:rPr>
              <a:t>Centraliztion</a:t>
            </a:r>
            <a:endParaRPr lang="zh-CN" altLang="en-US" sz="3600" dirty="0">
              <a:solidFill>
                <a:schemeClr val="bg1"/>
              </a:solidFill>
            </a:endParaRP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a:extLst>
              <a:ext uri="{FF2B5EF4-FFF2-40B4-BE49-F238E27FC236}">
                <a16:creationId xmlns:a16="http://schemas.microsoft.com/office/drawing/2014/main" id="{082A659D-692F-ED1F-6820-80A39B8332E9}"/>
              </a:ext>
            </a:extLst>
          </p:cNvPr>
          <p:cNvPicPr>
            <a:picLocks noChangeAspect="1"/>
          </p:cNvPicPr>
          <p:nvPr/>
        </p:nvPicPr>
        <p:blipFill>
          <a:blip r:embed="rId4"/>
          <a:stretch>
            <a:fillRect/>
          </a:stretch>
        </p:blipFill>
        <p:spPr>
          <a:xfrm>
            <a:off x="1376151" y="2975351"/>
            <a:ext cx="700044" cy="731864"/>
          </a:xfrm>
          <a:prstGeom prst="rect">
            <a:avLst/>
          </a:prstGeom>
        </p:spPr>
      </p:pic>
      <p:sp>
        <p:nvSpPr>
          <p:cNvPr id="6" name="对话气泡: 椭圆形 5">
            <a:extLst>
              <a:ext uri="{FF2B5EF4-FFF2-40B4-BE49-F238E27FC236}">
                <a16:creationId xmlns:a16="http://schemas.microsoft.com/office/drawing/2014/main" id="{63E9F60E-3ACF-FBF0-46FD-D0BBFB056216}"/>
              </a:ext>
            </a:extLst>
          </p:cNvPr>
          <p:cNvSpPr/>
          <p:nvPr/>
        </p:nvSpPr>
        <p:spPr>
          <a:xfrm>
            <a:off x="2593429" y="2120463"/>
            <a:ext cx="3014612" cy="1261241"/>
          </a:xfrm>
          <a:prstGeom prst="wedgeEllipseCallout">
            <a:avLst>
              <a:gd name="adj1" fmla="val -60980"/>
              <a:gd name="adj2" fmla="val 387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latin typeface="微软雅黑" panose="020B0503020204020204" pitchFamily="34" charset="-122"/>
                <a:ea typeface="微软雅黑" panose="020B0503020204020204" pitchFamily="34" charset="-122"/>
              </a:rPr>
              <a:t>A.com IN A</a:t>
            </a:r>
          </a:p>
          <a:p>
            <a:r>
              <a:rPr lang="en-US" altLang="zh-CN" dirty="0">
                <a:solidFill>
                  <a:schemeClr val="tx1"/>
                </a:solidFill>
                <a:latin typeface="微软雅黑" panose="020B0503020204020204" pitchFamily="34" charset="-122"/>
                <a:ea typeface="微软雅黑" panose="020B0503020204020204" pitchFamily="34" charset="-122"/>
              </a:rPr>
              <a:t>B.com IN A </a:t>
            </a:r>
          </a:p>
          <a:p>
            <a:pPr algn="ctr"/>
            <a:r>
              <a:rPr lang="en-US" altLang="zh-CN" dirty="0">
                <a:solidFill>
                  <a:schemeClr val="tx1"/>
                </a:solidFill>
                <a:latin typeface="微软雅黑" panose="020B0503020204020204" pitchFamily="34" charset="-122"/>
                <a:ea typeface="微软雅黑" panose="020B0503020204020204" pitchFamily="34" charset="-122"/>
              </a:rPr>
              <a:t>……..</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F4F9E633-8A7B-FA56-B80F-DF29F5BCF4CE}"/>
              </a:ext>
            </a:extLst>
          </p:cNvPr>
          <p:cNvSpPr txBox="1"/>
          <p:nvPr/>
        </p:nvSpPr>
        <p:spPr>
          <a:xfrm>
            <a:off x="1024865" y="3896502"/>
            <a:ext cx="1456868" cy="400110"/>
          </a:xfrm>
          <a:prstGeom prst="rect">
            <a:avLst/>
          </a:prstGeom>
          <a:noFill/>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a:t>
            </a:r>
          </a:p>
        </p:txBody>
      </p:sp>
      <p:pic>
        <p:nvPicPr>
          <p:cNvPr id="13" name="图形 12" descr="显示器 纯色填充">
            <a:extLst>
              <a:ext uri="{FF2B5EF4-FFF2-40B4-BE49-F238E27FC236}">
                <a16:creationId xmlns:a16="http://schemas.microsoft.com/office/drawing/2014/main" id="{D6494736-C884-B06F-59C1-39C11D5F254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94446" y="2374797"/>
            <a:ext cx="914400" cy="914400"/>
          </a:xfrm>
          <a:prstGeom prst="rect">
            <a:avLst/>
          </a:prstGeom>
        </p:spPr>
      </p:pic>
      <p:cxnSp>
        <p:nvCxnSpPr>
          <p:cNvPr id="14" name="直接箭头连接符 13">
            <a:extLst>
              <a:ext uri="{FF2B5EF4-FFF2-40B4-BE49-F238E27FC236}">
                <a16:creationId xmlns:a16="http://schemas.microsoft.com/office/drawing/2014/main" id="{5663367C-256E-CE1E-40E1-44D0FCD2F676}"/>
              </a:ext>
            </a:extLst>
          </p:cNvPr>
          <p:cNvCxnSpPr/>
          <p:nvPr/>
        </p:nvCxnSpPr>
        <p:spPr>
          <a:xfrm>
            <a:off x="7744368" y="2706138"/>
            <a:ext cx="1566042" cy="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15" name="直接箭头连接符 14">
            <a:extLst>
              <a:ext uri="{FF2B5EF4-FFF2-40B4-BE49-F238E27FC236}">
                <a16:creationId xmlns:a16="http://schemas.microsoft.com/office/drawing/2014/main" id="{BFE4B508-0FEA-D261-A210-2245A6729786}"/>
              </a:ext>
            </a:extLst>
          </p:cNvPr>
          <p:cNvCxnSpPr>
            <a:cxnSpLocks/>
          </p:cNvCxnSpPr>
          <p:nvPr/>
        </p:nvCxnSpPr>
        <p:spPr>
          <a:xfrm flipH="1">
            <a:off x="7744368" y="2937872"/>
            <a:ext cx="1601191" cy="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pic>
        <p:nvPicPr>
          <p:cNvPr id="17" name="图片 16">
            <a:extLst>
              <a:ext uri="{FF2B5EF4-FFF2-40B4-BE49-F238E27FC236}">
                <a16:creationId xmlns:a16="http://schemas.microsoft.com/office/drawing/2014/main" id="{EBB7E83C-3622-501B-CED6-897BEAF829CC}"/>
              </a:ext>
            </a:extLst>
          </p:cNvPr>
          <p:cNvPicPr>
            <a:picLocks noChangeAspect="1"/>
          </p:cNvPicPr>
          <p:nvPr/>
        </p:nvPicPr>
        <p:blipFill>
          <a:blip r:embed="rId4"/>
          <a:stretch>
            <a:fillRect/>
          </a:stretch>
        </p:blipFill>
        <p:spPr>
          <a:xfrm>
            <a:off x="9445932" y="2140614"/>
            <a:ext cx="1005964" cy="1051690"/>
          </a:xfrm>
          <a:prstGeom prst="rect">
            <a:avLst/>
          </a:prstGeom>
        </p:spPr>
      </p:pic>
      <p:sp>
        <p:nvSpPr>
          <p:cNvPr id="19" name="文本框 18">
            <a:extLst>
              <a:ext uri="{FF2B5EF4-FFF2-40B4-BE49-F238E27FC236}">
                <a16:creationId xmlns:a16="http://schemas.microsoft.com/office/drawing/2014/main" id="{D40669E9-00A2-B201-2DC6-63700AEA60D8}"/>
              </a:ext>
            </a:extLst>
          </p:cNvPr>
          <p:cNvSpPr txBox="1"/>
          <p:nvPr/>
        </p:nvSpPr>
        <p:spPr>
          <a:xfrm>
            <a:off x="9310410" y="3108116"/>
            <a:ext cx="1277007" cy="400110"/>
          </a:xfrm>
          <a:prstGeom prst="rect">
            <a:avLst/>
          </a:prstGeom>
          <a:noFill/>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NS</a:t>
            </a:r>
            <a:endParaRPr lang="zh-CN" altLang="en-US" sz="2000"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E5C2D00C-2DB6-3D62-9966-D1AD23D378BC}"/>
              </a:ext>
            </a:extLst>
          </p:cNvPr>
          <p:cNvSpPr txBox="1"/>
          <p:nvPr/>
        </p:nvSpPr>
        <p:spPr>
          <a:xfrm>
            <a:off x="7744368" y="2289739"/>
            <a:ext cx="1517078"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A.com?</a:t>
            </a:r>
            <a:endParaRPr lang="zh-CN" altLang="en-US"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4B4018DE-A6B7-A059-61A8-9C7091961E84}"/>
              </a:ext>
            </a:extLst>
          </p:cNvPr>
          <p:cNvSpPr txBox="1"/>
          <p:nvPr/>
        </p:nvSpPr>
        <p:spPr>
          <a:xfrm>
            <a:off x="7786424" y="3018932"/>
            <a:ext cx="1517078" cy="369332"/>
          </a:xfrm>
          <a:prstGeom prst="rect">
            <a:avLst/>
          </a:prstGeom>
          <a:noFill/>
        </p:spPr>
        <p:txBody>
          <a:bodyPr wrap="square" rtlCol="0">
            <a:spAutoFit/>
          </a:bodyPr>
          <a:lstStyle/>
          <a:p>
            <a:pPr algn="ctr"/>
            <a:r>
              <a:rPr lang="en-US" altLang="zh-CN" dirty="0" err="1">
                <a:latin typeface="微软雅黑" panose="020B0503020204020204" pitchFamily="34" charset="-122"/>
                <a:ea typeface="微软雅黑" panose="020B0503020204020204" pitchFamily="34" charset="-122"/>
              </a:rPr>
              <a:t>x.x.x.x</a:t>
            </a:r>
            <a:endParaRPr lang="zh-CN" altLang="en-US"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281A14B7-1AE9-A12B-B32E-2B3F91873AB6}"/>
              </a:ext>
            </a:extLst>
          </p:cNvPr>
          <p:cNvSpPr txBox="1"/>
          <p:nvPr/>
        </p:nvSpPr>
        <p:spPr>
          <a:xfrm>
            <a:off x="147612" y="1164484"/>
            <a:ext cx="7906246" cy="923330"/>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rPr>
              <a:t>Assume there is a provider hosting 50% domains of the Internet…</a:t>
            </a:r>
          </a:p>
          <a:p>
            <a:r>
              <a:rPr lang="en-US" altLang="zh-CN" b="1" dirty="0">
                <a:latin typeface="微软雅黑" panose="020B0503020204020204" pitchFamily="34" charset="-122"/>
                <a:ea typeface="微软雅黑" panose="020B0503020204020204" pitchFamily="34" charset="-122"/>
              </a:rPr>
              <a:t>Then assume its </a:t>
            </a:r>
            <a:r>
              <a:rPr lang="en-US" altLang="zh-CN" b="1" dirty="0" err="1">
                <a:latin typeface="微软雅黑" panose="020B0503020204020204" pitchFamily="34" charset="-122"/>
                <a:ea typeface="微软雅黑" panose="020B0503020204020204" pitchFamily="34" charset="-122"/>
              </a:rPr>
              <a:t>NSes</a:t>
            </a:r>
            <a:r>
              <a:rPr lang="en-US" altLang="zh-CN" b="1" dirty="0">
                <a:latin typeface="微软雅黑" panose="020B0503020204020204" pitchFamily="34" charset="-122"/>
                <a:ea typeface="微软雅黑" panose="020B0503020204020204" pitchFamily="34" charset="-122"/>
              </a:rPr>
              <a:t> are vulnerable,</a:t>
            </a:r>
          </a:p>
          <a:p>
            <a:r>
              <a:rPr lang="en-US" altLang="zh-CN" b="1" dirty="0">
                <a:latin typeface="微软雅黑" panose="020B0503020204020204" pitchFamily="34" charset="-122"/>
                <a:ea typeface="微软雅黑" panose="020B0503020204020204" pitchFamily="34" charset="-122"/>
              </a:rPr>
              <a:t>or just offline</a:t>
            </a:r>
            <a:endParaRPr lang="zh-CN" altLang="en-US" b="1" dirty="0">
              <a:latin typeface="微软雅黑" panose="020B0503020204020204" pitchFamily="34" charset="-122"/>
              <a:ea typeface="微软雅黑" panose="020B0503020204020204" pitchFamily="34" charset="-122"/>
            </a:endParaRPr>
          </a:p>
        </p:txBody>
      </p:sp>
      <p:pic>
        <p:nvPicPr>
          <p:cNvPr id="26" name="图形 25" descr="实心填充的恶魔表情 纯色填充">
            <a:extLst>
              <a:ext uri="{FF2B5EF4-FFF2-40B4-BE49-F238E27FC236}">
                <a16:creationId xmlns:a16="http://schemas.microsoft.com/office/drawing/2014/main" id="{7FC02159-E77B-3962-B61F-5297D3A50C1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1795" y="5595832"/>
            <a:ext cx="914400" cy="914400"/>
          </a:xfrm>
          <a:prstGeom prst="rect">
            <a:avLst/>
          </a:prstGeom>
        </p:spPr>
      </p:pic>
      <p:sp>
        <p:nvSpPr>
          <p:cNvPr id="27" name="箭头: 上 26">
            <a:extLst>
              <a:ext uri="{FF2B5EF4-FFF2-40B4-BE49-F238E27FC236}">
                <a16:creationId xmlns:a16="http://schemas.microsoft.com/office/drawing/2014/main" id="{9D36CCDF-B379-129A-63F4-71A833CA5804}"/>
              </a:ext>
            </a:extLst>
          </p:cNvPr>
          <p:cNvSpPr/>
          <p:nvPr/>
        </p:nvSpPr>
        <p:spPr>
          <a:xfrm>
            <a:off x="1530991" y="4941116"/>
            <a:ext cx="222308" cy="612396"/>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6D8CAFE4-1701-5D40-77C7-74B815AAC145}"/>
              </a:ext>
            </a:extLst>
          </p:cNvPr>
          <p:cNvSpPr txBox="1"/>
          <p:nvPr/>
        </p:nvSpPr>
        <p:spPr>
          <a:xfrm>
            <a:off x="4373810" y="2289739"/>
            <a:ext cx="827364" cy="369332"/>
          </a:xfrm>
          <a:prstGeom prst="rect">
            <a:avLst/>
          </a:prstGeom>
          <a:noFill/>
        </p:spPr>
        <p:txBody>
          <a:bodyPr wrap="square">
            <a:spAutoFit/>
          </a:bodyPr>
          <a:lstStyle/>
          <a:p>
            <a:r>
              <a:rPr lang="en-US" altLang="zh-CN" dirty="0" err="1">
                <a:solidFill>
                  <a:schemeClr val="tx1"/>
                </a:solidFill>
                <a:latin typeface="微软雅黑" panose="020B0503020204020204" pitchFamily="34" charset="-122"/>
                <a:ea typeface="微软雅黑" panose="020B0503020204020204" pitchFamily="34" charset="-122"/>
              </a:rPr>
              <a:t>x.x.x.x</a:t>
            </a:r>
            <a:endParaRPr lang="zh-CN" altLang="en-US" dirty="0"/>
          </a:p>
        </p:txBody>
      </p:sp>
      <p:sp>
        <p:nvSpPr>
          <p:cNvPr id="31" name="文本框 30">
            <a:extLst>
              <a:ext uri="{FF2B5EF4-FFF2-40B4-BE49-F238E27FC236}">
                <a16:creationId xmlns:a16="http://schemas.microsoft.com/office/drawing/2014/main" id="{D479F30B-35ED-8D0C-2891-1EF050587EDA}"/>
              </a:ext>
            </a:extLst>
          </p:cNvPr>
          <p:cNvSpPr txBox="1"/>
          <p:nvPr/>
        </p:nvSpPr>
        <p:spPr>
          <a:xfrm>
            <a:off x="4373810" y="2562765"/>
            <a:ext cx="827364" cy="369332"/>
          </a:xfrm>
          <a:prstGeom prst="rect">
            <a:avLst/>
          </a:prstGeom>
          <a:noFill/>
        </p:spPr>
        <p:txBody>
          <a:bodyPr wrap="square">
            <a:spAutoFit/>
          </a:bodyPr>
          <a:lstStyle/>
          <a:p>
            <a:r>
              <a:rPr lang="en-US" altLang="zh-CN" dirty="0" err="1">
                <a:solidFill>
                  <a:schemeClr val="tx1"/>
                </a:solidFill>
                <a:latin typeface="微软雅黑" panose="020B0503020204020204" pitchFamily="34" charset="-122"/>
                <a:ea typeface="微软雅黑" panose="020B0503020204020204" pitchFamily="34" charset="-122"/>
              </a:rPr>
              <a:t>y.y.y.y</a:t>
            </a:r>
            <a:endParaRPr lang="zh-CN" altLang="en-US" dirty="0"/>
          </a:p>
        </p:txBody>
      </p:sp>
      <p:sp>
        <p:nvSpPr>
          <p:cNvPr id="32" name="文本框 31">
            <a:extLst>
              <a:ext uri="{FF2B5EF4-FFF2-40B4-BE49-F238E27FC236}">
                <a16:creationId xmlns:a16="http://schemas.microsoft.com/office/drawing/2014/main" id="{8B1203F0-7391-A2A7-B4D5-BE87B8AF77E2}"/>
              </a:ext>
            </a:extLst>
          </p:cNvPr>
          <p:cNvSpPr txBox="1"/>
          <p:nvPr/>
        </p:nvSpPr>
        <p:spPr>
          <a:xfrm>
            <a:off x="4373810" y="2562765"/>
            <a:ext cx="827364" cy="369332"/>
          </a:xfrm>
          <a:prstGeom prst="rect">
            <a:avLst/>
          </a:prstGeom>
          <a:noFill/>
        </p:spPr>
        <p:txBody>
          <a:bodyPr wrap="square">
            <a:spAutoFit/>
          </a:bodyPr>
          <a:lstStyle/>
          <a:p>
            <a:r>
              <a:rPr lang="en-US" altLang="zh-CN" dirty="0" err="1">
                <a:solidFill>
                  <a:srgbClr val="FF0000"/>
                </a:solidFill>
                <a:latin typeface="微软雅黑" panose="020B0503020204020204" pitchFamily="34" charset="-122"/>
                <a:ea typeface="微软雅黑" panose="020B0503020204020204" pitchFamily="34" charset="-122"/>
              </a:rPr>
              <a:t>z.z.z.z</a:t>
            </a:r>
            <a:endParaRPr lang="zh-CN" altLang="en-US" dirty="0">
              <a:solidFill>
                <a:srgbClr val="FF0000"/>
              </a:solidFill>
            </a:endParaRPr>
          </a:p>
        </p:txBody>
      </p:sp>
      <p:sp>
        <p:nvSpPr>
          <p:cNvPr id="33" name="文本框 32">
            <a:extLst>
              <a:ext uri="{FF2B5EF4-FFF2-40B4-BE49-F238E27FC236}">
                <a16:creationId xmlns:a16="http://schemas.microsoft.com/office/drawing/2014/main" id="{BF9BB782-734A-95C5-C921-2A2E4C8F692A}"/>
              </a:ext>
            </a:extLst>
          </p:cNvPr>
          <p:cNvSpPr txBox="1"/>
          <p:nvPr/>
        </p:nvSpPr>
        <p:spPr>
          <a:xfrm>
            <a:off x="4373810" y="2289739"/>
            <a:ext cx="827364" cy="369332"/>
          </a:xfrm>
          <a:prstGeom prst="rect">
            <a:avLst/>
          </a:prstGeom>
          <a:noFill/>
        </p:spPr>
        <p:txBody>
          <a:bodyPr wrap="square">
            <a:spAutoFit/>
          </a:bodyPr>
          <a:lstStyle/>
          <a:p>
            <a:r>
              <a:rPr lang="en-US" altLang="zh-CN" dirty="0" err="1">
                <a:solidFill>
                  <a:srgbClr val="FF0000"/>
                </a:solidFill>
                <a:latin typeface="微软雅黑" panose="020B0503020204020204" pitchFamily="34" charset="-122"/>
                <a:ea typeface="微软雅黑" panose="020B0503020204020204" pitchFamily="34" charset="-122"/>
              </a:rPr>
              <a:t>z.z.z.z</a:t>
            </a:r>
            <a:endParaRPr lang="zh-CN" altLang="en-US" dirty="0">
              <a:solidFill>
                <a:srgbClr val="FF0000"/>
              </a:solidFill>
            </a:endParaRPr>
          </a:p>
        </p:txBody>
      </p:sp>
      <p:sp>
        <p:nvSpPr>
          <p:cNvPr id="34" name="文本框 33">
            <a:extLst>
              <a:ext uri="{FF2B5EF4-FFF2-40B4-BE49-F238E27FC236}">
                <a16:creationId xmlns:a16="http://schemas.microsoft.com/office/drawing/2014/main" id="{20C3DDB0-B94D-C874-64F2-5ADF8D2EBED1}"/>
              </a:ext>
            </a:extLst>
          </p:cNvPr>
          <p:cNvSpPr txBox="1"/>
          <p:nvPr/>
        </p:nvSpPr>
        <p:spPr>
          <a:xfrm>
            <a:off x="8131281" y="3018932"/>
            <a:ext cx="827364" cy="369332"/>
          </a:xfrm>
          <a:prstGeom prst="rect">
            <a:avLst/>
          </a:prstGeom>
          <a:noFill/>
        </p:spPr>
        <p:txBody>
          <a:bodyPr wrap="square">
            <a:spAutoFit/>
          </a:bodyPr>
          <a:lstStyle/>
          <a:p>
            <a:r>
              <a:rPr lang="en-US" altLang="zh-CN" dirty="0" err="1">
                <a:solidFill>
                  <a:srgbClr val="FF0000"/>
                </a:solidFill>
                <a:latin typeface="微软雅黑" panose="020B0503020204020204" pitchFamily="34" charset="-122"/>
                <a:ea typeface="微软雅黑" panose="020B0503020204020204" pitchFamily="34" charset="-122"/>
              </a:rPr>
              <a:t>z.z.z.z</a:t>
            </a:r>
            <a:endParaRPr lang="zh-CN" altLang="en-US" dirty="0">
              <a:solidFill>
                <a:srgbClr val="FF0000"/>
              </a:solidFill>
            </a:endParaRPr>
          </a:p>
        </p:txBody>
      </p:sp>
      <p:sp>
        <p:nvSpPr>
          <p:cNvPr id="37" name="文本框 36">
            <a:extLst>
              <a:ext uri="{FF2B5EF4-FFF2-40B4-BE49-F238E27FC236}">
                <a16:creationId xmlns:a16="http://schemas.microsoft.com/office/drawing/2014/main" id="{218AA369-B126-4B24-1E7F-4F43C0DC9080}"/>
              </a:ext>
            </a:extLst>
          </p:cNvPr>
          <p:cNvSpPr txBox="1"/>
          <p:nvPr/>
        </p:nvSpPr>
        <p:spPr>
          <a:xfrm>
            <a:off x="-1367946" y="4472839"/>
            <a:ext cx="6197600" cy="369332"/>
          </a:xfrm>
          <a:prstGeom prst="rect">
            <a:avLst/>
          </a:prstGeom>
          <a:noFill/>
        </p:spPr>
        <p:txBody>
          <a:bodyPr wrap="square">
            <a:spAutoFit/>
          </a:bodyPr>
          <a:lstStyle/>
          <a:p>
            <a:pPr algn="ctr"/>
            <a:r>
              <a:rPr lang="en-US" altLang="zh-CN" sz="1800" dirty="0">
                <a:solidFill>
                  <a:srgbClr val="FF0000"/>
                </a:solidFill>
                <a:latin typeface="微软雅黑" panose="020B0503020204020204" pitchFamily="34" charset="-122"/>
                <a:ea typeface="微软雅黑" panose="020B0503020204020204" pitchFamily="34" charset="-122"/>
              </a:rPr>
              <a:t>vulnerable</a:t>
            </a:r>
            <a:endParaRPr lang="zh-CN" altLang="en-US" sz="1800" dirty="0">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8BC4800C-CE14-5215-824D-21870270AEA0}"/>
              </a:ext>
            </a:extLst>
          </p:cNvPr>
          <p:cNvSpPr txBox="1"/>
          <p:nvPr/>
        </p:nvSpPr>
        <p:spPr>
          <a:xfrm>
            <a:off x="2116667" y="5850467"/>
            <a:ext cx="5181600"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50% are redirected to malicious IPs at once!</a:t>
            </a:r>
            <a:endParaRPr lang="zh-CN" altLang="en-US" dirty="0">
              <a:latin typeface="微软雅黑" panose="020B0503020204020204" pitchFamily="34" charset="-122"/>
              <a:ea typeface="微软雅黑" panose="020B0503020204020204" pitchFamily="34" charset="-122"/>
            </a:endParaRPr>
          </a:p>
        </p:txBody>
      </p:sp>
      <p:pic>
        <p:nvPicPr>
          <p:cNvPr id="39" name="图形 38" descr="显示器 纯色填充">
            <a:extLst>
              <a:ext uri="{FF2B5EF4-FFF2-40B4-BE49-F238E27FC236}">
                <a16:creationId xmlns:a16="http://schemas.microsoft.com/office/drawing/2014/main" id="{03159B27-7C23-A8E8-31E9-C1DEDD42DA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32546" y="3839412"/>
            <a:ext cx="914400" cy="914400"/>
          </a:xfrm>
          <a:prstGeom prst="rect">
            <a:avLst/>
          </a:prstGeom>
        </p:spPr>
      </p:pic>
      <p:cxnSp>
        <p:nvCxnSpPr>
          <p:cNvPr id="40" name="直接箭头连接符 39">
            <a:extLst>
              <a:ext uri="{FF2B5EF4-FFF2-40B4-BE49-F238E27FC236}">
                <a16:creationId xmlns:a16="http://schemas.microsoft.com/office/drawing/2014/main" id="{5ED5B72C-2D71-65F6-9B93-DDB2C43ED4A6}"/>
              </a:ext>
            </a:extLst>
          </p:cNvPr>
          <p:cNvCxnSpPr/>
          <p:nvPr/>
        </p:nvCxnSpPr>
        <p:spPr>
          <a:xfrm>
            <a:off x="7782468" y="4170753"/>
            <a:ext cx="1566042" cy="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41" name="直接箭头连接符 40">
            <a:extLst>
              <a:ext uri="{FF2B5EF4-FFF2-40B4-BE49-F238E27FC236}">
                <a16:creationId xmlns:a16="http://schemas.microsoft.com/office/drawing/2014/main" id="{06B46C1F-CEFC-4146-6755-F85A0C225970}"/>
              </a:ext>
            </a:extLst>
          </p:cNvPr>
          <p:cNvCxnSpPr>
            <a:cxnSpLocks/>
          </p:cNvCxnSpPr>
          <p:nvPr/>
        </p:nvCxnSpPr>
        <p:spPr>
          <a:xfrm flipH="1">
            <a:off x="7782468" y="4402487"/>
            <a:ext cx="1601191" cy="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pic>
        <p:nvPicPr>
          <p:cNvPr id="42" name="图片 41">
            <a:extLst>
              <a:ext uri="{FF2B5EF4-FFF2-40B4-BE49-F238E27FC236}">
                <a16:creationId xmlns:a16="http://schemas.microsoft.com/office/drawing/2014/main" id="{E7134D7C-DFEC-DDE0-4318-553982639A85}"/>
              </a:ext>
            </a:extLst>
          </p:cNvPr>
          <p:cNvPicPr>
            <a:picLocks noChangeAspect="1"/>
          </p:cNvPicPr>
          <p:nvPr/>
        </p:nvPicPr>
        <p:blipFill>
          <a:blip r:embed="rId4"/>
          <a:stretch>
            <a:fillRect/>
          </a:stretch>
        </p:blipFill>
        <p:spPr>
          <a:xfrm>
            <a:off x="9484032" y="3605229"/>
            <a:ext cx="1005964" cy="1051690"/>
          </a:xfrm>
          <a:prstGeom prst="rect">
            <a:avLst/>
          </a:prstGeom>
        </p:spPr>
      </p:pic>
      <p:sp>
        <p:nvSpPr>
          <p:cNvPr id="44" name="文本框 43">
            <a:extLst>
              <a:ext uri="{FF2B5EF4-FFF2-40B4-BE49-F238E27FC236}">
                <a16:creationId xmlns:a16="http://schemas.microsoft.com/office/drawing/2014/main" id="{DBCFB46B-EB01-1FED-21B0-FEC3E55688FB}"/>
              </a:ext>
            </a:extLst>
          </p:cNvPr>
          <p:cNvSpPr txBox="1"/>
          <p:nvPr/>
        </p:nvSpPr>
        <p:spPr>
          <a:xfrm>
            <a:off x="7782468" y="3754354"/>
            <a:ext cx="1517078"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B.com?</a:t>
            </a:r>
            <a:endParaRPr lang="zh-CN" altLang="en-US" dirty="0">
              <a:latin typeface="微软雅黑" panose="020B0503020204020204" pitchFamily="34" charset="-122"/>
              <a:ea typeface="微软雅黑" panose="020B0503020204020204" pitchFamily="34" charset="-122"/>
            </a:endParaRPr>
          </a:p>
        </p:txBody>
      </p:sp>
      <p:sp>
        <p:nvSpPr>
          <p:cNvPr id="48" name="文本框 47">
            <a:extLst>
              <a:ext uri="{FF2B5EF4-FFF2-40B4-BE49-F238E27FC236}">
                <a16:creationId xmlns:a16="http://schemas.microsoft.com/office/drawing/2014/main" id="{4188FC15-A806-93A9-2DAB-D545A480A431}"/>
              </a:ext>
            </a:extLst>
          </p:cNvPr>
          <p:cNvSpPr txBox="1"/>
          <p:nvPr/>
        </p:nvSpPr>
        <p:spPr>
          <a:xfrm>
            <a:off x="7824524" y="4483547"/>
            <a:ext cx="1517078" cy="369332"/>
          </a:xfrm>
          <a:prstGeom prst="rect">
            <a:avLst/>
          </a:prstGeom>
          <a:noFill/>
        </p:spPr>
        <p:txBody>
          <a:bodyPr wrap="square" rtlCol="0">
            <a:spAutoFit/>
          </a:bodyPr>
          <a:lstStyle/>
          <a:p>
            <a:pPr algn="ctr"/>
            <a:r>
              <a:rPr lang="en-US" altLang="zh-CN" dirty="0" err="1">
                <a:latin typeface="微软雅黑" panose="020B0503020204020204" pitchFamily="34" charset="-122"/>
                <a:ea typeface="微软雅黑" panose="020B0503020204020204" pitchFamily="34" charset="-122"/>
              </a:rPr>
              <a:t>x.x.x.x</a:t>
            </a:r>
            <a:endParaRPr lang="zh-CN" altLang="en-US" dirty="0">
              <a:latin typeface="微软雅黑" panose="020B0503020204020204" pitchFamily="34" charset="-122"/>
              <a:ea typeface="微软雅黑" panose="020B0503020204020204" pitchFamily="34" charset="-122"/>
            </a:endParaRPr>
          </a:p>
        </p:txBody>
      </p:sp>
      <p:sp>
        <p:nvSpPr>
          <p:cNvPr id="50" name="文本框 49">
            <a:extLst>
              <a:ext uri="{FF2B5EF4-FFF2-40B4-BE49-F238E27FC236}">
                <a16:creationId xmlns:a16="http://schemas.microsoft.com/office/drawing/2014/main" id="{C5564E25-9A1B-B6F8-EAEE-A4308F927C6F}"/>
              </a:ext>
            </a:extLst>
          </p:cNvPr>
          <p:cNvSpPr txBox="1"/>
          <p:nvPr/>
        </p:nvSpPr>
        <p:spPr>
          <a:xfrm>
            <a:off x="8169381" y="4483547"/>
            <a:ext cx="827364" cy="369332"/>
          </a:xfrm>
          <a:prstGeom prst="rect">
            <a:avLst/>
          </a:prstGeom>
          <a:noFill/>
        </p:spPr>
        <p:txBody>
          <a:bodyPr wrap="square">
            <a:spAutoFit/>
          </a:bodyPr>
          <a:lstStyle/>
          <a:p>
            <a:r>
              <a:rPr lang="en-US" altLang="zh-CN" dirty="0" err="1">
                <a:solidFill>
                  <a:srgbClr val="FF0000"/>
                </a:solidFill>
                <a:latin typeface="微软雅黑" panose="020B0503020204020204" pitchFamily="34" charset="-122"/>
                <a:ea typeface="微软雅黑" panose="020B0503020204020204" pitchFamily="34" charset="-122"/>
              </a:rPr>
              <a:t>z.z.z.z</a:t>
            </a:r>
            <a:endParaRPr lang="zh-CN" altLang="en-US" dirty="0">
              <a:solidFill>
                <a:srgbClr val="FF0000"/>
              </a:solidFill>
            </a:endParaRPr>
          </a:p>
        </p:txBody>
      </p:sp>
      <p:sp>
        <p:nvSpPr>
          <p:cNvPr id="51" name="文本框 50">
            <a:extLst>
              <a:ext uri="{FF2B5EF4-FFF2-40B4-BE49-F238E27FC236}">
                <a16:creationId xmlns:a16="http://schemas.microsoft.com/office/drawing/2014/main" id="{47C50708-D6BD-4B27-8CD1-7D5BC8A916C4}"/>
              </a:ext>
            </a:extLst>
          </p:cNvPr>
          <p:cNvSpPr txBox="1"/>
          <p:nvPr/>
        </p:nvSpPr>
        <p:spPr>
          <a:xfrm>
            <a:off x="9310410" y="4664905"/>
            <a:ext cx="1277007" cy="400110"/>
          </a:xfrm>
          <a:prstGeom prst="rect">
            <a:avLst/>
          </a:prstGeom>
          <a:noFill/>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NS</a:t>
            </a:r>
            <a:endParaRPr lang="zh-CN" altLang="en-US" sz="2000" dirty="0">
              <a:latin typeface="微软雅黑" panose="020B0503020204020204" pitchFamily="34" charset="-122"/>
              <a:ea typeface="微软雅黑" panose="020B0503020204020204" pitchFamily="34" charset="-122"/>
            </a:endParaRPr>
          </a:p>
        </p:txBody>
      </p:sp>
      <p:pic>
        <p:nvPicPr>
          <p:cNvPr id="57" name="图形 56" descr="哭泣的脸轮廓 纯色填充">
            <a:extLst>
              <a:ext uri="{FF2B5EF4-FFF2-40B4-BE49-F238E27FC236}">
                <a16:creationId xmlns:a16="http://schemas.microsoft.com/office/drawing/2014/main" id="{F50B15C3-EB2D-BD90-22E2-BB5A2F9FC5E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74878" y="1927284"/>
            <a:ext cx="635297" cy="635297"/>
          </a:xfrm>
          <a:prstGeom prst="rect">
            <a:avLst/>
          </a:prstGeom>
        </p:spPr>
      </p:pic>
      <p:sp>
        <p:nvSpPr>
          <p:cNvPr id="59" name="文本框 58">
            <a:extLst>
              <a:ext uri="{FF2B5EF4-FFF2-40B4-BE49-F238E27FC236}">
                <a16:creationId xmlns:a16="http://schemas.microsoft.com/office/drawing/2014/main" id="{BF68F9B5-0231-0633-359D-7D8043E66FFF}"/>
              </a:ext>
            </a:extLst>
          </p:cNvPr>
          <p:cNvSpPr txBox="1"/>
          <p:nvPr/>
        </p:nvSpPr>
        <p:spPr>
          <a:xfrm>
            <a:off x="7977887" y="3019828"/>
            <a:ext cx="1050039" cy="369332"/>
          </a:xfrm>
          <a:prstGeom prst="rect">
            <a:avLst/>
          </a:prstGeom>
          <a:noFill/>
        </p:spPr>
        <p:txBody>
          <a:bodyPr wrap="square">
            <a:spAutoFit/>
          </a:bodyPr>
          <a:lstStyle/>
          <a:p>
            <a:pPr algn="ctr"/>
            <a:r>
              <a:rPr lang="en-US" altLang="zh-CN" dirty="0">
                <a:solidFill>
                  <a:srgbClr val="FF0000"/>
                </a:solidFill>
                <a:latin typeface="微软雅黑" panose="020B0503020204020204" pitchFamily="34" charset="-122"/>
                <a:ea typeface="微软雅黑" panose="020B0503020204020204" pitchFamily="34" charset="-122"/>
              </a:rPr>
              <a:t>timeout</a:t>
            </a:r>
            <a:endParaRPr lang="zh-CN" altLang="en-US" dirty="0">
              <a:solidFill>
                <a:srgbClr val="FF0000"/>
              </a:solidFill>
            </a:endParaRPr>
          </a:p>
        </p:txBody>
      </p:sp>
      <p:sp>
        <p:nvSpPr>
          <p:cNvPr id="60" name="文本框 59">
            <a:extLst>
              <a:ext uri="{FF2B5EF4-FFF2-40B4-BE49-F238E27FC236}">
                <a16:creationId xmlns:a16="http://schemas.microsoft.com/office/drawing/2014/main" id="{200B726E-CB6F-F28E-AD22-B85F1F0BA6C6}"/>
              </a:ext>
            </a:extLst>
          </p:cNvPr>
          <p:cNvSpPr txBox="1"/>
          <p:nvPr/>
        </p:nvSpPr>
        <p:spPr>
          <a:xfrm>
            <a:off x="8040469" y="4501224"/>
            <a:ext cx="1050039" cy="369332"/>
          </a:xfrm>
          <a:prstGeom prst="rect">
            <a:avLst/>
          </a:prstGeom>
          <a:noFill/>
        </p:spPr>
        <p:txBody>
          <a:bodyPr wrap="square">
            <a:spAutoFit/>
          </a:bodyPr>
          <a:lstStyle/>
          <a:p>
            <a:pPr algn="ctr"/>
            <a:r>
              <a:rPr lang="en-US" altLang="zh-CN" dirty="0">
                <a:solidFill>
                  <a:srgbClr val="FF0000"/>
                </a:solidFill>
                <a:latin typeface="微软雅黑" panose="020B0503020204020204" pitchFamily="34" charset="-122"/>
                <a:ea typeface="微软雅黑" panose="020B0503020204020204" pitchFamily="34" charset="-122"/>
              </a:rPr>
              <a:t>timeout</a:t>
            </a:r>
            <a:endParaRPr lang="zh-CN" altLang="en-US" dirty="0">
              <a:solidFill>
                <a:srgbClr val="FF0000"/>
              </a:solidFill>
            </a:endParaRPr>
          </a:p>
        </p:txBody>
      </p:sp>
      <p:sp>
        <p:nvSpPr>
          <p:cNvPr id="61" name="文本框 60">
            <a:extLst>
              <a:ext uri="{FF2B5EF4-FFF2-40B4-BE49-F238E27FC236}">
                <a16:creationId xmlns:a16="http://schemas.microsoft.com/office/drawing/2014/main" id="{05C8CF17-D8C3-FD5A-98E7-08327609511F}"/>
              </a:ext>
            </a:extLst>
          </p:cNvPr>
          <p:cNvSpPr txBox="1"/>
          <p:nvPr/>
        </p:nvSpPr>
        <p:spPr>
          <a:xfrm>
            <a:off x="5950207" y="5070076"/>
            <a:ext cx="5181600"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50% are unavailable now!</a:t>
            </a:r>
            <a:endParaRPr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BC4E4459-F851-E0F7-456C-912432D0221C}"/>
              </a:ext>
            </a:extLst>
          </p:cNvPr>
          <p:cNvPicPr>
            <a:picLocks noChangeAspect="1"/>
          </p:cNvPicPr>
          <p:nvPr/>
        </p:nvPicPr>
        <p:blipFill>
          <a:blip r:embed="rId4"/>
          <a:stretch>
            <a:fillRect/>
          </a:stretch>
        </p:blipFill>
        <p:spPr>
          <a:xfrm>
            <a:off x="1392701" y="2171232"/>
            <a:ext cx="661150" cy="691203"/>
          </a:xfrm>
          <a:prstGeom prst="rect">
            <a:avLst/>
          </a:prstGeom>
        </p:spPr>
      </p:pic>
      <p:sp>
        <p:nvSpPr>
          <p:cNvPr id="3" name="左大括号 2">
            <a:extLst>
              <a:ext uri="{FF2B5EF4-FFF2-40B4-BE49-F238E27FC236}">
                <a16:creationId xmlns:a16="http://schemas.microsoft.com/office/drawing/2014/main" id="{1282457B-167B-7499-9657-9504F30A5A8B}"/>
              </a:ext>
            </a:extLst>
          </p:cNvPr>
          <p:cNvSpPr/>
          <p:nvPr/>
        </p:nvSpPr>
        <p:spPr>
          <a:xfrm>
            <a:off x="1192990" y="2217636"/>
            <a:ext cx="165575" cy="2125380"/>
          </a:xfrm>
          <a:prstGeom prst="leftBrace">
            <a:avLst/>
          </a:prstGeom>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6187504B-2429-0811-A2B1-F0CAB6489AE7}"/>
              </a:ext>
            </a:extLst>
          </p:cNvPr>
          <p:cNvSpPr txBox="1"/>
          <p:nvPr/>
        </p:nvSpPr>
        <p:spPr>
          <a:xfrm>
            <a:off x="88808" y="3091827"/>
            <a:ext cx="110892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provider</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511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xEl>
                                              <p:pRg st="1" end="1"/>
                                            </p:txEl>
                                          </p:spTgt>
                                        </p:tgtEl>
                                        <p:attrNameLst>
                                          <p:attrName>style.visibility</p:attrName>
                                        </p:attrNameLst>
                                      </p:cBhvr>
                                      <p:to>
                                        <p:strVal val="visible"/>
                                      </p:to>
                                    </p:set>
                                    <p:anim calcmode="lin" valueType="num">
                                      <p:cBhvr additive="base">
                                        <p:cTn id="7" dur="500" fill="hold"/>
                                        <p:tgtEl>
                                          <p:spTgt spid="2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500" fill="hold"/>
                                        <p:tgtEl>
                                          <p:spTgt spid="37"/>
                                        </p:tgtEl>
                                        <p:attrNameLst>
                                          <p:attrName>ppt_x</p:attrName>
                                        </p:attrNameLst>
                                      </p:cBhvr>
                                      <p:tavLst>
                                        <p:tav tm="0">
                                          <p:val>
                                            <p:strVal val="#ppt_x"/>
                                          </p:val>
                                        </p:tav>
                                        <p:tav tm="100000">
                                          <p:val>
                                            <p:strVal val="#ppt_x"/>
                                          </p:val>
                                        </p:tav>
                                      </p:tavLst>
                                    </p:anim>
                                    <p:anim calcmode="lin" valueType="num">
                                      <p:cBhvr additive="base">
                                        <p:cTn id="12"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fill="hold"/>
                                        <p:tgtEl>
                                          <p:spTgt spid="27"/>
                                        </p:tgtEl>
                                        <p:attrNameLst>
                                          <p:attrName>ppt_x</p:attrName>
                                        </p:attrNameLst>
                                      </p:cBhvr>
                                      <p:tavLst>
                                        <p:tav tm="0">
                                          <p:val>
                                            <p:strVal val="#ppt_x"/>
                                          </p:val>
                                        </p:tav>
                                        <p:tav tm="100000">
                                          <p:val>
                                            <p:strVal val="#ppt_x"/>
                                          </p:val>
                                        </p:tav>
                                      </p:tavLst>
                                    </p:anim>
                                    <p:anim calcmode="lin" valueType="num">
                                      <p:cBhvr additive="base">
                                        <p:cTn id="18" dur="500" fill="hold"/>
                                        <p:tgtEl>
                                          <p:spTgt spid="2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500" fill="hold"/>
                                        <p:tgtEl>
                                          <p:spTgt spid="26"/>
                                        </p:tgtEl>
                                        <p:attrNameLst>
                                          <p:attrName>ppt_x</p:attrName>
                                        </p:attrNameLst>
                                      </p:cBhvr>
                                      <p:tavLst>
                                        <p:tav tm="0">
                                          <p:val>
                                            <p:strVal val="#ppt_x"/>
                                          </p:val>
                                        </p:tav>
                                        <p:tav tm="100000">
                                          <p:val>
                                            <p:strVal val="#ppt_x"/>
                                          </p:val>
                                        </p:tav>
                                      </p:tavLst>
                                    </p:anim>
                                    <p:anim calcmode="lin" valueType="num">
                                      <p:cBhvr additive="base">
                                        <p:cTn id="22" dur="500" fill="hold"/>
                                        <p:tgtEl>
                                          <p:spTgt spid="26"/>
                                        </p:tgtEl>
                                        <p:attrNameLst>
                                          <p:attrName>ppt_y</p:attrName>
                                        </p:attrNameLst>
                                      </p:cBhvr>
                                      <p:tavLst>
                                        <p:tav tm="0">
                                          <p:val>
                                            <p:strVal val="1+#ppt_h/2"/>
                                          </p:val>
                                        </p:tav>
                                        <p:tav tm="100000">
                                          <p:val>
                                            <p:strVal val="#ppt_y"/>
                                          </p:val>
                                        </p:tav>
                                      </p:tavLst>
                                    </p:anim>
                                  </p:childTnLst>
                                </p:cTn>
                              </p:par>
                            </p:childTnLst>
                          </p:cTn>
                        </p:par>
                        <p:par>
                          <p:cTn id="23" fill="hold">
                            <p:stCondLst>
                              <p:cond delay="500"/>
                            </p:stCondLst>
                            <p:childTnLst>
                              <p:par>
                                <p:cTn id="24" presetID="1" presetClass="exit" presetSubtype="0" fill="hold" grpId="0" nodeType="afterEffect">
                                  <p:stCondLst>
                                    <p:cond delay="0"/>
                                  </p:stCondLst>
                                  <p:childTnLst>
                                    <p:set>
                                      <p:cBhvr>
                                        <p:cTn id="25" dur="1" fill="hold">
                                          <p:stCondLst>
                                            <p:cond delay="0"/>
                                          </p:stCondLst>
                                        </p:cTn>
                                        <p:tgtEl>
                                          <p:spTgt spid="30"/>
                                        </p:tgtEl>
                                        <p:attrNameLst>
                                          <p:attrName>style.visibility</p:attrName>
                                        </p:attrNameLst>
                                      </p:cBhvr>
                                      <p:to>
                                        <p:strVal val="hidden"/>
                                      </p:to>
                                    </p:set>
                                  </p:childTnLst>
                                </p:cTn>
                              </p:par>
                            </p:childTnLst>
                          </p:cTn>
                        </p:par>
                        <p:par>
                          <p:cTn id="26" fill="hold">
                            <p:stCondLst>
                              <p:cond delay="500"/>
                            </p:stCondLst>
                            <p:childTnLst>
                              <p:par>
                                <p:cTn id="27" presetID="1" presetClass="exit"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hidden"/>
                                      </p:to>
                                    </p:set>
                                  </p:childTnLst>
                                </p:cTn>
                              </p:par>
                            </p:childTnLst>
                          </p:cTn>
                        </p:par>
                        <p:par>
                          <p:cTn id="31" fill="hold">
                            <p:stCondLst>
                              <p:cond delay="500"/>
                            </p:stCondLst>
                            <p:childTnLst>
                              <p:par>
                                <p:cTn id="32" presetID="1" presetClass="entr" presetSubtype="0" fill="hold" grpId="0" nodeType="afterEffect">
                                  <p:stCondLst>
                                    <p:cond delay="0"/>
                                  </p:stCondLst>
                                  <p:childTnLst>
                                    <p:set>
                                      <p:cBhvr>
                                        <p:cTn id="33" dur="1" fill="hold">
                                          <p:stCondLst>
                                            <p:cond delay="0"/>
                                          </p:stCondLst>
                                        </p:cTn>
                                        <p:tgtEl>
                                          <p:spTgt spid="3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4"/>
                                        </p:tgtEl>
                                        <p:attrNameLst>
                                          <p:attrName>style.visibility</p:attrName>
                                        </p:attrNameLst>
                                      </p:cBhvr>
                                      <p:to>
                                        <p:strVal val="visible"/>
                                      </p:to>
                                    </p:set>
                                  </p:childTnLst>
                                </p:cTn>
                              </p:par>
                              <p:par>
                                <p:cTn id="38" presetID="1" presetClass="exit" presetSubtype="0" fill="hold" grpId="0" nodeType="withEffect">
                                  <p:stCondLst>
                                    <p:cond delay="0"/>
                                  </p:stCondLst>
                                  <p:childTnLst>
                                    <p:set>
                                      <p:cBhvr>
                                        <p:cTn id="39" dur="1" fill="hold">
                                          <p:stCondLst>
                                            <p:cond delay="0"/>
                                          </p:stCondLst>
                                        </p:cTn>
                                        <p:tgtEl>
                                          <p:spTgt spid="48"/>
                                        </p:tgtEl>
                                        <p:attrNameLst>
                                          <p:attrName>style.visibility</p:attrName>
                                        </p:attrNameLst>
                                      </p:cBhvr>
                                      <p:to>
                                        <p:strVal val="hidden"/>
                                      </p:to>
                                    </p:set>
                                  </p:childTnLst>
                                </p:cTn>
                              </p:par>
                              <p:par>
                                <p:cTn id="40" presetID="1" presetClass="entr" presetSubtype="0" fill="hold" grpId="0" nodeType="withEffect">
                                  <p:stCondLst>
                                    <p:cond delay="0"/>
                                  </p:stCondLst>
                                  <p:childTnLst>
                                    <p:set>
                                      <p:cBhvr>
                                        <p:cTn id="41" dur="1" fill="hold">
                                          <p:stCondLst>
                                            <p:cond delay="0"/>
                                          </p:stCondLst>
                                        </p:cTn>
                                        <p:tgtEl>
                                          <p:spTgt spid="50"/>
                                        </p:tgtEl>
                                        <p:attrNameLst>
                                          <p:attrName>style.visibility</p:attrName>
                                        </p:attrNameLst>
                                      </p:cBhvr>
                                      <p:to>
                                        <p:strVal val="visible"/>
                                      </p:to>
                                    </p:set>
                                  </p:childTnLst>
                                </p:cTn>
                              </p:par>
                              <p:par>
                                <p:cTn id="42" presetID="2" presetClass="entr" presetSubtype="4"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anim calcmode="lin" valueType="num">
                                      <p:cBhvr additive="base">
                                        <p:cTn id="44" dur="500" fill="hold"/>
                                        <p:tgtEl>
                                          <p:spTgt spid="38"/>
                                        </p:tgtEl>
                                        <p:attrNameLst>
                                          <p:attrName>ppt_x</p:attrName>
                                        </p:attrNameLst>
                                      </p:cBhvr>
                                      <p:tavLst>
                                        <p:tav tm="0">
                                          <p:val>
                                            <p:strVal val="#ppt_x"/>
                                          </p:val>
                                        </p:tav>
                                        <p:tav tm="100000">
                                          <p:val>
                                            <p:strVal val="#ppt_x"/>
                                          </p:val>
                                        </p:tav>
                                      </p:tavLst>
                                    </p:anim>
                                    <p:anim calcmode="lin" valueType="num">
                                      <p:cBhvr additive="base">
                                        <p:cTn id="45"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25">
                                            <p:txEl>
                                              <p:pRg st="2" end="2"/>
                                            </p:txEl>
                                          </p:spTgt>
                                        </p:tgtEl>
                                        <p:attrNameLst>
                                          <p:attrName>style.visibility</p:attrName>
                                        </p:attrNameLst>
                                      </p:cBhvr>
                                      <p:to>
                                        <p:strVal val="visible"/>
                                      </p:to>
                                    </p:set>
                                    <p:anim calcmode="lin" valueType="num">
                                      <p:cBhvr additive="base">
                                        <p:cTn id="50" dur="500" fill="hold"/>
                                        <p:tgtEl>
                                          <p:spTgt spid="25">
                                            <p:txEl>
                                              <p:pRg st="2" end="2"/>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25">
                                            <p:txEl>
                                              <p:pRg st="2" end="2"/>
                                            </p:txEl>
                                          </p:spTgt>
                                        </p:tgtEl>
                                        <p:attrNameLst>
                                          <p:attrName>ppt_y</p:attrName>
                                        </p:attrNameLst>
                                      </p:cBhvr>
                                      <p:tavLst>
                                        <p:tav tm="0">
                                          <p:val>
                                            <p:strVal val="1+#ppt_h/2"/>
                                          </p:val>
                                        </p:tav>
                                        <p:tav tm="100000">
                                          <p:val>
                                            <p:strVal val="#ppt_y"/>
                                          </p:val>
                                        </p:tav>
                                      </p:tavLst>
                                    </p:anim>
                                  </p:childTnLst>
                                </p:cTn>
                              </p:par>
                              <p:par>
                                <p:cTn id="52" presetID="1" presetClass="exit" presetSubtype="0" fill="hold" grpId="1" nodeType="withEffect">
                                  <p:stCondLst>
                                    <p:cond delay="0"/>
                                  </p:stCondLst>
                                  <p:childTnLst>
                                    <p:set>
                                      <p:cBhvr>
                                        <p:cTn id="53" dur="1" fill="hold">
                                          <p:stCondLst>
                                            <p:cond delay="0"/>
                                          </p:stCondLst>
                                        </p:cTn>
                                        <p:tgtEl>
                                          <p:spTgt spid="37"/>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27"/>
                                        </p:tgtEl>
                                        <p:attrNameLst>
                                          <p:attrName>style.visibility</p:attrName>
                                        </p:attrNameLst>
                                      </p:cBhvr>
                                      <p:to>
                                        <p:strVal val="hidden"/>
                                      </p:to>
                                    </p:set>
                                  </p:childTnLst>
                                </p:cTn>
                              </p:par>
                              <p:par>
                                <p:cTn id="56" presetID="1" presetClass="exit" presetSubtype="0" fill="hold" nodeType="withEffect">
                                  <p:stCondLst>
                                    <p:cond delay="0"/>
                                  </p:stCondLst>
                                  <p:childTnLst>
                                    <p:set>
                                      <p:cBhvr>
                                        <p:cTn id="57" dur="1" fill="hold">
                                          <p:stCondLst>
                                            <p:cond delay="0"/>
                                          </p:stCondLst>
                                        </p:cTn>
                                        <p:tgtEl>
                                          <p:spTgt spid="26"/>
                                        </p:tgtEl>
                                        <p:attrNameLst>
                                          <p:attrName>style.visibility</p:attrName>
                                        </p:attrNameLst>
                                      </p:cBhvr>
                                      <p:to>
                                        <p:strVal val="hidden"/>
                                      </p:to>
                                    </p:set>
                                  </p:childTnLst>
                                </p:cTn>
                              </p:par>
                              <p:par>
                                <p:cTn id="58" presetID="1" presetClass="exit" presetSubtype="0" fill="hold" grpId="1" nodeType="withEffect">
                                  <p:stCondLst>
                                    <p:cond delay="0"/>
                                  </p:stCondLst>
                                  <p:childTnLst>
                                    <p:set>
                                      <p:cBhvr>
                                        <p:cTn id="59" dur="1" fill="hold">
                                          <p:stCondLst>
                                            <p:cond delay="0"/>
                                          </p:stCondLst>
                                        </p:cTn>
                                        <p:tgtEl>
                                          <p:spTgt spid="38"/>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33"/>
                                        </p:tgtEl>
                                        <p:attrNameLst>
                                          <p:attrName>style.visibility</p:attrName>
                                        </p:attrNameLst>
                                      </p:cBhvr>
                                      <p:to>
                                        <p:strVal val="hidden"/>
                                      </p:to>
                                    </p:set>
                                  </p:childTnLst>
                                </p:cTn>
                              </p:par>
                              <p:par>
                                <p:cTn id="62" presetID="1" presetClass="exit" presetSubtype="0" fill="hold" grpId="1" nodeType="withEffect">
                                  <p:stCondLst>
                                    <p:cond delay="0"/>
                                  </p:stCondLst>
                                  <p:childTnLst>
                                    <p:set>
                                      <p:cBhvr>
                                        <p:cTn id="63" dur="1" fill="hold">
                                          <p:stCondLst>
                                            <p:cond delay="0"/>
                                          </p:stCondLst>
                                        </p:cTn>
                                        <p:tgtEl>
                                          <p:spTgt spid="32"/>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34"/>
                                        </p:tgtEl>
                                        <p:attrNameLst>
                                          <p:attrName>style.visibility</p:attrName>
                                        </p:attrNameLst>
                                      </p:cBhvr>
                                      <p:to>
                                        <p:strVal val="hidden"/>
                                      </p:to>
                                    </p:set>
                                  </p:childTnLst>
                                </p:cTn>
                              </p:par>
                              <p:par>
                                <p:cTn id="66" presetID="1" presetClass="exit" presetSubtype="0" fill="hold" grpId="1" nodeType="withEffect">
                                  <p:stCondLst>
                                    <p:cond delay="0"/>
                                  </p:stCondLst>
                                  <p:childTnLst>
                                    <p:set>
                                      <p:cBhvr>
                                        <p:cTn id="67" dur="1" fill="hold">
                                          <p:stCondLst>
                                            <p:cond delay="0"/>
                                          </p:stCondLst>
                                        </p:cTn>
                                        <p:tgtEl>
                                          <p:spTgt spid="50"/>
                                        </p:tgtEl>
                                        <p:attrNameLst>
                                          <p:attrName>style.visibility</p:attrName>
                                        </p:attrNameLst>
                                      </p:cBhvr>
                                      <p:to>
                                        <p:strVal val="hidden"/>
                                      </p:to>
                                    </p:set>
                                  </p:childTnLst>
                                </p:cTn>
                              </p:par>
                              <p:par>
                                <p:cTn id="68" presetID="1" presetClass="entr" presetSubtype="0" fill="hold" nodeType="withEffect">
                                  <p:stCondLst>
                                    <p:cond delay="0"/>
                                  </p:stCondLst>
                                  <p:childTnLst>
                                    <p:set>
                                      <p:cBhvr>
                                        <p:cTn id="69" dur="1" fill="hold">
                                          <p:stCondLst>
                                            <p:cond delay="0"/>
                                          </p:stCondLst>
                                        </p:cTn>
                                        <p:tgtEl>
                                          <p:spTgt spid="57"/>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59"/>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60"/>
                                        </p:tgtEl>
                                        <p:attrNameLst>
                                          <p:attrName>style.visibility</p:attrName>
                                        </p:attrNameLst>
                                      </p:cBhvr>
                                      <p:to>
                                        <p:strVal val="visible"/>
                                      </p:to>
                                    </p:set>
                                  </p:childTnLst>
                                </p:cTn>
                              </p:par>
                              <p:par>
                                <p:cTn id="74" presetID="1" presetClass="entr" presetSubtype="0" fill="hold" grpId="1" nodeType="withEffect">
                                  <p:stCondLst>
                                    <p:cond delay="0"/>
                                  </p:stCondLst>
                                  <p:childTnLst>
                                    <p:set>
                                      <p:cBhvr>
                                        <p:cTn id="75" dur="1" fill="hold">
                                          <p:stCondLst>
                                            <p:cond delay="0"/>
                                          </p:stCondLst>
                                        </p:cTn>
                                        <p:tgtEl>
                                          <p:spTgt spid="30"/>
                                        </p:tgtEl>
                                        <p:attrNameLst>
                                          <p:attrName>style.visibility</p:attrName>
                                        </p:attrNameLst>
                                      </p:cBhvr>
                                      <p:to>
                                        <p:strVal val="visible"/>
                                      </p:to>
                                    </p:set>
                                  </p:childTnLst>
                                </p:cTn>
                              </p:par>
                              <p:par>
                                <p:cTn id="76" presetID="1" presetClass="entr" presetSubtype="0" fill="hold" grpId="1" nodeType="withEffect">
                                  <p:stCondLst>
                                    <p:cond delay="0"/>
                                  </p:stCondLst>
                                  <p:childTnLst>
                                    <p:set>
                                      <p:cBhvr>
                                        <p:cTn id="77" dur="1" fill="hold">
                                          <p:stCondLst>
                                            <p:cond delay="0"/>
                                          </p:stCondLst>
                                        </p:cTn>
                                        <p:tgtEl>
                                          <p:spTgt spid="31"/>
                                        </p:tgtEl>
                                        <p:attrNameLst>
                                          <p:attrName>style.visibility</p:attrName>
                                        </p:attrNameLst>
                                      </p:cBhvr>
                                      <p:to>
                                        <p:strVal val="visible"/>
                                      </p:to>
                                    </p:set>
                                  </p:childTnLst>
                                </p:cTn>
                              </p:par>
                            </p:childTnLst>
                          </p:cTn>
                        </p:par>
                        <p:par>
                          <p:cTn id="78" fill="hold">
                            <p:stCondLst>
                              <p:cond delay="500"/>
                            </p:stCondLst>
                            <p:childTnLst>
                              <p:par>
                                <p:cTn id="79" presetID="1" presetClass="entr" presetSubtype="0" fill="hold" grpId="0" nodeType="afterEffect">
                                  <p:stCondLst>
                                    <p:cond delay="0"/>
                                  </p:stCondLst>
                                  <p:childTnLst>
                                    <p:set>
                                      <p:cBhvr>
                                        <p:cTn id="80"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7" grpId="0" animBg="1"/>
      <p:bldP spid="27" grpId="1" animBg="1"/>
      <p:bldP spid="30" grpId="0"/>
      <p:bldP spid="30" grpId="1"/>
      <p:bldP spid="31" grpId="0"/>
      <p:bldP spid="31" grpId="1"/>
      <p:bldP spid="32" grpId="0"/>
      <p:bldP spid="32" grpId="1"/>
      <p:bldP spid="33" grpId="0"/>
      <p:bldP spid="33" grpId="1"/>
      <p:bldP spid="34" grpId="0"/>
      <p:bldP spid="34" grpId="1"/>
      <p:bldP spid="37" grpId="0"/>
      <p:bldP spid="37" grpId="1"/>
      <p:bldP spid="38" grpId="0"/>
      <p:bldP spid="38" grpId="1"/>
      <p:bldP spid="48" grpId="0"/>
      <p:bldP spid="50" grpId="0"/>
      <p:bldP spid="50" grpId="1"/>
      <p:bldP spid="59" grpId="0"/>
      <p:bldP spid="60" grpId="0"/>
      <p:bldP spid="6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0" y="184298"/>
            <a:ext cx="6097314" cy="646331"/>
          </a:xfrm>
          <a:prstGeom prst="rect">
            <a:avLst/>
          </a:prstGeom>
          <a:noFill/>
        </p:spPr>
        <p:txBody>
          <a:bodyPr wrap="square">
            <a:spAutoFit/>
          </a:bodyPr>
          <a:lstStyle/>
          <a:p>
            <a:r>
              <a:rPr lang="en-US" altLang="zh-CN" sz="3600" b="1" i="0" dirty="0">
                <a:solidFill>
                  <a:schemeClr val="bg1"/>
                </a:solidFill>
                <a:effectLst/>
                <a:latin typeface="HelveticaNeue-Bold"/>
              </a:rPr>
              <a:t>Measure DNS </a:t>
            </a:r>
            <a:r>
              <a:rPr lang="en-US" altLang="zh-CN" sz="3600" b="1" i="0" dirty="0" err="1">
                <a:solidFill>
                  <a:schemeClr val="bg1"/>
                </a:solidFill>
                <a:effectLst/>
                <a:latin typeface="HelveticaNeue-Bold"/>
              </a:rPr>
              <a:t>Centraliztion</a:t>
            </a:r>
            <a:endParaRPr lang="zh-CN" altLang="en-US" sz="3600" dirty="0">
              <a:solidFill>
                <a:schemeClr val="bg1"/>
              </a:solidFill>
            </a:endParaRP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4">
            <a:extLst>
              <a:ext uri="{FF2B5EF4-FFF2-40B4-BE49-F238E27FC236}">
                <a16:creationId xmlns:a16="http://schemas.microsoft.com/office/drawing/2014/main" id="{281A14B7-1AE9-A12B-B32E-2B3F91873AB6}"/>
              </a:ext>
            </a:extLst>
          </p:cNvPr>
          <p:cNvSpPr txBox="1"/>
          <p:nvPr/>
        </p:nvSpPr>
        <p:spPr>
          <a:xfrm>
            <a:off x="67108" y="1128769"/>
            <a:ext cx="8200241" cy="646331"/>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rPr>
              <a:t>It is necessary to measure how centralized DNS provider is. </a:t>
            </a:r>
          </a:p>
          <a:p>
            <a:r>
              <a:rPr lang="en-US" altLang="zh-CN" b="1" dirty="0">
                <a:latin typeface="微软雅黑" panose="020B0503020204020204" pitchFamily="34" charset="-122"/>
                <a:ea typeface="微软雅黑" panose="020B0503020204020204" pitchFamily="34" charset="-122"/>
              </a:rPr>
              <a:t>So we first need to identify providers, but how?</a:t>
            </a:r>
          </a:p>
        </p:txBody>
      </p:sp>
      <p:sp>
        <p:nvSpPr>
          <p:cNvPr id="2" name="文本框 1">
            <a:extLst>
              <a:ext uri="{FF2B5EF4-FFF2-40B4-BE49-F238E27FC236}">
                <a16:creationId xmlns:a16="http://schemas.microsoft.com/office/drawing/2014/main" id="{190134AF-9560-872A-576D-96920F1DDA3E}"/>
              </a:ext>
            </a:extLst>
          </p:cNvPr>
          <p:cNvSpPr txBox="1"/>
          <p:nvPr/>
        </p:nvSpPr>
        <p:spPr>
          <a:xfrm>
            <a:off x="619232" y="2172443"/>
            <a:ext cx="1553633"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Checking AS?</a:t>
            </a:r>
            <a:endParaRPr lang="zh-CN" altLang="en-US" dirty="0">
              <a:latin typeface="微软雅黑" panose="020B0503020204020204" pitchFamily="34" charset="-122"/>
              <a:ea typeface="微软雅黑" panose="020B0503020204020204" pitchFamily="34" charset="-122"/>
            </a:endParaRPr>
          </a:p>
        </p:txBody>
      </p:sp>
      <p:pic>
        <p:nvPicPr>
          <p:cNvPr id="5" name="图形 4" descr="计算机 纯色填充">
            <a:extLst>
              <a:ext uri="{FF2B5EF4-FFF2-40B4-BE49-F238E27FC236}">
                <a16:creationId xmlns:a16="http://schemas.microsoft.com/office/drawing/2014/main" id="{C9250C00-A09C-23B2-4C75-5C2D7FACD9C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52539" y="2833001"/>
            <a:ext cx="537634" cy="537634"/>
          </a:xfrm>
          <a:prstGeom prst="rect">
            <a:avLst/>
          </a:prstGeom>
        </p:spPr>
      </p:pic>
      <p:pic>
        <p:nvPicPr>
          <p:cNvPr id="7" name="图形 6" descr="计算机 纯色填充">
            <a:extLst>
              <a:ext uri="{FF2B5EF4-FFF2-40B4-BE49-F238E27FC236}">
                <a16:creationId xmlns:a16="http://schemas.microsoft.com/office/drawing/2014/main" id="{493D47B1-C748-CFA0-4313-998560F592B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87339" y="2833001"/>
            <a:ext cx="537634" cy="537634"/>
          </a:xfrm>
          <a:prstGeom prst="rect">
            <a:avLst/>
          </a:prstGeom>
        </p:spPr>
      </p:pic>
      <p:pic>
        <p:nvPicPr>
          <p:cNvPr id="8" name="图形 7" descr="计算机 纯色填充">
            <a:extLst>
              <a:ext uri="{FF2B5EF4-FFF2-40B4-BE49-F238E27FC236}">
                <a16:creationId xmlns:a16="http://schemas.microsoft.com/office/drawing/2014/main" id="{B124E54B-2503-FC0D-A9C5-386E612E0F4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17739" y="2833001"/>
            <a:ext cx="537634" cy="537634"/>
          </a:xfrm>
          <a:prstGeom prst="rect">
            <a:avLst/>
          </a:prstGeom>
        </p:spPr>
      </p:pic>
      <p:pic>
        <p:nvPicPr>
          <p:cNvPr id="9" name="图片 8">
            <a:extLst>
              <a:ext uri="{FF2B5EF4-FFF2-40B4-BE49-F238E27FC236}">
                <a16:creationId xmlns:a16="http://schemas.microsoft.com/office/drawing/2014/main" id="{0034FBDD-46F0-BE8C-6FC5-A77CCCBC8014}"/>
              </a:ext>
            </a:extLst>
          </p:cNvPr>
          <p:cNvPicPr>
            <a:picLocks noChangeAspect="1"/>
          </p:cNvPicPr>
          <p:nvPr/>
        </p:nvPicPr>
        <p:blipFill>
          <a:blip r:embed="rId6"/>
          <a:stretch>
            <a:fillRect/>
          </a:stretch>
        </p:blipFill>
        <p:spPr>
          <a:xfrm>
            <a:off x="5116972" y="2030868"/>
            <a:ext cx="478367" cy="500111"/>
          </a:xfrm>
          <a:prstGeom prst="rect">
            <a:avLst/>
          </a:prstGeom>
        </p:spPr>
      </p:pic>
      <p:pic>
        <p:nvPicPr>
          <p:cNvPr id="16" name="图片 15">
            <a:extLst>
              <a:ext uri="{FF2B5EF4-FFF2-40B4-BE49-F238E27FC236}">
                <a16:creationId xmlns:a16="http://schemas.microsoft.com/office/drawing/2014/main" id="{8828D806-3950-48BE-4928-6C04E5CD6010}"/>
              </a:ext>
            </a:extLst>
          </p:cNvPr>
          <p:cNvPicPr>
            <a:picLocks noChangeAspect="1"/>
          </p:cNvPicPr>
          <p:nvPr/>
        </p:nvPicPr>
        <p:blipFill>
          <a:blip r:embed="rId6"/>
          <a:stretch>
            <a:fillRect/>
          </a:stretch>
        </p:blipFill>
        <p:spPr>
          <a:xfrm>
            <a:off x="6082172" y="2030868"/>
            <a:ext cx="478367" cy="500111"/>
          </a:xfrm>
          <a:prstGeom prst="rect">
            <a:avLst/>
          </a:prstGeom>
        </p:spPr>
      </p:pic>
      <p:pic>
        <p:nvPicPr>
          <p:cNvPr id="18" name="图片 17">
            <a:extLst>
              <a:ext uri="{FF2B5EF4-FFF2-40B4-BE49-F238E27FC236}">
                <a16:creationId xmlns:a16="http://schemas.microsoft.com/office/drawing/2014/main" id="{1DB10CB5-0879-5362-E114-E73AFC24447C}"/>
              </a:ext>
            </a:extLst>
          </p:cNvPr>
          <p:cNvPicPr>
            <a:picLocks noChangeAspect="1"/>
          </p:cNvPicPr>
          <p:nvPr/>
        </p:nvPicPr>
        <p:blipFill>
          <a:blip r:embed="rId6"/>
          <a:stretch>
            <a:fillRect/>
          </a:stretch>
        </p:blipFill>
        <p:spPr>
          <a:xfrm>
            <a:off x="7049488" y="2044121"/>
            <a:ext cx="478367" cy="500111"/>
          </a:xfrm>
          <a:prstGeom prst="rect">
            <a:avLst/>
          </a:prstGeom>
        </p:spPr>
      </p:pic>
      <p:cxnSp>
        <p:nvCxnSpPr>
          <p:cNvPr id="23" name="直接箭头连接符 22">
            <a:extLst>
              <a:ext uri="{FF2B5EF4-FFF2-40B4-BE49-F238E27FC236}">
                <a16:creationId xmlns:a16="http://schemas.microsoft.com/office/drawing/2014/main" id="{C513C383-B570-81EF-5A61-559E5BE5DE74}"/>
              </a:ext>
            </a:extLst>
          </p:cNvPr>
          <p:cNvCxnSpPr>
            <a:stCxn id="9" idx="2"/>
          </p:cNvCxnSpPr>
          <p:nvPr/>
        </p:nvCxnSpPr>
        <p:spPr>
          <a:xfrm flipH="1">
            <a:off x="5356155" y="2530979"/>
            <a:ext cx="1" cy="35282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28" name="直接箭头连接符 27">
            <a:extLst>
              <a:ext uri="{FF2B5EF4-FFF2-40B4-BE49-F238E27FC236}">
                <a16:creationId xmlns:a16="http://schemas.microsoft.com/office/drawing/2014/main" id="{D4D6D1E5-0297-0506-9891-229E53E0D42C}"/>
              </a:ext>
            </a:extLst>
          </p:cNvPr>
          <p:cNvCxnSpPr>
            <a:stCxn id="9" idx="2"/>
            <a:endCxn id="5" idx="0"/>
          </p:cNvCxnSpPr>
          <p:nvPr/>
        </p:nvCxnSpPr>
        <p:spPr>
          <a:xfrm>
            <a:off x="5356156" y="2530979"/>
            <a:ext cx="965200" cy="30202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35" name="直接箭头连接符 34">
            <a:extLst>
              <a:ext uri="{FF2B5EF4-FFF2-40B4-BE49-F238E27FC236}">
                <a16:creationId xmlns:a16="http://schemas.microsoft.com/office/drawing/2014/main" id="{AB99A7FA-366D-0DA7-6035-27F017E9D1FE}"/>
              </a:ext>
            </a:extLst>
          </p:cNvPr>
          <p:cNvCxnSpPr>
            <a:stCxn id="16" idx="2"/>
          </p:cNvCxnSpPr>
          <p:nvPr/>
        </p:nvCxnSpPr>
        <p:spPr>
          <a:xfrm flipH="1">
            <a:off x="5377321" y="2530979"/>
            <a:ext cx="944035" cy="35282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43" name="直接箭头连接符 42">
            <a:extLst>
              <a:ext uri="{FF2B5EF4-FFF2-40B4-BE49-F238E27FC236}">
                <a16:creationId xmlns:a16="http://schemas.microsoft.com/office/drawing/2014/main" id="{920E7FAB-ED4F-D16D-7E0F-E7EB8A56FAD6}"/>
              </a:ext>
            </a:extLst>
          </p:cNvPr>
          <p:cNvCxnSpPr>
            <a:stCxn id="16" idx="2"/>
            <a:endCxn id="5" idx="0"/>
          </p:cNvCxnSpPr>
          <p:nvPr/>
        </p:nvCxnSpPr>
        <p:spPr>
          <a:xfrm>
            <a:off x="6321356" y="2530979"/>
            <a:ext cx="0" cy="30202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47" name="直接箭头连接符 46">
            <a:extLst>
              <a:ext uri="{FF2B5EF4-FFF2-40B4-BE49-F238E27FC236}">
                <a16:creationId xmlns:a16="http://schemas.microsoft.com/office/drawing/2014/main" id="{41CB58EE-15A5-2AB1-7986-D6495CF1594E}"/>
              </a:ext>
            </a:extLst>
          </p:cNvPr>
          <p:cNvCxnSpPr>
            <a:stCxn id="16" idx="2"/>
            <a:endCxn id="8" idx="0"/>
          </p:cNvCxnSpPr>
          <p:nvPr/>
        </p:nvCxnSpPr>
        <p:spPr>
          <a:xfrm>
            <a:off x="6321356" y="2530979"/>
            <a:ext cx="965200" cy="30202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4" name="直接箭头连接符 53">
            <a:extLst>
              <a:ext uri="{FF2B5EF4-FFF2-40B4-BE49-F238E27FC236}">
                <a16:creationId xmlns:a16="http://schemas.microsoft.com/office/drawing/2014/main" id="{68B96774-DA47-8224-0194-5E2428080AA4}"/>
              </a:ext>
            </a:extLst>
          </p:cNvPr>
          <p:cNvCxnSpPr>
            <a:stCxn id="18" idx="2"/>
            <a:endCxn id="8" idx="0"/>
          </p:cNvCxnSpPr>
          <p:nvPr/>
        </p:nvCxnSpPr>
        <p:spPr>
          <a:xfrm flipH="1">
            <a:off x="7286556" y="2544232"/>
            <a:ext cx="2116" cy="28876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025" name="文本框 1024">
            <a:extLst>
              <a:ext uri="{FF2B5EF4-FFF2-40B4-BE49-F238E27FC236}">
                <a16:creationId xmlns:a16="http://schemas.microsoft.com/office/drawing/2014/main" id="{705EEE75-CE99-CFEB-1E72-19AE2BDADDD1}"/>
              </a:ext>
            </a:extLst>
          </p:cNvPr>
          <p:cNvSpPr txBox="1"/>
          <p:nvPr/>
        </p:nvSpPr>
        <p:spPr>
          <a:xfrm>
            <a:off x="4900620" y="1628152"/>
            <a:ext cx="911070" cy="461665"/>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hosting</a:t>
            </a:r>
          </a:p>
          <a:p>
            <a:pPr algn="ctr"/>
            <a:r>
              <a:rPr lang="en-US" altLang="zh-CN" sz="1200" dirty="0">
                <a:latin typeface="微软雅黑" panose="020B0503020204020204" pitchFamily="34" charset="-122"/>
                <a:ea typeface="微软雅黑" panose="020B0503020204020204" pitchFamily="34" charset="-122"/>
              </a:rPr>
              <a:t>provider1</a:t>
            </a:r>
            <a:endParaRPr lang="zh-CN" altLang="en-US" sz="1200" dirty="0">
              <a:latin typeface="微软雅黑" panose="020B0503020204020204" pitchFamily="34" charset="-122"/>
              <a:ea typeface="微软雅黑" panose="020B0503020204020204" pitchFamily="34" charset="-122"/>
            </a:endParaRPr>
          </a:p>
        </p:txBody>
      </p:sp>
      <p:sp>
        <p:nvSpPr>
          <p:cNvPr id="1028" name="文本框 1027">
            <a:extLst>
              <a:ext uri="{FF2B5EF4-FFF2-40B4-BE49-F238E27FC236}">
                <a16:creationId xmlns:a16="http://schemas.microsoft.com/office/drawing/2014/main" id="{E22BF5BF-ECB7-55DE-BE15-3432A25D5F97}"/>
              </a:ext>
            </a:extLst>
          </p:cNvPr>
          <p:cNvSpPr txBox="1"/>
          <p:nvPr/>
        </p:nvSpPr>
        <p:spPr>
          <a:xfrm>
            <a:off x="3981450" y="2096257"/>
            <a:ext cx="1028766" cy="369332"/>
          </a:xfrm>
          <a:prstGeom prst="rect">
            <a:avLst/>
          </a:prstGeom>
          <a:noFill/>
        </p:spPr>
        <p:txBody>
          <a:bodyPr wrap="square" rtlCol="0">
            <a:spAutoFit/>
          </a:bodyPr>
          <a:lstStyle/>
          <a:p>
            <a:pPr algn="r"/>
            <a:r>
              <a:rPr lang="en-US" altLang="zh-CN" b="0" i="0" dirty="0">
                <a:solidFill>
                  <a:srgbClr val="333333"/>
                </a:solidFill>
                <a:effectLst/>
                <a:latin typeface="微软雅黑" panose="020B0503020204020204" pitchFamily="34" charset="-122"/>
                <a:ea typeface="微软雅黑" panose="020B0503020204020204" pitchFamily="34" charset="-122"/>
              </a:rPr>
              <a:t>Logical</a:t>
            </a:r>
            <a:endParaRPr lang="zh-CN" altLang="en-US" dirty="0">
              <a:latin typeface="微软雅黑" panose="020B0503020204020204" pitchFamily="34" charset="-122"/>
              <a:ea typeface="微软雅黑" panose="020B0503020204020204" pitchFamily="34" charset="-122"/>
            </a:endParaRPr>
          </a:p>
        </p:txBody>
      </p:sp>
      <p:sp>
        <p:nvSpPr>
          <p:cNvPr id="1029" name="文本框 1028">
            <a:extLst>
              <a:ext uri="{FF2B5EF4-FFF2-40B4-BE49-F238E27FC236}">
                <a16:creationId xmlns:a16="http://schemas.microsoft.com/office/drawing/2014/main" id="{FD0C82B0-BCBF-9E4B-2450-7BF33594F006}"/>
              </a:ext>
            </a:extLst>
          </p:cNvPr>
          <p:cNvSpPr txBox="1"/>
          <p:nvPr/>
        </p:nvSpPr>
        <p:spPr>
          <a:xfrm>
            <a:off x="3868528" y="2920920"/>
            <a:ext cx="1099743" cy="369332"/>
          </a:xfrm>
          <a:prstGeom prst="rect">
            <a:avLst/>
          </a:prstGeom>
          <a:noFill/>
        </p:spPr>
        <p:txBody>
          <a:bodyPr wrap="square" rtlCol="0">
            <a:spAutoFit/>
          </a:bodyPr>
          <a:lstStyle/>
          <a:p>
            <a:pPr algn="r"/>
            <a:r>
              <a:rPr lang="en-US" altLang="zh-CN" b="0" i="0" dirty="0">
                <a:solidFill>
                  <a:srgbClr val="333333"/>
                </a:solidFill>
                <a:effectLst/>
                <a:latin typeface="微软雅黑" panose="020B0503020204020204" pitchFamily="34" charset="-122"/>
                <a:ea typeface="微软雅黑" panose="020B0503020204020204" pitchFamily="34" charset="-122"/>
              </a:rPr>
              <a:t>Physical</a:t>
            </a:r>
            <a:endParaRPr lang="zh-CN" altLang="en-US" dirty="0">
              <a:latin typeface="微软雅黑" panose="020B0503020204020204" pitchFamily="34" charset="-122"/>
              <a:ea typeface="微软雅黑" panose="020B0503020204020204" pitchFamily="34" charset="-122"/>
            </a:endParaRPr>
          </a:p>
        </p:txBody>
      </p:sp>
      <p:sp>
        <p:nvSpPr>
          <p:cNvPr id="1030" name="文本框 1029">
            <a:extLst>
              <a:ext uri="{FF2B5EF4-FFF2-40B4-BE49-F238E27FC236}">
                <a16:creationId xmlns:a16="http://schemas.microsoft.com/office/drawing/2014/main" id="{24CC79B8-79A4-8D17-BA2A-7378508486D8}"/>
              </a:ext>
            </a:extLst>
          </p:cNvPr>
          <p:cNvSpPr txBox="1"/>
          <p:nvPr/>
        </p:nvSpPr>
        <p:spPr>
          <a:xfrm>
            <a:off x="8137456" y="2171701"/>
            <a:ext cx="2101851" cy="64633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Many-to-many</a:t>
            </a:r>
          </a:p>
          <a:p>
            <a:r>
              <a:rPr lang="en-US" altLang="zh-CN" dirty="0">
                <a:latin typeface="微软雅黑" panose="020B0503020204020204" pitchFamily="34" charset="-122"/>
                <a:ea typeface="微软雅黑" panose="020B0503020204020204" pitchFamily="34" charset="-122"/>
              </a:rPr>
              <a:t>Less accurate</a:t>
            </a:r>
            <a:endParaRPr lang="zh-CN" altLang="en-US"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F9A784A0-19EF-088D-DB83-C70D778857B4}"/>
              </a:ext>
            </a:extLst>
          </p:cNvPr>
          <p:cNvSpPr txBox="1"/>
          <p:nvPr/>
        </p:nvSpPr>
        <p:spPr>
          <a:xfrm>
            <a:off x="414536" y="4908645"/>
            <a:ext cx="1963023"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Checking NS?</a:t>
            </a:r>
          </a:p>
        </p:txBody>
      </p:sp>
      <p:sp>
        <p:nvSpPr>
          <p:cNvPr id="10" name="文本框 9">
            <a:extLst>
              <a:ext uri="{FF2B5EF4-FFF2-40B4-BE49-F238E27FC236}">
                <a16:creationId xmlns:a16="http://schemas.microsoft.com/office/drawing/2014/main" id="{9270C93D-4354-4B10-D8EE-6F3E51B5D7BD}"/>
              </a:ext>
            </a:extLst>
          </p:cNvPr>
          <p:cNvSpPr txBox="1"/>
          <p:nvPr/>
        </p:nvSpPr>
        <p:spPr>
          <a:xfrm>
            <a:off x="5873250" y="1628151"/>
            <a:ext cx="911070" cy="461665"/>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hosting</a:t>
            </a:r>
          </a:p>
          <a:p>
            <a:pPr algn="ctr"/>
            <a:r>
              <a:rPr lang="en-US" altLang="zh-CN" sz="1200" dirty="0">
                <a:latin typeface="微软雅黑" panose="020B0503020204020204" pitchFamily="34" charset="-122"/>
                <a:ea typeface="微软雅黑" panose="020B0503020204020204" pitchFamily="34" charset="-122"/>
              </a:rPr>
              <a:t>provider2</a:t>
            </a:r>
            <a:endParaRPr lang="zh-CN" altLang="en-US" sz="12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032A47E7-874F-F63B-E271-C17FD2024684}"/>
              </a:ext>
            </a:extLst>
          </p:cNvPr>
          <p:cNvSpPr txBox="1"/>
          <p:nvPr/>
        </p:nvSpPr>
        <p:spPr>
          <a:xfrm>
            <a:off x="6831021" y="1630633"/>
            <a:ext cx="911070" cy="461665"/>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hosting</a:t>
            </a:r>
          </a:p>
          <a:p>
            <a:pPr algn="ctr"/>
            <a:r>
              <a:rPr lang="en-US" altLang="zh-CN" sz="1200" dirty="0">
                <a:latin typeface="微软雅黑" panose="020B0503020204020204" pitchFamily="34" charset="-122"/>
                <a:ea typeface="微软雅黑" panose="020B0503020204020204" pitchFamily="34" charset="-122"/>
              </a:rPr>
              <a:t>provider3</a:t>
            </a:r>
            <a:endParaRPr lang="zh-CN" altLang="en-US" sz="1200"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86AEC630-8E03-02B9-3A45-EBC7E7487793}"/>
              </a:ext>
            </a:extLst>
          </p:cNvPr>
          <p:cNvSpPr txBox="1"/>
          <p:nvPr/>
        </p:nvSpPr>
        <p:spPr>
          <a:xfrm>
            <a:off x="4900620" y="3212086"/>
            <a:ext cx="911070" cy="461665"/>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AS</a:t>
            </a:r>
          </a:p>
          <a:p>
            <a:pPr algn="ctr"/>
            <a:r>
              <a:rPr lang="en-US" altLang="zh-CN" sz="1200" dirty="0">
                <a:latin typeface="微软雅黑" panose="020B0503020204020204" pitchFamily="34" charset="-122"/>
                <a:ea typeface="微软雅黑" panose="020B0503020204020204" pitchFamily="34" charset="-122"/>
              </a:rPr>
              <a:t>provider1</a:t>
            </a:r>
            <a:endParaRPr lang="zh-CN" altLang="en-US" sz="1200"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EB275077-7DFA-5558-7770-D75B0A079EAF}"/>
              </a:ext>
            </a:extLst>
          </p:cNvPr>
          <p:cNvSpPr txBox="1"/>
          <p:nvPr/>
        </p:nvSpPr>
        <p:spPr>
          <a:xfrm>
            <a:off x="5865819" y="3212086"/>
            <a:ext cx="911070" cy="461665"/>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AS</a:t>
            </a:r>
          </a:p>
          <a:p>
            <a:pPr algn="ctr"/>
            <a:r>
              <a:rPr lang="en-US" altLang="zh-CN" sz="1200" dirty="0">
                <a:latin typeface="微软雅黑" panose="020B0503020204020204" pitchFamily="34" charset="-122"/>
                <a:ea typeface="微软雅黑" panose="020B0503020204020204" pitchFamily="34" charset="-122"/>
              </a:rPr>
              <a:t>provider2</a:t>
            </a:r>
            <a:endParaRPr lang="zh-CN" altLang="en-US" sz="1200"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C7C39C33-0D8C-944B-90EA-84EF6527E84E}"/>
              </a:ext>
            </a:extLst>
          </p:cNvPr>
          <p:cNvSpPr txBox="1"/>
          <p:nvPr/>
        </p:nvSpPr>
        <p:spPr>
          <a:xfrm>
            <a:off x="6843782" y="3212086"/>
            <a:ext cx="911070" cy="461665"/>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AS</a:t>
            </a:r>
          </a:p>
          <a:p>
            <a:pPr algn="ctr"/>
            <a:r>
              <a:rPr lang="en-US" altLang="zh-CN" sz="1200" dirty="0">
                <a:latin typeface="微软雅黑" panose="020B0503020204020204" pitchFamily="34" charset="-122"/>
                <a:ea typeface="微软雅黑" panose="020B0503020204020204" pitchFamily="34" charset="-122"/>
              </a:rPr>
              <a:t>provider3</a:t>
            </a:r>
            <a:endParaRPr lang="zh-CN" altLang="en-US" sz="1200"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0633B416-7D82-2BF8-F791-EA10A2DEA60C}"/>
              </a:ext>
            </a:extLst>
          </p:cNvPr>
          <p:cNvSpPr txBox="1"/>
          <p:nvPr/>
        </p:nvSpPr>
        <p:spPr>
          <a:xfrm>
            <a:off x="5793286" y="3861357"/>
            <a:ext cx="2448906"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Good idea, but …</a:t>
            </a:r>
          </a:p>
        </p:txBody>
      </p:sp>
      <p:sp>
        <p:nvSpPr>
          <p:cNvPr id="20" name="文本框 19">
            <a:extLst>
              <a:ext uri="{FF2B5EF4-FFF2-40B4-BE49-F238E27FC236}">
                <a16:creationId xmlns:a16="http://schemas.microsoft.com/office/drawing/2014/main" id="{1E4436A2-C13F-A8EE-7C5B-DDBDC5373E21}"/>
              </a:ext>
            </a:extLst>
          </p:cNvPr>
          <p:cNvSpPr txBox="1"/>
          <p:nvPr/>
        </p:nvSpPr>
        <p:spPr>
          <a:xfrm>
            <a:off x="4953245" y="4543217"/>
            <a:ext cx="2184174" cy="369332"/>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dns2.hichina.com</a:t>
            </a:r>
          </a:p>
        </p:txBody>
      </p:sp>
      <p:sp>
        <p:nvSpPr>
          <p:cNvPr id="21" name="文本框 20">
            <a:extLst>
              <a:ext uri="{FF2B5EF4-FFF2-40B4-BE49-F238E27FC236}">
                <a16:creationId xmlns:a16="http://schemas.microsoft.com/office/drawing/2014/main" id="{F79009D8-A603-255D-A977-FC334D871006}"/>
              </a:ext>
            </a:extLst>
          </p:cNvPr>
          <p:cNvSpPr txBox="1"/>
          <p:nvPr/>
        </p:nvSpPr>
        <p:spPr>
          <a:xfrm>
            <a:off x="4295400" y="5041124"/>
            <a:ext cx="3439485"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rs61a.registrar-servers.com</a:t>
            </a:r>
            <a:endParaRPr lang="zh-CN" altLang="en-US"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E3C0053B-7540-AAE4-53B9-E5249C1863AE}"/>
              </a:ext>
            </a:extLst>
          </p:cNvPr>
          <p:cNvSpPr txBox="1"/>
          <p:nvPr/>
        </p:nvSpPr>
        <p:spPr>
          <a:xfrm>
            <a:off x="4953245" y="5510705"/>
            <a:ext cx="2184174"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ns.linode.com</a:t>
            </a:r>
            <a:endParaRPr lang="zh-CN" altLang="en-US" dirty="0">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E686722B-DB7C-5097-0284-E048BFB7F6FB}"/>
              </a:ext>
            </a:extLst>
          </p:cNvPr>
          <p:cNvSpPr/>
          <p:nvPr/>
        </p:nvSpPr>
        <p:spPr>
          <a:xfrm>
            <a:off x="8242192" y="4727883"/>
            <a:ext cx="492443" cy="923330"/>
          </a:xfrm>
          <a:prstGeom prst="rect">
            <a:avLst/>
          </a:prstGeom>
          <a:noFill/>
        </p:spPr>
        <p:txBody>
          <a:bodyPr wrap="none" lIns="91440" tIns="45720" rIns="91440" bIns="45720">
            <a:spAutoFit/>
          </a:bodyPr>
          <a:lstStyle/>
          <a:p>
            <a:pPr algn="ctr"/>
            <a:r>
              <a:rPr lang="en-US" altLang="zh-CN" sz="5400" b="1" cap="none" spc="0" dirty="0">
                <a:ln w="22225">
                  <a:solidFill>
                    <a:schemeClr val="accent2"/>
                  </a:solidFill>
                  <a:prstDash val="solid"/>
                </a:ln>
                <a:solidFill>
                  <a:schemeClr val="accent2">
                    <a:lumMod val="40000"/>
                    <a:lumOff val="60000"/>
                  </a:schemeClr>
                </a:solidFill>
                <a:effectLst/>
              </a:rPr>
              <a:t>?</a:t>
            </a:r>
            <a:endParaRPr lang="zh-CN" altLang="en-US" sz="5400" b="1" cap="none" spc="0" dirty="0">
              <a:ln w="22225">
                <a:solidFill>
                  <a:schemeClr val="accent2"/>
                </a:solidFill>
                <a:prstDash val="solid"/>
              </a:ln>
              <a:solidFill>
                <a:schemeClr val="accent2">
                  <a:lumMod val="40000"/>
                  <a:lumOff val="60000"/>
                </a:schemeClr>
              </a:solidFill>
              <a:effectLst/>
            </a:endParaRPr>
          </a:p>
        </p:txBody>
      </p:sp>
      <p:sp>
        <p:nvSpPr>
          <p:cNvPr id="39" name="文本框 38">
            <a:extLst>
              <a:ext uri="{FF2B5EF4-FFF2-40B4-BE49-F238E27FC236}">
                <a16:creationId xmlns:a16="http://schemas.microsoft.com/office/drawing/2014/main" id="{2E6E1943-C358-994B-1E32-07B2BE6B5FAC}"/>
              </a:ext>
            </a:extLst>
          </p:cNvPr>
          <p:cNvSpPr txBox="1"/>
          <p:nvPr/>
        </p:nvSpPr>
        <p:spPr>
          <a:xfrm>
            <a:off x="2113655" y="6228576"/>
            <a:ext cx="7937034" cy="461665"/>
          </a:xfrm>
          <a:prstGeom prst="rect">
            <a:avLst/>
          </a:prstGeom>
          <a:no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How to identify which provider an NS belongs to?</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35130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4"/>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grpId="0" nodeType="afterEffect">
                                  <p:stCondLst>
                                    <p:cond delay="0"/>
                                  </p:stCondLst>
                                  <p:childTnLst>
                                    <p:set>
                                      <p:cBhvr>
                                        <p:cTn id="51" dur="1" fill="hold">
                                          <p:stCondLst>
                                            <p:cond delay="0"/>
                                          </p:stCondLst>
                                        </p:cTn>
                                        <p:tgtEl>
                                          <p:spTgt spid="103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ppt_x"/>
                                          </p:val>
                                        </p:tav>
                                        <p:tav tm="100000">
                                          <p:val>
                                            <p:strVal val="#ppt_x"/>
                                          </p:val>
                                        </p:tav>
                                      </p:tavLst>
                                    </p:anim>
                                    <p:anim calcmode="lin" valueType="num">
                                      <p:cBhvr additive="base">
                                        <p:cTn id="64" dur="500" fill="hold"/>
                                        <p:tgtEl>
                                          <p:spTgt spid="20"/>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1+#ppt_h/2"/>
                                          </p:val>
                                        </p:tav>
                                        <p:tav tm="100000">
                                          <p:val>
                                            <p:strVal val="#ppt_y"/>
                                          </p:val>
                                        </p:tav>
                                      </p:tavLst>
                                    </p:anim>
                                  </p:childTnLst>
                                </p:cTn>
                              </p:par>
                            </p:childTnLst>
                          </p:cTn>
                        </p:par>
                        <p:par>
                          <p:cTn id="73" fill="hold">
                            <p:stCondLst>
                              <p:cond delay="500"/>
                            </p:stCondLst>
                            <p:childTnLst>
                              <p:par>
                                <p:cTn id="74" presetID="2" presetClass="entr" presetSubtype="4" fill="hold" grpId="0" nodeType="afterEffect">
                                  <p:stCondLst>
                                    <p:cond delay="0"/>
                                  </p:stCondLst>
                                  <p:childTnLst>
                                    <p:set>
                                      <p:cBhvr>
                                        <p:cTn id="75" dur="1" fill="hold">
                                          <p:stCondLst>
                                            <p:cond delay="0"/>
                                          </p:stCondLst>
                                        </p:cTn>
                                        <p:tgtEl>
                                          <p:spTgt spid="26"/>
                                        </p:tgtEl>
                                        <p:attrNameLst>
                                          <p:attrName>style.visibility</p:attrName>
                                        </p:attrNameLst>
                                      </p:cBhvr>
                                      <p:to>
                                        <p:strVal val="visible"/>
                                      </p:to>
                                    </p:set>
                                    <p:anim calcmode="lin" valueType="num">
                                      <p:cBhvr additive="base">
                                        <p:cTn id="76" dur="500" fill="hold"/>
                                        <p:tgtEl>
                                          <p:spTgt spid="26"/>
                                        </p:tgtEl>
                                        <p:attrNameLst>
                                          <p:attrName>ppt_x</p:attrName>
                                        </p:attrNameLst>
                                      </p:cBhvr>
                                      <p:tavLst>
                                        <p:tav tm="0">
                                          <p:val>
                                            <p:strVal val="#ppt_x"/>
                                          </p:val>
                                        </p:tav>
                                        <p:tav tm="100000">
                                          <p:val>
                                            <p:strVal val="#ppt_x"/>
                                          </p:val>
                                        </p:tav>
                                      </p:tavLst>
                                    </p:anim>
                                    <p:anim calcmode="lin" valueType="num">
                                      <p:cBhvr additive="base">
                                        <p:cTn id="77"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39"/>
                                        </p:tgtEl>
                                        <p:attrNameLst>
                                          <p:attrName>style.visibility</p:attrName>
                                        </p:attrNameLst>
                                      </p:cBhvr>
                                      <p:to>
                                        <p:strVal val="visible"/>
                                      </p:to>
                                    </p:set>
                                    <p:anim calcmode="lin" valueType="num">
                                      <p:cBhvr additive="base">
                                        <p:cTn id="82" dur="500" fill="hold"/>
                                        <p:tgtEl>
                                          <p:spTgt spid="39"/>
                                        </p:tgtEl>
                                        <p:attrNameLst>
                                          <p:attrName>ppt_x</p:attrName>
                                        </p:attrNameLst>
                                      </p:cBhvr>
                                      <p:tavLst>
                                        <p:tav tm="0">
                                          <p:val>
                                            <p:strVal val="#ppt_x"/>
                                          </p:val>
                                        </p:tav>
                                        <p:tav tm="100000">
                                          <p:val>
                                            <p:strVal val="#ppt_x"/>
                                          </p:val>
                                        </p:tav>
                                      </p:tavLst>
                                    </p:anim>
                                    <p:anim calcmode="lin" valueType="num">
                                      <p:cBhvr additive="base">
                                        <p:cTn id="83"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25" grpId="0"/>
      <p:bldP spid="1028" grpId="0"/>
      <p:bldP spid="1029" grpId="0"/>
      <p:bldP spid="1030" grpId="0"/>
      <p:bldP spid="3" grpId="0"/>
      <p:bldP spid="10" grpId="0"/>
      <p:bldP spid="11" grpId="0"/>
      <p:bldP spid="13" grpId="0"/>
      <p:bldP spid="14" grpId="0"/>
      <p:bldP spid="15" grpId="0"/>
      <p:bldP spid="17" grpId="0"/>
      <p:bldP spid="20" grpId="0"/>
      <p:bldP spid="21" grpId="0"/>
      <p:bldP spid="22" grpId="0"/>
      <p:bldP spid="26" grpId="0"/>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0" y="184298"/>
            <a:ext cx="6097314" cy="646331"/>
          </a:xfrm>
          <a:prstGeom prst="rect">
            <a:avLst/>
          </a:prstGeom>
          <a:noFill/>
        </p:spPr>
        <p:txBody>
          <a:bodyPr wrap="square">
            <a:spAutoFit/>
          </a:bodyPr>
          <a:lstStyle/>
          <a:p>
            <a:r>
              <a:rPr lang="en-US" altLang="zh-CN" sz="3600" b="1" i="0" dirty="0">
                <a:solidFill>
                  <a:schemeClr val="bg1"/>
                </a:solidFill>
                <a:effectLst/>
                <a:latin typeface="HelveticaNeue-Bold"/>
              </a:rPr>
              <a:t>Challenge</a:t>
            </a:r>
            <a:endParaRPr lang="zh-CN" altLang="en-US" sz="3600" dirty="0">
              <a:solidFill>
                <a:schemeClr val="bg1"/>
              </a:solidFill>
            </a:endParaRP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1E4436A2-C13F-A8EE-7C5B-DDBDC5373E21}"/>
              </a:ext>
            </a:extLst>
          </p:cNvPr>
          <p:cNvSpPr txBox="1"/>
          <p:nvPr/>
        </p:nvSpPr>
        <p:spPr>
          <a:xfrm>
            <a:off x="1944500" y="1822268"/>
            <a:ext cx="2184174" cy="369332"/>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dns2.hichina.com</a:t>
            </a:r>
          </a:p>
        </p:txBody>
      </p:sp>
      <p:sp>
        <p:nvSpPr>
          <p:cNvPr id="21" name="文本框 20">
            <a:extLst>
              <a:ext uri="{FF2B5EF4-FFF2-40B4-BE49-F238E27FC236}">
                <a16:creationId xmlns:a16="http://schemas.microsoft.com/office/drawing/2014/main" id="{F79009D8-A603-255D-A977-FC334D871006}"/>
              </a:ext>
            </a:extLst>
          </p:cNvPr>
          <p:cNvSpPr txBox="1"/>
          <p:nvPr/>
        </p:nvSpPr>
        <p:spPr>
          <a:xfrm>
            <a:off x="1316844" y="2741077"/>
            <a:ext cx="3439485"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rs61a.registrar-servers.com</a:t>
            </a:r>
            <a:endParaRPr lang="zh-CN" altLang="en-US"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E3C0053B-7540-AAE4-53B9-E5249C1863AE}"/>
              </a:ext>
            </a:extLst>
          </p:cNvPr>
          <p:cNvSpPr txBox="1"/>
          <p:nvPr/>
        </p:nvSpPr>
        <p:spPr>
          <a:xfrm>
            <a:off x="1944499" y="4234190"/>
            <a:ext cx="2184174"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ns.linode.com</a:t>
            </a:r>
            <a:endParaRPr lang="zh-CN" altLang="en-US" dirty="0">
              <a:latin typeface="微软雅黑" panose="020B0503020204020204" pitchFamily="34" charset="-122"/>
              <a:ea typeface="微软雅黑" panose="020B0503020204020204" pitchFamily="34" charset="-122"/>
            </a:endParaRPr>
          </a:p>
        </p:txBody>
      </p:sp>
      <p:pic>
        <p:nvPicPr>
          <p:cNvPr id="27" name="Picture 2">
            <a:extLst>
              <a:ext uri="{FF2B5EF4-FFF2-40B4-BE49-F238E27FC236}">
                <a16:creationId xmlns:a16="http://schemas.microsoft.com/office/drawing/2014/main" id="{01DEBC55-AEEC-978E-5F71-4428AFCE29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9061" y="1461917"/>
            <a:ext cx="1090034" cy="1090034"/>
          </a:xfrm>
          <a:prstGeom prst="rect">
            <a:avLst/>
          </a:prstGeom>
          <a:noFill/>
          <a:extLst>
            <a:ext uri="{909E8E84-426E-40DD-AFC4-6F175D3DCCD1}">
              <a14:hiddenFill xmlns:a14="http://schemas.microsoft.com/office/drawing/2010/main">
                <a:solidFill>
                  <a:srgbClr val="FFFFFF"/>
                </a:solidFill>
              </a14:hiddenFill>
            </a:ext>
          </a:extLst>
        </p:spPr>
      </p:pic>
      <p:pic>
        <p:nvPicPr>
          <p:cNvPr id="31" name="图片 30">
            <a:extLst>
              <a:ext uri="{FF2B5EF4-FFF2-40B4-BE49-F238E27FC236}">
                <a16:creationId xmlns:a16="http://schemas.microsoft.com/office/drawing/2014/main" id="{4C0CAD74-5656-9A8F-8430-8A426AAD3135}"/>
              </a:ext>
            </a:extLst>
          </p:cNvPr>
          <p:cNvPicPr>
            <a:picLocks noChangeAspect="1"/>
          </p:cNvPicPr>
          <p:nvPr/>
        </p:nvPicPr>
        <p:blipFill>
          <a:blip r:embed="rId5"/>
          <a:stretch>
            <a:fillRect/>
          </a:stretch>
        </p:blipFill>
        <p:spPr>
          <a:xfrm>
            <a:off x="7163597" y="2741077"/>
            <a:ext cx="1400961" cy="428959"/>
          </a:xfrm>
          <a:prstGeom prst="rect">
            <a:avLst/>
          </a:prstGeom>
        </p:spPr>
      </p:pic>
      <p:pic>
        <p:nvPicPr>
          <p:cNvPr id="36" name="图片 35">
            <a:extLst>
              <a:ext uri="{FF2B5EF4-FFF2-40B4-BE49-F238E27FC236}">
                <a16:creationId xmlns:a16="http://schemas.microsoft.com/office/drawing/2014/main" id="{23D2F4B8-E37D-A372-E87D-40858EF86802}"/>
              </a:ext>
            </a:extLst>
          </p:cNvPr>
          <p:cNvPicPr>
            <a:picLocks noChangeAspect="1"/>
          </p:cNvPicPr>
          <p:nvPr/>
        </p:nvPicPr>
        <p:blipFill>
          <a:blip r:embed="rId6"/>
          <a:stretch>
            <a:fillRect/>
          </a:stretch>
        </p:blipFill>
        <p:spPr>
          <a:xfrm>
            <a:off x="7248136" y="4122414"/>
            <a:ext cx="1231881" cy="592884"/>
          </a:xfrm>
          <a:prstGeom prst="rect">
            <a:avLst/>
          </a:prstGeom>
        </p:spPr>
      </p:pic>
      <p:sp>
        <p:nvSpPr>
          <p:cNvPr id="37" name="矩形 36">
            <a:extLst>
              <a:ext uri="{FF2B5EF4-FFF2-40B4-BE49-F238E27FC236}">
                <a16:creationId xmlns:a16="http://schemas.microsoft.com/office/drawing/2014/main" id="{B714609E-84BC-586F-905C-890B656B7320}"/>
              </a:ext>
            </a:extLst>
          </p:cNvPr>
          <p:cNvSpPr/>
          <p:nvPr/>
        </p:nvSpPr>
        <p:spPr>
          <a:xfrm>
            <a:off x="-13830" y="6037007"/>
            <a:ext cx="12205830" cy="820992"/>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39" name="文本框 38">
            <a:extLst>
              <a:ext uri="{FF2B5EF4-FFF2-40B4-BE49-F238E27FC236}">
                <a16:creationId xmlns:a16="http://schemas.microsoft.com/office/drawing/2014/main" id="{2E6E1943-C358-994B-1E32-07B2BE6B5FAC}"/>
              </a:ext>
            </a:extLst>
          </p:cNvPr>
          <p:cNvSpPr txBox="1"/>
          <p:nvPr/>
        </p:nvSpPr>
        <p:spPr>
          <a:xfrm>
            <a:off x="2113655" y="6228576"/>
            <a:ext cx="7937034" cy="461665"/>
          </a:xfrm>
          <a:prstGeom prst="rect">
            <a:avLst/>
          </a:prstGeom>
          <a:no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How to identify which provider an NS belongs to?</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51899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additive="base">
                                        <p:cTn id="21" dur="500" fill="hold"/>
                                        <p:tgtEl>
                                          <p:spTgt spid="27"/>
                                        </p:tgtEl>
                                        <p:attrNameLst>
                                          <p:attrName>ppt_x</p:attrName>
                                        </p:attrNameLst>
                                      </p:cBhvr>
                                      <p:tavLst>
                                        <p:tav tm="0">
                                          <p:val>
                                            <p:strVal val="#ppt_x"/>
                                          </p:val>
                                        </p:tav>
                                        <p:tav tm="100000">
                                          <p:val>
                                            <p:strVal val="#ppt_x"/>
                                          </p:val>
                                        </p:tav>
                                      </p:tavLst>
                                    </p:anim>
                                    <p:anim calcmode="lin" valueType="num">
                                      <p:cBhvr additive="base">
                                        <p:cTn id="22" dur="500" fill="hold"/>
                                        <p:tgtEl>
                                          <p:spTgt spid="2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additive="base">
                                        <p:cTn id="25" dur="500" fill="hold"/>
                                        <p:tgtEl>
                                          <p:spTgt spid="31"/>
                                        </p:tgtEl>
                                        <p:attrNameLst>
                                          <p:attrName>ppt_x</p:attrName>
                                        </p:attrNameLst>
                                      </p:cBhvr>
                                      <p:tavLst>
                                        <p:tav tm="0">
                                          <p:val>
                                            <p:strVal val="#ppt_x"/>
                                          </p:val>
                                        </p:tav>
                                        <p:tav tm="100000">
                                          <p:val>
                                            <p:strVal val="#ppt_x"/>
                                          </p:val>
                                        </p:tav>
                                      </p:tavLst>
                                    </p:anim>
                                    <p:anim calcmode="lin" valueType="num">
                                      <p:cBhvr additive="base">
                                        <p:cTn id="26" dur="500" fill="hold"/>
                                        <p:tgtEl>
                                          <p:spTgt spid="3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anim calcmode="lin" valueType="num">
                                      <p:cBhvr additive="base">
                                        <p:cTn id="29" dur="500" fill="hold"/>
                                        <p:tgtEl>
                                          <p:spTgt spid="36"/>
                                        </p:tgtEl>
                                        <p:attrNameLst>
                                          <p:attrName>ppt_x</p:attrName>
                                        </p:attrNameLst>
                                      </p:cBhvr>
                                      <p:tavLst>
                                        <p:tav tm="0">
                                          <p:val>
                                            <p:strVal val="#ppt_x"/>
                                          </p:val>
                                        </p:tav>
                                        <p:tav tm="100000">
                                          <p:val>
                                            <p:strVal val="#ppt_x"/>
                                          </p:val>
                                        </p:tav>
                                      </p:tavLst>
                                    </p:anim>
                                    <p:anim calcmode="lin" valueType="num">
                                      <p:cBhvr additive="base">
                                        <p:cTn id="3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 calcmode="lin" valueType="num">
                                      <p:cBhvr additive="base">
                                        <p:cTn id="35" dur="500" fill="hold"/>
                                        <p:tgtEl>
                                          <p:spTgt spid="39"/>
                                        </p:tgtEl>
                                        <p:attrNameLst>
                                          <p:attrName>ppt_x</p:attrName>
                                        </p:attrNameLst>
                                      </p:cBhvr>
                                      <p:tavLst>
                                        <p:tav tm="0">
                                          <p:val>
                                            <p:strVal val="#ppt_x"/>
                                          </p:val>
                                        </p:tav>
                                        <p:tav tm="100000">
                                          <p:val>
                                            <p:strVal val="#ppt_x"/>
                                          </p:val>
                                        </p:tav>
                                      </p:tavLst>
                                    </p:anim>
                                    <p:anim calcmode="lin" valueType="num">
                                      <p:cBhvr additive="base">
                                        <p:cTn id="36" dur="500" fill="hold"/>
                                        <p:tgtEl>
                                          <p:spTgt spid="3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 calcmode="lin" valueType="num">
                                      <p:cBhvr additive="base">
                                        <p:cTn id="39" dur="500" fill="hold"/>
                                        <p:tgtEl>
                                          <p:spTgt spid="37"/>
                                        </p:tgtEl>
                                        <p:attrNameLst>
                                          <p:attrName>ppt_x</p:attrName>
                                        </p:attrNameLst>
                                      </p:cBhvr>
                                      <p:tavLst>
                                        <p:tav tm="0">
                                          <p:val>
                                            <p:strVal val="#ppt_x"/>
                                          </p:val>
                                        </p:tav>
                                        <p:tav tm="100000">
                                          <p:val>
                                            <p:strVal val="#ppt_x"/>
                                          </p:val>
                                        </p:tav>
                                      </p:tavLst>
                                    </p:anim>
                                    <p:anim calcmode="lin" valueType="num">
                                      <p:cBhvr additive="base">
                                        <p:cTn id="40"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37" grpId="0" animBg="1"/>
      <p:bldP spid="3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0" y="184298"/>
            <a:ext cx="6097314" cy="646331"/>
          </a:xfrm>
          <a:prstGeom prst="rect">
            <a:avLst/>
          </a:prstGeom>
          <a:noFill/>
        </p:spPr>
        <p:txBody>
          <a:bodyPr wrap="square">
            <a:spAutoFit/>
          </a:bodyPr>
          <a:lstStyle/>
          <a:p>
            <a:r>
              <a:rPr lang="en-US" altLang="zh-CN" sz="3600" b="1" i="0" dirty="0">
                <a:solidFill>
                  <a:schemeClr val="bg1"/>
                </a:solidFill>
                <a:effectLst/>
                <a:latin typeface="HelveticaNeue-Bold"/>
              </a:rPr>
              <a:t>Identifying NS</a:t>
            </a:r>
            <a:endParaRPr lang="zh-CN" altLang="en-US" sz="3600" dirty="0">
              <a:solidFill>
                <a:schemeClr val="bg1"/>
              </a:solidFill>
            </a:endParaRP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ABFA3176-466F-178A-703C-AF6AE0575227}"/>
              </a:ext>
            </a:extLst>
          </p:cNvPr>
          <p:cNvSpPr txBox="1"/>
          <p:nvPr/>
        </p:nvSpPr>
        <p:spPr>
          <a:xfrm>
            <a:off x="352338" y="1522602"/>
            <a:ext cx="1476462"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Workflow:</a:t>
            </a:r>
            <a:endParaRPr lang="zh-CN" altLang="en-US" dirty="0">
              <a:latin typeface="微软雅黑" panose="020B0503020204020204" pitchFamily="34" charset="-122"/>
              <a:ea typeface="微软雅黑" panose="020B0503020204020204" pitchFamily="34" charset="-122"/>
            </a:endParaRPr>
          </a:p>
        </p:txBody>
      </p:sp>
      <p:pic>
        <p:nvPicPr>
          <p:cNvPr id="19" name="图形 18" descr="数据库 纯色填充">
            <a:extLst>
              <a:ext uri="{FF2B5EF4-FFF2-40B4-BE49-F238E27FC236}">
                <a16:creationId xmlns:a16="http://schemas.microsoft.com/office/drawing/2014/main" id="{9BA33F67-8363-192C-CF0D-42347D8641D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10078" y="2812409"/>
            <a:ext cx="914400" cy="914400"/>
          </a:xfrm>
          <a:prstGeom prst="rect">
            <a:avLst/>
          </a:prstGeom>
        </p:spPr>
      </p:pic>
      <p:sp>
        <p:nvSpPr>
          <p:cNvPr id="24" name="文本框 23">
            <a:extLst>
              <a:ext uri="{FF2B5EF4-FFF2-40B4-BE49-F238E27FC236}">
                <a16:creationId xmlns:a16="http://schemas.microsoft.com/office/drawing/2014/main" id="{8811D3DD-5FFA-4B12-E9E9-E36C8795B3E1}"/>
              </a:ext>
            </a:extLst>
          </p:cNvPr>
          <p:cNvSpPr txBox="1"/>
          <p:nvPr/>
        </p:nvSpPr>
        <p:spPr>
          <a:xfrm>
            <a:off x="1241569" y="3726809"/>
            <a:ext cx="914401"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NS list</a:t>
            </a:r>
            <a:endParaRPr lang="zh-CN" altLang="en-US" dirty="0">
              <a:latin typeface="微软雅黑" panose="020B0503020204020204" pitchFamily="34" charset="-122"/>
              <a:ea typeface="微软雅黑" panose="020B0503020204020204" pitchFamily="34" charset="-122"/>
            </a:endParaRPr>
          </a:p>
        </p:txBody>
      </p:sp>
      <p:sp>
        <p:nvSpPr>
          <p:cNvPr id="29" name="箭头: 右 28">
            <a:extLst>
              <a:ext uri="{FF2B5EF4-FFF2-40B4-BE49-F238E27FC236}">
                <a16:creationId xmlns:a16="http://schemas.microsoft.com/office/drawing/2014/main" id="{54B3B9A7-23C9-B782-535C-C44AC6246D8C}"/>
              </a:ext>
            </a:extLst>
          </p:cNvPr>
          <p:cNvSpPr/>
          <p:nvPr/>
        </p:nvSpPr>
        <p:spPr>
          <a:xfrm>
            <a:off x="2676785" y="3219059"/>
            <a:ext cx="1333850" cy="211821"/>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1C1C7B13-500E-F3F1-B4FD-E28F41A54C29}"/>
              </a:ext>
            </a:extLst>
          </p:cNvPr>
          <p:cNvSpPr txBox="1"/>
          <p:nvPr/>
        </p:nvSpPr>
        <p:spPr>
          <a:xfrm>
            <a:off x="2190223" y="2812409"/>
            <a:ext cx="2306973" cy="461665"/>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Grouping NS seemed to belong to the same provider</a:t>
            </a:r>
            <a:endParaRPr lang="zh-CN" altLang="en-US" sz="1200" dirty="0">
              <a:latin typeface="微软雅黑" panose="020B0503020204020204" pitchFamily="34" charset="-122"/>
              <a:ea typeface="微软雅黑" panose="020B0503020204020204" pitchFamily="34" charset="-122"/>
            </a:endParaRPr>
          </a:p>
        </p:txBody>
      </p:sp>
      <p:pic>
        <p:nvPicPr>
          <p:cNvPr id="33" name="图形 32" descr="文档 纯色填充">
            <a:extLst>
              <a:ext uri="{FF2B5EF4-FFF2-40B4-BE49-F238E27FC236}">
                <a16:creationId xmlns:a16="http://schemas.microsoft.com/office/drawing/2014/main" id="{A62298D1-BCD9-09AA-1BFD-2BCCB886D79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02573" y="2103540"/>
            <a:ext cx="501941" cy="501941"/>
          </a:xfrm>
          <a:prstGeom prst="rect">
            <a:avLst/>
          </a:prstGeom>
        </p:spPr>
      </p:pic>
      <p:pic>
        <p:nvPicPr>
          <p:cNvPr id="34" name="图形 33" descr="文档 纯色填充">
            <a:extLst>
              <a:ext uri="{FF2B5EF4-FFF2-40B4-BE49-F238E27FC236}">
                <a16:creationId xmlns:a16="http://schemas.microsoft.com/office/drawing/2014/main" id="{19935FB1-01BD-D7AA-BA9E-591BDA234C8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02573" y="2812409"/>
            <a:ext cx="501941" cy="501941"/>
          </a:xfrm>
          <a:prstGeom prst="rect">
            <a:avLst/>
          </a:prstGeom>
        </p:spPr>
      </p:pic>
      <p:pic>
        <p:nvPicPr>
          <p:cNvPr id="37" name="图形 36" descr="文档 纯色填充">
            <a:extLst>
              <a:ext uri="{FF2B5EF4-FFF2-40B4-BE49-F238E27FC236}">
                <a16:creationId xmlns:a16="http://schemas.microsoft.com/office/drawing/2014/main" id="{38773C3D-C3A1-04DF-A921-015C426EC7B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02573" y="3517783"/>
            <a:ext cx="501941" cy="501941"/>
          </a:xfrm>
          <a:prstGeom prst="rect">
            <a:avLst/>
          </a:prstGeom>
        </p:spPr>
      </p:pic>
      <p:sp>
        <p:nvSpPr>
          <p:cNvPr id="38" name="文本框 37">
            <a:extLst>
              <a:ext uri="{FF2B5EF4-FFF2-40B4-BE49-F238E27FC236}">
                <a16:creationId xmlns:a16="http://schemas.microsoft.com/office/drawing/2014/main" id="{EB97DD56-F0E1-05FD-8863-AE1C1DBFA298}"/>
              </a:ext>
            </a:extLst>
          </p:cNvPr>
          <p:cNvSpPr txBox="1"/>
          <p:nvPr/>
        </p:nvSpPr>
        <p:spPr>
          <a:xfrm>
            <a:off x="4674065" y="4096141"/>
            <a:ext cx="1558955"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NS groups</a:t>
            </a:r>
            <a:endParaRPr lang="zh-CN" altLang="en-US" dirty="0">
              <a:latin typeface="微软雅黑" panose="020B0503020204020204" pitchFamily="34" charset="-122"/>
              <a:ea typeface="微软雅黑" panose="020B0503020204020204" pitchFamily="34" charset="-122"/>
            </a:endParaRPr>
          </a:p>
        </p:txBody>
      </p:sp>
      <p:sp>
        <p:nvSpPr>
          <p:cNvPr id="39" name="箭头: 右 38">
            <a:extLst>
              <a:ext uri="{FF2B5EF4-FFF2-40B4-BE49-F238E27FC236}">
                <a16:creationId xmlns:a16="http://schemas.microsoft.com/office/drawing/2014/main" id="{8BCA3C73-2B87-43E0-4BA1-2BA3D4B24C63}"/>
              </a:ext>
            </a:extLst>
          </p:cNvPr>
          <p:cNvSpPr/>
          <p:nvPr/>
        </p:nvSpPr>
        <p:spPr>
          <a:xfrm>
            <a:off x="6725872" y="3217179"/>
            <a:ext cx="1333850" cy="211821"/>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0EED8036-A026-61DC-22A1-DAAD6DDD0992}"/>
              </a:ext>
            </a:extLst>
          </p:cNvPr>
          <p:cNvSpPr txBox="1"/>
          <p:nvPr/>
        </p:nvSpPr>
        <p:spPr>
          <a:xfrm>
            <a:off x="6233020" y="2942060"/>
            <a:ext cx="2403445" cy="276999"/>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Labeling group with providers</a:t>
            </a:r>
            <a:endParaRPr lang="zh-CN" altLang="en-US" sz="1200" dirty="0">
              <a:latin typeface="微软雅黑" panose="020B0503020204020204" pitchFamily="34" charset="-122"/>
              <a:ea typeface="微软雅黑" panose="020B0503020204020204" pitchFamily="34" charset="-122"/>
            </a:endParaRPr>
          </a:p>
        </p:txBody>
      </p:sp>
      <p:pic>
        <p:nvPicPr>
          <p:cNvPr id="42" name="图形 41" descr="列表 纯色填充">
            <a:extLst>
              <a:ext uri="{FF2B5EF4-FFF2-40B4-BE49-F238E27FC236}">
                <a16:creationId xmlns:a16="http://schemas.microsoft.com/office/drawing/2014/main" id="{D7934CB6-630E-FC11-21BF-A36C336A04D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95159" y="2103540"/>
            <a:ext cx="501941" cy="501941"/>
          </a:xfrm>
          <a:prstGeom prst="rect">
            <a:avLst/>
          </a:prstGeom>
        </p:spPr>
      </p:pic>
      <p:pic>
        <p:nvPicPr>
          <p:cNvPr id="46" name="图形 45" descr="列表 纯色填充">
            <a:extLst>
              <a:ext uri="{FF2B5EF4-FFF2-40B4-BE49-F238E27FC236}">
                <a16:creationId xmlns:a16="http://schemas.microsoft.com/office/drawing/2014/main" id="{1EA3B040-3DFF-0D12-9A6D-2F3F98F0993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95158" y="2767668"/>
            <a:ext cx="501941" cy="501941"/>
          </a:xfrm>
          <a:prstGeom prst="rect">
            <a:avLst/>
          </a:prstGeom>
        </p:spPr>
      </p:pic>
      <p:pic>
        <p:nvPicPr>
          <p:cNvPr id="48" name="图形 47" descr="列表 纯色填充">
            <a:extLst>
              <a:ext uri="{FF2B5EF4-FFF2-40B4-BE49-F238E27FC236}">
                <a16:creationId xmlns:a16="http://schemas.microsoft.com/office/drawing/2014/main" id="{50874E9A-D456-66A5-6EFA-025F6BBA2DE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95158" y="3588309"/>
            <a:ext cx="501941" cy="501941"/>
          </a:xfrm>
          <a:prstGeom prst="rect">
            <a:avLst/>
          </a:prstGeom>
        </p:spPr>
      </p:pic>
      <p:sp>
        <p:nvSpPr>
          <p:cNvPr id="49" name="文本框 48">
            <a:extLst>
              <a:ext uri="{FF2B5EF4-FFF2-40B4-BE49-F238E27FC236}">
                <a16:creationId xmlns:a16="http://schemas.microsoft.com/office/drawing/2014/main" id="{2FC0A6AA-B8E3-7F26-DDB4-12302565E621}"/>
              </a:ext>
            </a:extLst>
          </p:cNvPr>
          <p:cNvSpPr txBox="1"/>
          <p:nvPr/>
        </p:nvSpPr>
        <p:spPr>
          <a:xfrm>
            <a:off x="8707306" y="4096141"/>
            <a:ext cx="1677644"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Identified NS</a:t>
            </a:r>
            <a:endParaRPr lang="zh-CN" altLang="en-US" dirty="0">
              <a:latin typeface="微软雅黑" panose="020B0503020204020204" pitchFamily="34" charset="-122"/>
              <a:ea typeface="微软雅黑" panose="020B0503020204020204" pitchFamily="34" charset="-122"/>
            </a:endParaRPr>
          </a:p>
        </p:txBody>
      </p:sp>
      <p:pic>
        <p:nvPicPr>
          <p:cNvPr id="51" name="图形 50" descr="报纸 纯色填充">
            <a:extLst>
              <a:ext uri="{FF2B5EF4-FFF2-40B4-BE49-F238E27FC236}">
                <a16:creationId xmlns:a16="http://schemas.microsoft.com/office/drawing/2014/main" id="{176F60BC-ED82-1980-4184-C271BB03040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725872" y="4583643"/>
            <a:ext cx="580938" cy="580938"/>
          </a:xfrm>
          <a:prstGeom prst="rect">
            <a:avLst/>
          </a:prstGeom>
        </p:spPr>
      </p:pic>
      <p:sp>
        <p:nvSpPr>
          <p:cNvPr id="52" name="箭头: 上 51">
            <a:extLst>
              <a:ext uri="{FF2B5EF4-FFF2-40B4-BE49-F238E27FC236}">
                <a16:creationId xmlns:a16="http://schemas.microsoft.com/office/drawing/2014/main" id="{40059101-18A6-7F6C-C943-987DC5346B9E}"/>
              </a:ext>
            </a:extLst>
          </p:cNvPr>
          <p:cNvSpPr/>
          <p:nvPr/>
        </p:nvSpPr>
        <p:spPr>
          <a:xfrm>
            <a:off x="7361105" y="3641439"/>
            <a:ext cx="109291" cy="824034"/>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6C5FEB19-89EA-A85D-7100-AF8B819AC672}"/>
              </a:ext>
            </a:extLst>
          </p:cNvPr>
          <p:cNvSpPr txBox="1"/>
          <p:nvPr/>
        </p:nvSpPr>
        <p:spPr>
          <a:xfrm>
            <a:off x="7361105" y="4689446"/>
            <a:ext cx="1677644"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WHOIS data</a:t>
            </a:r>
            <a:endParaRPr lang="zh-CN" altLang="en-US" dirty="0">
              <a:latin typeface="微软雅黑" panose="020B0503020204020204" pitchFamily="34" charset="-122"/>
              <a:ea typeface="微软雅黑" panose="020B0503020204020204" pitchFamily="34" charset="-122"/>
            </a:endParaRPr>
          </a:p>
        </p:txBody>
      </p:sp>
      <p:pic>
        <p:nvPicPr>
          <p:cNvPr id="56" name="图形 55" descr="文凭卷筒 纯色填充">
            <a:extLst>
              <a:ext uri="{FF2B5EF4-FFF2-40B4-BE49-F238E27FC236}">
                <a16:creationId xmlns:a16="http://schemas.microsoft.com/office/drawing/2014/main" id="{0225F665-2E04-2181-90AA-87C0870F279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716433" y="5220774"/>
            <a:ext cx="580938" cy="580938"/>
          </a:xfrm>
          <a:prstGeom prst="rect">
            <a:avLst/>
          </a:prstGeom>
        </p:spPr>
      </p:pic>
      <p:sp>
        <p:nvSpPr>
          <p:cNvPr id="57" name="文本框 56">
            <a:extLst>
              <a:ext uri="{FF2B5EF4-FFF2-40B4-BE49-F238E27FC236}">
                <a16:creationId xmlns:a16="http://schemas.microsoft.com/office/drawing/2014/main" id="{67189242-1FF4-E795-9ACA-89BA099BA612}"/>
              </a:ext>
            </a:extLst>
          </p:cNvPr>
          <p:cNvSpPr txBox="1"/>
          <p:nvPr/>
        </p:nvSpPr>
        <p:spPr>
          <a:xfrm>
            <a:off x="7392797" y="5299021"/>
            <a:ext cx="1677644"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Certificates</a:t>
            </a:r>
            <a:endParaRPr lang="zh-CN" altLang="en-US" dirty="0">
              <a:latin typeface="微软雅黑" panose="020B0503020204020204" pitchFamily="34" charset="-122"/>
              <a:ea typeface="微软雅黑" panose="020B0503020204020204" pitchFamily="34" charset="-122"/>
            </a:endParaRPr>
          </a:p>
        </p:txBody>
      </p:sp>
      <p:sp>
        <p:nvSpPr>
          <p:cNvPr id="58" name="矩形 57">
            <a:extLst>
              <a:ext uri="{FF2B5EF4-FFF2-40B4-BE49-F238E27FC236}">
                <a16:creationId xmlns:a16="http://schemas.microsoft.com/office/drawing/2014/main" id="{75D8530A-5B3D-C780-1DB2-C778071B83B1}"/>
              </a:ext>
            </a:extLst>
          </p:cNvPr>
          <p:cNvSpPr/>
          <p:nvPr/>
        </p:nvSpPr>
        <p:spPr>
          <a:xfrm>
            <a:off x="3034685" y="3449810"/>
            <a:ext cx="492443" cy="923330"/>
          </a:xfrm>
          <a:prstGeom prst="rect">
            <a:avLst/>
          </a:prstGeom>
          <a:noFill/>
        </p:spPr>
        <p:txBody>
          <a:bodyPr wrap="none" lIns="91440" tIns="45720" rIns="91440" bIns="45720">
            <a:spAutoFit/>
          </a:bodyPr>
          <a:lstStyle/>
          <a:p>
            <a:pPr algn="ctr"/>
            <a:r>
              <a:rPr lang="en-US" altLang="zh-CN" sz="5400" b="1" cap="none" spc="0" dirty="0">
                <a:ln w="22225">
                  <a:solidFill>
                    <a:schemeClr val="accent2"/>
                  </a:solidFill>
                  <a:prstDash val="solid"/>
                </a:ln>
                <a:solidFill>
                  <a:schemeClr val="accent2">
                    <a:lumMod val="40000"/>
                    <a:lumOff val="60000"/>
                  </a:schemeClr>
                </a:solidFill>
                <a:effectLst/>
              </a:rPr>
              <a:t>?</a:t>
            </a:r>
            <a:endParaRPr lang="zh-CN" altLang="en-US" sz="5400" b="1" cap="none" spc="0" dirty="0">
              <a:ln w="22225">
                <a:solidFill>
                  <a:schemeClr val="accent2"/>
                </a:solidFill>
                <a:prstDash val="solid"/>
              </a:ln>
              <a:solidFill>
                <a:schemeClr val="accent2">
                  <a:lumMod val="40000"/>
                  <a:lumOff val="60000"/>
                </a:schemeClr>
              </a:solidFill>
              <a:effectLst/>
            </a:endParaRPr>
          </a:p>
        </p:txBody>
      </p:sp>
      <p:sp>
        <p:nvSpPr>
          <p:cNvPr id="59" name="矩形 58">
            <a:extLst>
              <a:ext uri="{FF2B5EF4-FFF2-40B4-BE49-F238E27FC236}">
                <a16:creationId xmlns:a16="http://schemas.microsoft.com/office/drawing/2014/main" id="{D666B6FE-166E-49CA-2127-C244B0372BB4}"/>
              </a:ext>
            </a:extLst>
          </p:cNvPr>
          <p:cNvSpPr/>
          <p:nvPr/>
        </p:nvSpPr>
        <p:spPr>
          <a:xfrm>
            <a:off x="503722" y="4458613"/>
            <a:ext cx="5486018" cy="830997"/>
          </a:xfrm>
          <a:prstGeom prst="rect">
            <a:avLst/>
          </a:prstGeom>
          <a:noFill/>
        </p:spPr>
        <p:txBody>
          <a:bodyPr wrap="square" lIns="91440" tIns="45720" rIns="91440" bIns="45720">
            <a:spAutoFit/>
          </a:bodyPr>
          <a:lstStyle/>
          <a:p>
            <a:pPr algn="ctr"/>
            <a:r>
              <a:rPr lang="en-US" altLang="zh-CN" sz="2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T</a:t>
            </a:r>
            <a:r>
              <a:rPr lang="en-US" altLang="zh-CN" sz="2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extual Pattern Similarity</a:t>
            </a:r>
          </a:p>
          <a:p>
            <a:pPr algn="ctr"/>
            <a:r>
              <a:rPr lang="en-US" altLang="zh-CN" sz="2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Co-hosting Similarity</a:t>
            </a:r>
            <a:endParaRPr lang="zh-CN" altLang="en-US" sz="2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endParaRPr>
          </a:p>
        </p:txBody>
      </p:sp>
      <p:pic>
        <p:nvPicPr>
          <p:cNvPr id="1026" name="图形 1025" descr="竖起的大拇指手势 纯色填充">
            <a:extLst>
              <a:ext uri="{FF2B5EF4-FFF2-40B4-BE49-F238E27FC236}">
                <a16:creationId xmlns:a16="http://schemas.microsoft.com/office/drawing/2014/main" id="{BB7BCE19-B8AE-D55D-8918-DA09EE683CB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879407" y="5160521"/>
            <a:ext cx="646331" cy="646331"/>
          </a:xfrm>
          <a:prstGeom prst="rect">
            <a:avLst/>
          </a:prstGeom>
        </p:spPr>
      </p:pic>
    </p:spTree>
    <p:extLst>
      <p:ext uri="{BB962C8B-B14F-4D97-AF65-F5344CB8AC3E}">
        <p14:creationId xmlns:p14="http://schemas.microsoft.com/office/powerpoint/2010/main" val="80723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anim calcmode="lin" valueType="num">
                                      <p:cBhvr additive="base">
                                        <p:cTn id="23" dur="500" fill="hold"/>
                                        <p:tgtEl>
                                          <p:spTgt spid="33"/>
                                        </p:tgtEl>
                                        <p:attrNameLst>
                                          <p:attrName>ppt_x</p:attrName>
                                        </p:attrNameLst>
                                      </p:cBhvr>
                                      <p:tavLst>
                                        <p:tav tm="0">
                                          <p:val>
                                            <p:strVal val="#ppt_x"/>
                                          </p:val>
                                        </p:tav>
                                        <p:tav tm="100000">
                                          <p:val>
                                            <p:strVal val="#ppt_x"/>
                                          </p:val>
                                        </p:tav>
                                      </p:tavLst>
                                    </p:anim>
                                    <p:anim calcmode="lin" valueType="num">
                                      <p:cBhvr additive="base">
                                        <p:cTn id="24" dur="500" fill="hold"/>
                                        <p:tgtEl>
                                          <p:spTgt spid="3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additive="base">
                                        <p:cTn id="27" dur="500" fill="hold"/>
                                        <p:tgtEl>
                                          <p:spTgt spid="34"/>
                                        </p:tgtEl>
                                        <p:attrNameLst>
                                          <p:attrName>ppt_x</p:attrName>
                                        </p:attrNameLst>
                                      </p:cBhvr>
                                      <p:tavLst>
                                        <p:tav tm="0">
                                          <p:val>
                                            <p:strVal val="#ppt_x"/>
                                          </p:val>
                                        </p:tav>
                                        <p:tav tm="100000">
                                          <p:val>
                                            <p:strVal val="#ppt_x"/>
                                          </p:val>
                                        </p:tav>
                                      </p:tavLst>
                                    </p:anim>
                                    <p:anim calcmode="lin" valueType="num">
                                      <p:cBhvr additive="base">
                                        <p:cTn id="28" dur="500" fill="hold"/>
                                        <p:tgtEl>
                                          <p:spTgt spid="3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500" fill="hold"/>
                                        <p:tgtEl>
                                          <p:spTgt spid="37"/>
                                        </p:tgtEl>
                                        <p:attrNameLst>
                                          <p:attrName>ppt_x</p:attrName>
                                        </p:attrNameLst>
                                      </p:cBhvr>
                                      <p:tavLst>
                                        <p:tav tm="0">
                                          <p:val>
                                            <p:strVal val="#ppt_x"/>
                                          </p:val>
                                        </p:tav>
                                        <p:tav tm="100000">
                                          <p:val>
                                            <p:strVal val="#ppt_x"/>
                                          </p:val>
                                        </p:tav>
                                      </p:tavLst>
                                    </p:anim>
                                    <p:anim calcmode="lin" valueType="num">
                                      <p:cBhvr additive="base">
                                        <p:cTn id="32" dur="500" fill="hold"/>
                                        <p:tgtEl>
                                          <p:spTgt spid="3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anim calcmode="lin" valueType="num">
                                      <p:cBhvr additive="base">
                                        <p:cTn id="35" dur="500" fill="hold"/>
                                        <p:tgtEl>
                                          <p:spTgt spid="38"/>
                                        </p:tgtEl>
                                        <p:attrNameLst>
                                          <p:attrName>ppt_x</p:attrName>
                                        </p:attrNameLst>
                                      </p:cBhvr>
                                      <p:tavLst>
                                        <p:tav tm="0">
                                          <p:val>
                                            <p:strVal val="#ppt_x"/>
                                          </p:val>
                                        </p:tav>
                                        <p:tav tm="100000">
                                          <p:val>
                                            <p:strVal val="#ppt_x"/>
                                          </p:val>
                                        </p:tav>
                                      </p:tavLst>
                                    </p:anim>
                                    <p:anim calcmode="lin" valueType="num">
                                      <p:cBhvr additive="base">
                                        <p:cTn id="36" dur="500" fill="hold"/>
                                        <p:tgtEl>
                                          <p:spTgt spid="38"/>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500" fill="hold"/>
                                        <p:tgtEl>
                                          <p:spTgt spid="39"/>
                                        </p:tgtEl>
                                        <p:attrNameLst>
                                          <p:attrName>ppt_x</p:attrName>
                                        </p:attrNameLst>
                                      </p:cBhvr>
                                      <p:tavLst>
                                        <p:tav tm="0">
                                          <p:val>
                                            <p:strVal val="#ppt_x"/>
                                          </p:val>
                                        </p:tav>
                                        <p:tav tm="100000">
                                          <p:val>
                                            <p:strVal val="#ppt_x"/>
                                          </p:val>
                                        </p:tav>
                                      </p:tavLst>
                                    </p:anim>
                                    <p:anim calcmode="lin" valueType="num">
                                      <p:cBhvr additive="base">
                                        <p:cTn id="40" dur="500" fill="hold"/>
                                        <p:tgtEl>
                                          <p:spTgt spid="3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anim calcmode="lin" valueType="num">
                                      <p:cBhvr additive="base">
                                        <p:cTn id="43" dur="500" fill="hold"/>
                                        <p:tgtEl>
                                          <p:spTgt spid="40"/>
                                        </p:tgtEl>
                                        <p:attrNameLst>
                                          <p:attrName>ppt_x</p:attrName>
                                        </p:attrNameLst>
                                      </p:cBhvr>
                                      <p:tavLst>
                                        <p:tav tm="0">
                                          <p:val>
                                            <p:strVal val="#ppt_x"/>
                                          </p:val>
                                        </p:tav>
                                        <p:tav tm="100000">
                                          <p:val>
                                            <p:strVal val="#ppt_x"/>
                                          </p:val>
                                        </p:tav>
                                      </p:tavLst>
                                    </p:anim>
                                    <p:anim calcmode="lin" valueType="num">
                                      <p:cBhvr additive="base">
                                        <p:cTn id="44" dur="500" fill="hold"/>
                                        <p:tgtEl>
                                          <p:spTgt spid="40"/>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2"/>
                                        </p:tgtEl>
                                        <p:attrNameLst>
                                          <p:attrName>style.visibility</p:attrName>
                                        </p:attrNameLst>
                                      </p:cBhvr>
                                      <p:to>
                                        <p:strVal val="visible"/>
                                      </p:to>
                                    </p:set>
                                    <p:anim calcmode="lin" valueType="num">
                                      <p:cBhvr additive="base">
                                        <p:cTn id="47" dur="500" fill="hold"/>
                                        <p:tgtEl>
                                          <p:spTgt spid="42"/>
                                        </p:tgtEl>
                                        <p:attrNameLst>
                                          <p:attrName>ppt_x</p:attrName>
                                        </p:attrNameLst>
                                      </p:cBhvr>
                                      <p:tavLst>
                                        <p:tav tm="0">
                                          <p:val>
                                            <p:strVal val="#ppt_x"/>
                                          </p:val>
                                        </p:tav>
                                        <p:tav tm="100000">
                                          <p:val>
                                            <p:strVal val="#ppt_x"/>
                                          </p:val>
                                        </p:tav>
                                      </p:tavLst>
                                    </p:anim>
                                    <p:anim calcmode="lin" valueType="num">
                                      <p:cBhvr additive="base">
                                        <p:cTn id="48" dur="500" fill="hold"/>
                                        <p:tgtEl>
                                          <p:spTgt spid="42"/>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6"/>
                                        </p:tgtEl>
                                        <p:attrNameLst>
                                          <p:attrName>style.visibility</p:attrName>
                                        </p:attrNameLst>
                                      </p:cBhvr>
                                      <p:to>
                                        <p:strVal val="visible"/>
                                      </p:to>
                                    </p:set>
                                    <p:anim calcmode="lin" valueType="num">
                                      <p:cBhvr additive="base">
                                        <p:cTn id="51" dur="500" fill="hold"/>
                                        <p:tgtEl>
                                          <p:spTgt spid="46"/>
                                        </p:tgtEl>
                                        <p:attrNameLst>
                                          <p:attrName>ppt_x</p:attrName>
                                        </p:attrNameLst>
                                      </p:cBhvr>
                                      <p:tavLst>
                                        <p:tav tm="0">
                                          <p:val>
                                            <p:strVal val="#ppt_x"/>
                                          </p:val>
                                        </p:tav>
                                        <p:tav tm="100000">
                                          <p:val>
                                            <p:strVal val="#ppt_x"/>
                                          </p:val>
                                        </p:tav>
                                      </p:tavLst>
                                    </p:anim>
                                    <p:anim calcmode="lin" valueType="num">
                                      <p:cBhvr additive="base">
                                        <p:cTn id="52" dur="500" fill="hold"/>
                                        <p:tgtEl>
                                          <p:spTgt spid="46"/>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8"/>
                                        </p:tgtEl>
                                        <p:attrNameLst>
                                          <p:attrName>style.visibility</p:attrName>
                                        </p:attrNameLst>
                                      </p:cBhvr>
                                      <p:to>
                                        <p:strVal val="visible"/>
                                      </p:to>
                                    </p:set>
                                    <p:anim calcmode="lin" valueType="num">
                                      <p:cBhvr additive="base">
                                        <p:cTn id="55" dur="500" fill="hold"/>
                                        <p:tgtEl>
                                          <p:spTgt spid="48"/>
                                        </p:tgtEl>
                                        <p:attrNameLst>
                                          <p:attrName>ppt_x</p:attrName>
                                        </p:attrNameLst>
                                      </p:cBhvr>
                                      <p:tavLst>
                                        <p:tav tm="0">
                                          <p:val>
                                            <p:strVal val="#ppt_x"/>
                                          </p:val>
                                        </p:tav>
                                        <p:tav tm="100000">
                                          <p:val>
                                            <p:strVal val="#ppt_x"/>
                                          </p:val>
                                        </p:tav>
                                      </p:tavLst>
                                    </p:anim>
                                    <p:anim calcmode="lin" valueType="num">
                                      <p:cBhvr additive="base">
                                        <p:cTn id="56" dur="500" fill="hold"/>
                                        <p:tgtEl>
                                          <p:spTgt spid="4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9"/>
                                        </p:tgtEl>
                                        <p:attrNameLst>
                                          <p:attrName>style.visibility</p:attrName>
                                        </p:attrNameLst>
                                      </p:cBhvr>
                                      <p:to>
                                        <p:strVal val="visible"/>
                                      </p:to>
                                    </p:set>
                                    <p:anim calcmode="lin" valueType="num">
                                      <p:cBhvr additive="base">
                                        <p:cTn id="59" dur="500" fill="hold"/>
                                        <p:tgtEl>
                                          <p:spTgt spid="49"/>
                                        </p:tgtEl>
                                        <p:attrNameLst>
                                          <p:attrName>ppt_x</p:attrName>
                                        </p:attrNameLst>
                                      </p:cBhvr>
                                      <p:tavLst>
                                        <p:tav tm="0">
                                          <p:val>
                                            <p:strVal val="#ppt_x"/>
                                          </p:val>
                                        </p:tav>
                                        <p:tav tm="100000">
                                          <p:val>
                                            <p:strVal val="#ppt_x"/>
                                          </p:val>
                                        </p:tav>
                                      </p:tavLst>
                                    </p:anim>
                                    <p:anim calcmode="lin" valueType="num">
                                      <p:cBhvr additive="base">
                                        <p:cTn id="60"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52"/>
                                        </p:tgtEl>
                                        <p:attrNameLst>
                                          <p:attrName>style.visibility</p:attrName>
                                        </p:attrNameLst>
                                      </p:cBhvr>
                                      <p:to>
                                        <p:strVal val="visible"/>
                                      </p:to>
                                    </p:set>
                                    <p:anim calcmode="lin" valueType="num">
                                      <p:cBhvr additive="base">
                                        <p:cTn id="65" dur="500" fill="hold"/>
                                        <p:tgtEl>
                                          <p:spTgt spid="52"/>
                                        </p:tgtEl>
                                        <p:attrNameLst>
                                          <p:attrName>ppt_x</p:attrName>
                                        </p:attrNameLst>
                                      </p:cBhvr>
                                      <p:tavLst>
                                        <p:tav tm="0">
                                          <p:val>
                                            <p:strVal val="#ppt_x"/>
                                          </p:val>
                                        </p:tav>
                                        <p:tav tm="100000">
                                          <p:val>
                                            <p:strVal val="#ppt_x"/>
                                          </p:val>
                                        </p:tav>
                                      </p:tavLst>
                                    </p:anim>
                                    <p:anim calcmode="lin" valueType="num">
                                      <p:cBhvr additive="base">
                                        <p:cTn id="66" dur="500" fill="hold"/>
                                        <p:tgtEl>
                                          <p:spTgt spid="52"/>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51"/>
                                        </p:tgtEl>
                                        <p:attrNameLst>
                                          <p:attrName>style.visibility</p:attrName>
                                        </p:attrNameLst>
                                      </p:cBhvr>
                                      <p:to>
                                        <p:strVal val="visible"/>
                                      </p:to>
                                    </p:set>
                                    <p:anim calcmode="lin" valueType="num">
                                      <p:cBhvr additive="base">
                                        <p:cTn id="69" dur="500" fill="hold"/>
                                        <p:tgtEl>
                                          <p:spTgt spid="51"/>
                                        </p:tgtEl>
                                        <p:attrNameLst>
                                          <p:attrName>ppt_x</p:attrName>
                                        </p:attrNameLst>
                                      </p:cBhvr>
                                      <p:tavLst>
                                        <p:tav tm="0">
                                          <p:val>
                                            <p:strVal val="#ppt_x"/>
                                          </p:val>
                                        </p:tav>
                                        <p:tav tm="100000">
                                          <p:val>
                                            <p:strVal val="#ppt_x"/>
                                          </p:val>
                                        </p:tav>
                                      </p:tavLst>
                                    </p:anim>
                                    <p:anim calcmode="lin" valueType="num">
                                      <p:cBhvr additive="base">
                                        <p:cTn id="70" dur="500" fill="hold"/>
                                        <p:tgtEl>
                                          <p:spTgt spid="51"/>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53"/>
                                        </p:tgtEl>
                                        <p:attrNameLst>
                                          <p:attrName>style.visibility</p:attrName>
                                        </p:attrNameLst>
                                      </p:cBhvr>
                                      <p:to>
                                        <p:strVal val="visible"/>
                                      </p:to>
                                    </p:set>
                                    <p:anim calcmode="lin" valueType="num">
                                      <p:cBhvr additive="base">
                                        <p:cTn id="73" dur="500" fill="hold"/>
                                        <p:tgtEl>
                                          <p:spTgt spid="53"/>
                                        </p:tgtEl>
                                        <p:attrNameLst>
                                          <p:attrName>ppt_x</p:attrName>
                                        </p:attrNameLst>
                                      </p:cBhvr>
                                      <p:tavLst>
                                        <p:tav tm="0">
                                          <p:val>
                                            <p:strVal val="#ppt_x"/>
                                          </p:val>
                                        </p:tav>
                                        <p:tav tm="100000">
                                          <p:val>
                                            <p:strVal val="#ppt_x"/>
                                          </p:val>
                                        </p:tav>
                                      </p:tavLst>
                                    </p:anim>
                                    <p:anim calcmode="lin" valueType="num">
                                      <p:cBhvr additive="base">
                                        <p:cTn id="74" dur="500" fill="hold"/>
                                        <p:tgtEl>
                                          <p:spTgt spid="53"/>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57"/>
                                        </p:tgtEl>
                                        <p:attrNameLst>
                                          <p:attrName>style.visibility</p:attrName>
                                        </p:attrNameLst>
                                      </p:cBhvr>
                                      <p:to>
                                        <p:strVal val="visible"/>
                                      </p:to>
                                    </p:set>
                                    <p:anim calcmode="lin" valueType="num">
                                      <p:cBhvr additive="base">
                                        <p:cTn id="77" dur="500" fill="hold"/>
                                        <p:tgtEl>
                                          <p:spTgt spid="57"/>
                                        </p:tgtEl>
                                        <p:attrNameLst>
                                          <p:attrName>ppt_x</p:attrName>
                                        </p:attrNameLst>
                                      </p:cBhvr>
                                      <p:tavLst>
                                        <p:tav tm="0">
                                          <p:val>
                                            <p:strVal val="#ppt_x"/>
                                          </p:val>
                                        </p:tav>
                                        <p:tav tm="100000">
                                          <p:val>
                                            <p:strVal val="#ppt_x"/>
                                          </p:val>
                                        </p:tav>
                                      </p:tavLst>
                                    </p:anim>
                                    <p:anim calcmode="lin" valueType="num">
                                      <p:cBhvr additive="base">
                                        <p:cTn id="78" dur="500" fill="hold"/>
                                        <p:tgtEl>
                                          <p:spTgt spid="57"/>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56"/>
                                        </p:tgtEl>
                                        <p:attrNameLst>
                                          <p:attrName>style.visibility</p:attrName>
                                        </p:attrNameLst>
                                      </p:cBhvr>
                                      <p:to>
                                        <p:strVal val="visible"/>
                                      </p:to>
                                    </p:set>
                                    <p:anim calcmode="lin" valueType="num">
                                      <p:cBhvr additive="base">
                                        <p:cTn id="81" dur="500" fill="hold"/>
                                        <p:tgtEl>
                                          <p:spTgt spid="56"/>
                                        </p:tgtEl>
                                        <p:attrNameLst>
                                          <p:attrName>ppt_x</p:attrName>
                                        </p:attrNameLst>
                                      </p:cBhvr>
                                      <p:tavLst>
                                        <p:tav tm="0">
                                          <p:val>
                                            <p:strVal val="#ppt_x"/>
                                          </p:val>
                                        </p:tav>
                                        <p:tav tm="100000">
                                          <p:val>
                                            <p:strVal val="#ppt_x"/>
                                          </p:val>
                                        </p:tav>
                                      </p:tavLst>
                                    </p:anim>
                                    <p:anim calcmode="lin" valueType="num">
                                      <p:cBhvr additive="base">
                                        <p:cTn id="82"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58"/>
                                        </p:tgtEl>
                                        <p:attrNameLst>
                                          <p:attrName>style.visibility</p:attrName>
                                        </p:attrNameLst>
                                      </p:cBhvr>
                                      <p:to>
                                        <p:strVal val="visible"/>
                                      </p:to>
                                    </p:set>
                                    <p:anim calcmode="lin" valueType="num">
                                      <p:cBhvr additive="base">
                                        <p:cTn id="87" dur="500" fill="hold"/>
                                        <p:tgtEl>
                                          <p:spTgt spid="58"/>
                                        </p:tgtEl>
                                        <p:attrNameLst>
                                          <p:attrName>ppt_x</p:attrName>
                                        </p:attrNameLst>
                                      </p:cBhvr>
                                      <p:tavLst>
                                        <p:tav tm="0">
                                          <p:val>
                                            <p:strVal val="#ppt_x"/>
                                          </p:val>
                                        </p:tav>
                                        <p:tav tm="100000">
                                          <p:val>
                                            <p:strVal val="#ppt_x"/>
                                          </p:val>
                                        </p:tav>
                                      </p:tavLst>
                                    </p:anim>
                                    <p:anim calcmode="lin" valueType="num">
                                      <p:cBhvr additive="base">
                                        <p:cTn id="88"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59"/>
                                        </p:tgtEl>
                                        <p:attrNameLst>
                                          <p:attrName>style.visibility</p:attrName>
                                        </p:attrNameLst>
                                      </p:cBhvr>
                                      <p:to>
                                        <p:strVal val="visible"/>
                                      </p:to>
                                    </p:set>
                                    <p:anim calcmode="lin" valueType="num">
                                      <p:cBhvr additive="base">
                                        <p:cTn id="93" dur="500" fill="hold"/>
                                        <p:tgtEl>
                                          <p:spTgt spid="59"/>
                                        </p:tgtEl>
                                        <p:attrNameLst>
                                          <p:attrName>ppt_x</p:attrName>
                                        </p:attrNameLst>
                                      </p:cBhvr>
                                      <p:tavLst>
                                        <p:tav tm="0">
                                          <p:val>
                                            <p:strVal val="#ppt_x"/>
                                          </p:val>
                                        </p:tav>
                                        <p:tav tm="100000">
                                          <p:val>
                                            <p:strVal val="#ppt_x"/>
                                          </p:val>
                                        </p:tav>
                                      </p:tavLst>
                                    </p:anim>
                                    <p:anim calcmode="lin" valueType="num">
                                      <p:cBhvr additive="base">
                                        <p:cTn id="94" dur="500" fill="hold"/>
                                        <p:tgtEl>
                                          <p:spTgt spid="59"/>
                                        </p:tgtEl>
                                        <p:attrNameLst>
                                          <p:attrName>ppt_y</p:attrName>
                                        </p:attrNameLst>
                                      </p:cBhvr>
                                      <p:tavLst>
                                        <p:tav tm="0">
                                          <p:val>
                                            <p:strVal val="1+#ppt_h/2"/>
                                          </p:val>
                                        </p:tav>
                                        <p:tav tm="100000">
                                          <p:val>
                                            <p:strVal val="#ppt_y"/>
                                          </p:val>
                                        </p:tav>
                                      </p:tavLst>
                                    </p:anim>
                                  </p:childTnLst>
                                </p:cTn>
                              </p:par>
                            </p:childTnLst>
                          </p:cTn>
                        </p:par>
                        <p:par>
                          <p:cTn id="95" fill="hold">
                            <p:stCondLst>
                              <p:cond delay="500"/>
                            </p:stCondLst>
                            <p:childTnLst>
                              <p:par>
                                <p:cTn id="96" presetID="2" presetClass="entr" presetSubtype="4" fill="hold" nodeType="afterEffect">
                                  <p:stCondLst>
                                    <p:cond delay="0"/>
                                  </p:stCondLst>
                                  <p:childTnLst>
                                    <p:set>
                                      <p:cBhvr>
                                        <p:cTn id="97" dur="1" fill="hold">
                                          <p:stCondLst>
                                            <p:cond delay="0"/>
                                          </p:stCondLst>
                                        </p:cTn>
                                        <p:tgtEl>
                                          <p:spTgt spid="1026"/>
                                        </p:tgtEl>
                                        <p:attrNameLst>
                                          <p:attrName>style.visibility</p:attrName>
                                        </p:attrNameLst>
                                      </p:cBhvr>
                                      <p:to>
                                        <p:strVal val="visible"/>
                                      </p:to>
                                    </p:set>
                                    <p:anim calcmode="lin" valueType="num">
                                      <p:cBhvr additive="base">
                                        <p:cTn id="98" dur="500" fill="hold"/>
                                        <p:tgtEl>
                                          <p:spTgt spid="1026"/>
                                        </p:tgtEl>
                                        <p:attrNameLst>
                                          <p:attrName>ppt_x</p:attrName>
                                        </p:attrNameLst>
                                      </p:cBhvr>
                                      <p:tavLst>
                                        <p:tav tm="0">
                                          <p:val>
                                            <p:strVal val="#ppt_x"/>
                                          </p:val>
                                        </p:tav>
                                        <p:tav tm="100000">
                                          <p:val>
                                            <p:strVal val="#ppt_x"/>
                                          </p:val>
                                        </p:tav>
                                      </p:tavLst>
                                    </p:anim>
                                    <p:anim calcmode="lin" valueType="num">
                                      <p:cBhvr additive="base">
                                        <p:cTn id="99"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9" grpId="0" animBg="1"/>
      <p:bldP spid="30" grpId="0"/>
      <p:bldP spid="38" grpId="0"/>
      <p:bldP spid="39" grpId="0" animBg="1"/>
      <p:bldP spid="40" grpId="0"/>
      <p:bldP spid="49" grpId="0"/>
      <p:bldP spid="52" grpId="0" animBg="1"/>
      <p:bldP spid="53" grpId="0"/>
      <p:bldP spid="57" grpId="0"/>
      <p:bldP spid="58" grpId="0"/>
      <p:bldP spid="5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0" y="184298"/>
            <a:ext cx="6097314" cy="646331"/>
          </a:xfrm>
          <a:prstGeom prst="rect">
            <a:avLst/>
          </a:prstGeom>
          <a:noFill/>
        </p:spPr>
        <p:txBody>
          <a:bodyPr wrap="square">
            <a:spAutoFit/>
          </a:bodyPr>
          <a:lstStyle/>
          <a:p>
            <a:r>
              <a:rPr lang="en-US" altLang="zh-CN" sz="3600" b="1" i="0" dirty="0">
                <a:solidFill>
                  <a:schemeClr val="bg1"/>
                </a:solidFill>
                <a:effectLst/>
                <a:latin typeface="HelveticaNeue-Bold"/>
              </a:rPr>
              <a:t>Textual Pattern Similarity</a:t>
            </a: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B27B7908-1B2D-010A-85B9-F5902DE938CF}"/>
              </a:ext>
            </a:extLst>
          </p:cNvPr>
          <p:cNvSpPr txBox="1"/>
          <p:nvPr/>
        </p:nvSpPr>
        <p:spPr>
          <a:xfrm>
            <a:off x="237997" y="3732854"/>
            <a:ext cx="5784209"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We define NS1 and NS2 are similar if and only if</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9A4516E0-4BFB-3C40-1170-FF877994A1F3}"/>
              </a:ext>
            </a:extLst>
          </p:cNvPr>
          <p:cNvSpPr/>
          <p:nvPr/>
        </p:nvSpPr>
        <p:spPr>
          <a:xfrm>
            <a:off x="747235" y="2064100"/>
            <a:ext cx="1022466" cy="708728"/>
          </a:xfrm>
          <a:prstGeom prst="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cxnSp>
        <p:nvCxnSpPr>
          <p:cNvPr id="5" name="直接箭头连接符 4">
            <a:extLst>
              <a:ext uri="{FF2B5EF4-FFF2-40B4-BE49-F238E27FC236}">
                <a16:creationId xmlns:a16="http://schemas.microsoft.com/office/drawing/2014/main" id="{DBFEC9DD-D897-FA88-2784-3FFE0A35A104}"/>
              </a:ext>
            </a:extLst>
          </p:cNvPr>
          <p:cNvCxnSpPr>
            <a:cxnSpLocks/>
          </p:cNvCxnSpPr>
          <p:nvPr/>
        </p:nvCxnSpPr>
        <p:spPr>
          <a:xfrm>
            <a:off x="1258468" y="2854574"/>
            <a:ext cx="0" cy="37407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550473E4-1679-D1B5-C1BE-EF4BB03B2F9E}"/>
              </a:ext>
            </a:extLst>
          </p:cNvPr>
          <p:cNvSpPr txBox="1"/>
          <p:nvPr/>
        </p:nvSpPr>
        <p:spPr>
          <a:xfrm>
            <a:off x="614702" y="3196685"/>
            <a:ext cx="1532792" cy="369332"/>
          </a:xfrm>
          <a:prstGeom prst="rect">
            <a:avLst/>
          </a:prstGeom>
          <a:noFill/>
        </p:spPr>
        <p:txBody>
          <a:bodyPr wrap="non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subdomains</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3D11B490-11FB-DFF5-F1B8-49F063CAABAE}"/>
              </a:ext>
            </a:extLst>
          </p:cNvPr>
          <p:cNvSpPr/>
          <p:nvPr/>
        </p:nvSpPr>
        <p:spPr>
          <a:xfrm>
            <a:off x="1827889" y="2064100"/>
            <a:ext cx="1419659" cy="708728"/>
          </a:xfrm>
          <a:prstGeom prst="rect">
            <a:avLst/>
          </a:prstGeom>
          <a:noFill/>
          <a:ln w="28575">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00B050"/>
              </a:solidFill>
            </a:endParaRPr>
          </a:p>
        </p:txBody>
      </p:sp>
      <p:cxnSp>
        <p:nvCxnSpPr>
          <p:cNvPr id="8" name="直接箭头连接符 7">
            <a:extLst>
              <a:ext uri="{FF2B5EF4-FFF2-40B4-BE49-F238E27FC236}">
                <a16:creationId xmlns:a16="http://schemas.microsoft.com/office/drawing/2014/main" id="{2CDA85EB-46DB-ED5D-320D-33DD8702F939}"/>
              </a:ext>
            </a:extLst>
          </p:cNvPr>
          <p:cNvCxnSpPr>
            <a:cxnSpLocks/>
          </p:cNvCxnSpPr>
          <p:nvPr/>
        </p:nvCxnSpPr>
        <p:spPr>
          <a:xfrm>
            <a:off x="2488750" y="2854574"/>
            <a:ext cx="0" cy="374073"/>
          </a:xfrm>
          <a:prstGeom prst="straightConnector1">
            <a:avLst/>
          </a:prstGeom>
          <a:ln w="57150">
            <a:solidFill>
              <a:srgbClr val="005BAC"/>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15A1B323-E208-4212-ED69-222DEF65C980}"/>
              </a:ext>
            </a:extLst>
          </p:cNvPr>
          <p:cNvSpPr txBox="1"/>
          <p:nvPr/>
        </p:nvSpPr>
        <p:spPr>
          <a:xfrm>
            <a:off x="2195390" y="3196685"/>
            <a:ext cx="695960" cy="369332"/>
          </a:xfrm>
          <a:prstGeom prst="rect">
            <a:avLst/>
          </a:prstGeom>
          <a:noFill/>
        </p:spPr>
        <p:txBody>
          <a:bodyPr wrap="none" rtlCol="0">
            <a:spAutoFit/>
          </a:bodyPr>
          <a:lstStyle/>
          <a:p>
            <a:r>
              <a:rPr lang="en-US" altLang="zh-CN" dirty="0">
                <a:solidFill>
                  <a:srgbClr val="005BAC"/>
                </a:solidFill>
                <a:latin typeface="微软雅黑" panose="020B0503020204020204" pitchFamily="34" charset="-122"/>
                <a:ea typeface="微软雅黑" panose="020B0503020204020204" pitchFamily="34" charset="-122"/>
              </a:rPr>
              <a:t>base</a:t>
            </a:r>
            <a:endParaRPr lang="zh-CN" altLang="en-US" dirty="0">
              <a:solidFill>
                <a:srgbClr val="005BAC"/>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D515B607-9FEA-C402-F4E4-F1AA7F8F0403}"/>
              </a:ext>
            </a:extLst>
          </p:cNvPr>
          <p:cNvSpPr/>
          <p:nvPr/>
        </p:nvSpPr>
        <p:spPr>
          <a:xfrm>
            <a:off x="3391395" y="2064100"/>
            <a:ext cx="687186" cy="708728"/>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00B050"/>
              </a:solidFill>
            </a:endParaRPr>
          </a:p>
        </p:txBody>
      </p:sp>
      <p:cxnSp>
        <p:nvCxnSpPr>
          <p:cNvPr id="11" name="直接箭头连接符 10">
            <a:extLst>
              <a:ext uri="{FF2B5EF4-FFF2-40B4-BE49-F238E27FC236}">
                <a16:creationId xmlns:a16="http://schemas.microsoft.com/office/drawing/2014/main" id="{F0A9809F-F9F1-7C41-EA2F-12B78325C734}"/>
              </a:ext>
            </a:extLst>
          </p:cNvPr>
          <p:cNvCxnSpPr>
            <a:cxnSpLocks/>
          </p:cNvCxnSpPr>
          <p:nvPr/>
        </p:nvCxnSpPr>
        <p:spPr>
          <a:xfrm>
            <a:off x="3739128" y="2854573"/>
            <a:ext cx="0" cy="374073"/>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D82F787E-6120-A9B6-FA31-49D06815832E}"/>
              </a:ext>
            </a:extLst>
          </p:cNvPr>
          <p:cNvSpPr txBox="1"/>
          <p:nvPr/>
        </p:nvSpPr>
        <p:spPr>
          <a:xfrm>
            <a:off x="3362931" y="3196685"/>
            <a:ext cx="744114" cy="369332"/>
          </a:xfrm>
          <a:prstGeom prst="rect">
            <a:avLst/>
          </a:prstGeom>
          <a:noFill/>
        </p:spPr>
        <p:txBody>
          <a:bodyPr wrap="none" rtlCol="0">
            <a:spAutoFit/>
          </a:bodyPr>
          <a:lstStyle/>
          <a:p>
            <a:r>
              <a:rPr lang="en-US" altLang="zh-CN" dirty="0" err="1">
                <a:solidFill>
                  <a:srgbClr val="00B050"/>
                </a:solidFill>
                <a:latin typeface="微软雅黑" panose="020B0503020204020204" pitchFamily="34" charset="-122"/>
                <a:ea typeface="微软雅黑" panose="020B0503020204020204" pitchFamily="34" charset="-122"/>
              </a:rPr>
              <a:t>eTLD</a:t>
            </a:r>
            <a:endParaRPr lang="zh-CN" altLang="en-US" dirty="0">
              <a:solidFill>
                <a:srgbClr val="00B050"/>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C0CF2582-7F1C-4C84-CB1A-47FC269AC74B}"/>
              </a:ext>
            </a:extLst>
          </p:cNvPr>
          <p:cNvSpPr/>
          <p:nvPr/>
        </p:nvSpPr>
        <p:spPr>
          <a:xfrm>
            <a:off x="1331990" y="1949877"/>
            <a:ext cx="1915558" cy="982291"/>
          </a:xfrm>
          <a:prstGeom prst="rect">
            <a:avLst/>
          </a:prstGeom>
          <a:noFill/>
          <a:ln w="3810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cxnSp>
        <p:nvCxnSpPr>
          <p:cNvPr id="15" name="直接箭头连接符 14">
            <a:extLst>
              <a:ext uri="{FF2B5EF4-FFF2-40B4-BE49-F238E27FC236}">
                <a16:creationId xmlns:a16="http://schemas.microsoft.com/office/drawing/2014/main" id="{0390F754-EB47-6C4B-B8BA-E6695D0A28B7}"/>
              </a:ext>
            </a:extLst>
          </p:cNvPr>
          <p:cNvCxnSpPr>
            <a:cxnSpLocks/>
          </p:cNvCxnSpPr>
          <p:nvPr/>
        </p:nvCxnSpPr>
        <p:spPr>
          <a:xfrm flipV="1">
            <a:off x="2286138" y="1509634"/>
            <a:ext cx="0" cy="35849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BB7DB146-BD9C-B5D6-0C7D-AF1D6703C47F}"/>
              </a:ext>
            </a:extLst>
          </p:cNvPr>
          <p:cNvSpPr txBox="1"/>
          <p:nvPr/>
        </p:nvSpPr>
        <p:spPr>
          <a:xfrm>
            <a:off x="1988620" y="1130848"/>
            <a:ext cx="663900" cy="369332"/>
          </a:xfrm>
          <a:prstGeom prst="rect">
            <a:avLst/>
          </a:prstGeom>
          <a:noFill/>
        </p:spPr>
        <p:txBody>
          <a:bodyPr wrap="none" rtlCol="0">
            <a:spAutoFit/>
          </a:bodyPr>
          <a:lstStyle/>
          <a:p>
            <a:r>
              <a:rPr lang="en-US" altLang="zh-CN" dirty="0">
                <a:solidFill>
                  <a:schemeClr val="accent2"/>
                </a:solidFill>
                <a:latin typeface="微软雅黑" panose="020B0503020204020204" pitchFamily="34" charset="-122"/>
                <a:ea typeface="微软雅黑" panose="020B0503020204020204" pitchFamily="34" charset="-122"/>
              </a:rPr>
              <a:t>core</a:t>
            </a:r>
            <a:endParaRPr lang="zh-CN" altLang="en-US" dirty="0">
              <a:solidFill>
                <a:schemeClr val="accent2"/>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697EF889-7535-3911-93AA-5B7D45D45E06}"/>
              </a:ext>
            </a:extLst>
          </p:cNvPr>
          <p:cNvSpPr txBox="1"/>
          <p:nvPr/>
        </p:nvSpPr>
        <p:spPr>
          <a:xfrm>
            <a:off x="614702" y="2119952"/>
            <a:ext cx="3607724" cy="584775"/>
          </a:xfrm>
          <a:prstGeom prst="rect">
            <a:avLst/>
          </a:prstGeom>
          <a:noFill/>
        </p:spPr>
        <p:txBody>
          <a:bodyPr wrap="square" rtlCol="0">
            <a:spAutoFit/>
          </a:bodyPr>
          <a:lstStyle/>
          <a:p>
            <a:r>
              <a:rPr lang="en-US" altLang="zh-CN" sz="3200" dirty="0"/>
              <a:t>a.b.ns.example.com</a:t>
            </a:r>
            <a:endParaRPr lang="zh-CN" altLang="en-US" sz="3200" dirty="0"/>
          </a:p>
        </p:txBody>
      </p:sp>
      <p:sp>
        <p:nvSpPr>
          <p:cNvPr id="18" name="文本框 17">
            <a:extLst>
              <a:ext uri="{FF2B5EF4-FFF2-40B4-BE49-F238E27FC236}">
                <a16:creationId xmlns:a16="http://schemas.microsoft.com/office/drawing/2014/main" id="{D6BDC190-DEB2-95F3-4285-3F8B0552A116}"/>
              </a:ext>
            </a:extLst>
          </p:cNvPr>
          <p:cNvSpPr txBox="1"/>
          <p:nvPr/>
        </p:nvSpPr>
        <p:spPr>
          <a:xfrm>
            <a:off x="6132352" y="3210433"/>
            <a:ext cx="579259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 The subdomains of NS1 and NS2 are the same</a:t>
            </a:r>
            <a:endParaRPr lang="zh-CN" altLang="en-US"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4733CDA8-ACDE-01F3-40B5-182E0E614783}"/>
              </a:ext>
            </a:extLst>
          </p:cNvPr>
          <p:cNvSpPr txBox="1"/>
          <p:nvPr/>
        </p:nvSpPr>
        <p:spPr>
          <a:xfrm>
            <a:off x="6095998" y="3732854"/>
            <a:ext cx="529982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(2) Cores of NS1 and NS2 are the same</a:t>
            </a:r>
            <a:endParaRPr lang="zh-CN" altLang="en-US"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E46D9547-6143-E1FE-5F01-6916C74E6F0C}"/>
              </a:ext>
            </a:extLst>
          </p:cNvPr>
          <p:cNvSpPr txBox="1"/>
          <p:nvPr/>
        </p:nvSpPr>
        <p:spPr>
          <a:xfrm>
            <a:off x="6132352" y="4255275"/>
            <a:ext cx="529982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(3) ETLDs are both in PSL</a:t>
            </a:r>
            <a:endParaRPr lang="zh-CN" altLang="en-US" dirty="0">
              <a:latin typeface="微软雅黑" panose="020B0503020204020204" pitchFamily="34" charset="-122"/>
              <a:ea typeface="微软雅黑" panose="020B0503020204020204" pitchFamily="34" charset="-122"/>
            </a:endParaRPr>
          </a:p>
        </p:txBody>
      </p:sp>
      <p:pic>
        <p:nvPicPr>
          <p:cNvPr id="22" name="图片 21">
            <a:extLst>
              <a:ext uri="{FF2B5EF4-FFF2-40B4-BE49-F238E27FC236}">
                <a16:creationId xmlns:a16="http://schemas.microsoft.com/office/drawing/2014/main" id="{F65DDC27-A71C-4343-E70E-4448AD1FA99B}"/>
              </a:ext>
            </a:extLst>
          </p:cNvPr>
          <p:cNvPicPr>
            <a:picLocks noChangeAspect="1"/>
          </p:cNvPicPr>
          <p:nvPr/>
        </p:nvPicPr>
        <p:blipFill>
          <a:blip r:embed="rId4"/>
          <a:stretch>
            <a:fillRect/>
          </a:stretch>
        </p:blipFill>
        <p:spPr>
          <a:xfrm>
            <a:off x="1652589" y="4562668"/>
            <a:ext cx="8739234" cy="2235618"/>
          </a:xfrm>
          <a:prstGeom prst="rect">
            <a:avLst/>
          </a:prstGeom>
        </p:spPr>
      </p:pic>
      <p:sp>
        <p:nvSpPr>
          <p:cNvPr id="23" name="矩形 22">
            <a:extLst>
              <a:ext uri="{FF2B5EF4-FFF2-40B4-BE49-F238E27FC236}">
                <a16:creationId xmlns:a16="http://schemas.microsoft.com/office/drawing/2014/main" id="{140AA772-6F2B-D6B5-D84F-8DFAB896FA31}"/>
              </a:ext>
            </a:extLst>
          </p:cNvPr>
          <p:cNvSpPr/>
          <p:nvPr/>
        </p:nvSpPr>
        <p:spPr>
          <a:xfrm>
            <a:off x="6884271" y="1274579"/>
            <a:ext cx="4511556" cy="584775"/>
          </a:xfrm>
          <a:prstGeom prst="rect">
            <a:avLst/>
          </a:prstGeom>
          <a:noFill/>
        </p:spPr>
        <p:txBody>
          <a:bodyPr wrap="none" lIns="91440" tIns="45720" rIns="91440" bIns="45720">
            <a:spAutoFit/>
          </a:bodyPr>
          <a:lstStyle/>
          <a:p>
            <a:pPr algn="ctr"/>
            <a:r>
              <a:rPr lang="en-US" altLang="zh-CN" sz="32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F</a:t>
            </a:r>
            <a:r>
              <a:rPr lang="en-US" altLang="zh-CN" sz="32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lexible but effective</a:t>
            </a:r>
            <a:endParaRPr lang="zh-CN" altLang="en-US" sz="32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4057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ppt_x"/>
                                          </p:val>
                                        </p:tav>
                                        <p:tav tm="100000">
                                          <p:val>
                                            <p:strVal val="#ppt_x"/>
                                          </p:val>
                                        </p:tav>
                                      </p:tavLst>
                                    </p:anim>
                                    <p:anim calcmode="lin" valueType="num">
                                      <p:cBhvr additive="base">
                                        <p:cTn id="4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additive="base">
                                        <p:cTn id="65" dur="500" fill="hold"/>
                                        <p:tgtEl>
                                          <p:spTgt spid="2"/>
                                        </p:tgtEl>
                                        <p:attrNameLst>
                                          <p:attrName>ppt_x</p:attrName>
                                        </p:attrNameLst>
                                      </p:cBhvr>
                                      <p:tavLst>
                                        <p:tav tm="0">
                                          <p:val>
                                            <p:strVal val="#ppt_x"/>
                                          </p:val>
                                        </p:tav>
                                        <p:tav tm="100000">
                                          <p:val>
                                            <p:strVal val="#ppt_x"/>
                                          </p:val>
                                        </p:tav>
                                      </p:tavLst>
                                    </p:anim>
                                    <p:anim calcmode="lin" valueType="num">
                                      <p:cBhvr additive="base">
                                        <p:cTn id="66" dur="500" fill="hold"/>
                                        <p:tgtEl>
                                          <p:spTgt spid="2"/>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500" fill="hold"/>
                                        <p:tgtEl>
                                          <p:spTgt spid="18"/>
                                        </p:tgtEl>
                                        <p:attrNameLst>
                                          <p:attrName>ppt_x</p:attrName>
                                        </p:attrNameLst>
                                      </p:cBhvr>
                                      <p:tavLst>
                                        <p:tav tm="0">
                                          <p:val>
                                            <p:strVal val="#ppt_x"/>
                                          </p:val>
                                        </p:tav>
                                        <p:tav tm="100000">
                                          <p:val>
                                            <p:strVal val="#ppt_x"/>
                                          </p:val>
                                        </p:tav>
                                      </p:tavLst>
                                    </p:anim>
                                    <p:anim calcmode="lin" valueType="num">
                                      <p:cBhvr additive="base">
                                        <p:cTn id="70" dur="500" fill="hold"/>
                                        <p:tgtEl>
                                          <p:spTgt spid="18"/>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500" fill="hold"/>
                                        <p:tgtEl>
                                          <p:spTgt spid="20"/>
                                        </p:tgtEl>
                                        <p:attrNameLst>
                                          <p:attrName>ppt_x</p:attrName>
                                        </p:attrNameLst>
                                      </p:cBhvr>
                                      <p:tavLst>
                                        <p:tav tm="0">
                                          <p:val>
                                            <p:strVal val="#ppt_x"/>
                                          </p:val>
                                        </p:tav>
                                        <p:tav tm="100000">
                                          <p:val>
                                            <p:strVal val="#ppt_x"/>
                                          </p:val>
                                        </p:tav>
                                      </p:tavLst>
                                    </p:anim>
                                    <p:anim calcmode="lin" valueType="num">
                                      <p:cBhvr additive="base">
                                        <p:cTn id="74" dur="500" fill="hold"/>
                                        <p:tgtEl>
                                          <p:spTgt spid="20"/>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500" fill="hold"/>
                                        <p:tgtEl>
                                          <p:spTgt spid="21"/>
                                        </p:tgtEl>
                                        <p:attrNameLst>
                                          <p:attrName>ppt_x</p:attrName>
                                        </p:attrNameLst>
                                      </p:cBhvr>
                                      <p:tavLst>
                                        <p:tav tm="0">
                                          <p:val>
                                            <p:strVal val="#ppt_x"/>
                                          </p:val>
                                        </p:tav>
                                        <p:tav tm="100000">
                                          <p:val>
                                            <p:strVal val="#ppt_x"/>
                                          </p:val>
                                        </p:tav>
                                      </p:tavLst>
                                    </p:anim>
                                    <p:anim calcmode="lin" valueType="num">
                                      <p:cBhvr additive="base">
                                        <p:cTn id="7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500" fill="hold"/>
                                        <p:tgtEl>
                                          <p:spTgt spid="22"/>
                                        </p:tgtEl>
                                        <p:attrNameLst>
                                          <p:attrName>ppt_x</p:attrName>
                                        </p:attrNameLst>
                                      </p:cBhvr>
                                      <p:tavLst>
                                        <p:tav tm="0">
                                          <p:val>
                                            <p:strVal val="#ppt_x"/>
                                          </p:val>
                                        </p:tav>
                                        <p:tav tm="100000">
                                          <p:val>
                                            <p:strVal val="#ppt_x"/>
                                          </p:val>
                                        </p:tav>
                                      </p:tavLst>
                                    </p:anim>
                                    <p:anim calcmode="lin" valueType="num">
                                      <p:cBhvr additive="base">
                                        <p:cTn id="8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23"/>
                                        </p:tgtEl>
                                        <p:attrNameLst>
                                          <p:attrName>style.visibility</p:attrName>
                                        </p:attrNameLst>
                                      </p:cBhvr>
                                      <p:to>
                                        <p:strVal val="visible"/>
                                      </p:to>
                                    </p:set>
                                    <p:anim calcmode="lin" valueType="num">
                                      <p:cBhvr additive="base">
                                        <p:cTn id="89" dur="500" fill="hold"/>
                                        <p:tgtEl>
                                          <p:spTgt spid="23"/>
                                        </p:tgtEl>
                                        <p:attrNameLst>
                                          <p:attrName>ppt_x</p:attrName>
                                        </p:attrNameLst>
                                      </p:cBhvr>
                                      <p:tavLst>
                                        <p:tav tm="0">
                                          <p:val>
                                            <p:strVal val="#ppt_x"/>
                                          </p:val>
                                        </p:tav>
                                        <p:tav tm="100000">
                                          <p:val>
                                            <p:strVal val="#ppt_x"/>
                                          </p:val>
                                        </p:tav>
                                      </p:tavLst>
                                    </p:anim>
                                    <p:anim calcmode="lin" valueType="num">
                                      <p:cBhvr additive="base">
                                        <p:cTn id="9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6" grpId="0"/>
      <p:bldP spid="7" grpId="0" animBg="1"/>
      <p:bldP spid="9" grpId="0"/>
      <p:bldP spid="10" grpId="0" animBg="1"/>
      <p:bldP spid="13" grpId="0"/>
      <p:bldP spid="14" grpId="0" animBg="1"/>
      <p:bldP spid="16" grpId="0"/>
      <p:bldP spid="17" grpId="0"/>
      <p:bldP spid="18" grpId="0"/>
      <p:bldP spid="20" grpId="0"/>
      <p:bldP spid="21"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0" y="184298"/>
            <a:ext cx="6097314" cy="646331"/>
          </a:xfrm>
          <a:prstGeom prst="rect">
            <a:avLst/>
          </a:prstGeom>
          <a:noFill/>
        </p:spPr>
        <p:txBody>
          <a:bodyPr wrap="square">
            <a:spAutoFit/>
          </a:bodyPr>
          <a:lstStyle/>
          <a:p>
            <a:r>
              <a:rPr lang="en-US" altLang="zh-CN" sz="3600" b="1" i="0" dirty="0">
                <a:solidFill>
                  <a:schemeClr val="bg1"/>
                </a:solidFill>
                <a:effectLst/>
                <a:latin typeface="HelveticaNeue-Bold"/>
              </a:rPr>
              <a:t>Co-hosting Similarity</a:t>
            </a: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B204E6C6-70C9-0705-F394-96A0672927A8}"/>
              </a:ext>
            </a:extLst>
          </p:cNvPr>
          <p:cNvSpPr txBox="1"/>
          <p:nvPr/>
        </p:nvSpPr>
        <p:spPr>
          <a:xfrm>
            <a:off x="406865" y="1277348"/>
            <a:ext cx="10066791" cy="1754326"/>
          </a:xfrm>
          <a:prstGeom prst="rect">
            <a:avLst/>
          </a:prstGeom>
          <a:noFill/>
        </p:spPr>
        <p:txBody>
          <a:bodyPr wrap="square">
            <a:spAutoFit/>
          </a:bodyPr>
          <a:lstStyle/>
          <a:p>
            <a:r>
              <a:rPr lang="en-US" altLang="zh-CN" b="0" i="0" dirty="0">
                <a:solidFill>
                  <a:srgbClr val="404040"/>
                </a:solidFill>
                <a:effectLst/>
                <a:latin typeface="微软雅黑" panose="020B0503020204020204" pitchFamily="34" charset="-122"/>
                <a:ea typeface="微软雅黑" panose="020B0503020204020204" pitchFamily="34" charset="-122"/>
              </a:rPr>
              <a:t>For most users, utilizing two or more hosting providers only increases operational costs</a:t>
            </a:r>
            <a:r>
              <a:rPr lang="en-US" altLang="zh-CN" dirty="0">
                <a:solidFill>
                  <a:srgbClr val="404040"/>
                </a:solidFill>
                <a:latin typeface="微软雅黑" panose="020B0503020204020204" pitchFamily="34" charset="-122"/>
                <a:ea typeface="微软雅黑" panose="020B0503020204020204" pitchFamily="34" charset="-122"/>
              </a:rPr>
              <a:t>.</a:t>
            </a:r>
          </a:p>
          <a:p>
            <a:endParaRPr lang="en-US" altLang="zh-CN" dirty="0">
              <a:solidFill>
                <a:srgbClr val="404040"/>
              </a:solidFill>
              <a:latin typeface="微软雅黑" panose="020B0503020204020204" pitchFamily="34" charset="-122"/>
              <a:ea typeface="微软雅黑" panose="020B0503020204020204" pitchFamily="34" charset="-122"/>
            </a:endParaRPr>
          </a:p>
          <a:p>
            <a:r>
              <a:rPr lang="en-US" altLang="zh-CN" dirty="0">
                <a:solidFill>
                  <a:srgbClr val="404040"/>
                </a:solidFill>
                <a:latin typeface="微软雅黑" panose="020B0503020204020204" pitchFamily="34" charset="-122"/>
                <a:ea typeface="微软雅黑" panose="020B0503020204020204" pitchFamily="34" charset="-122"/>
              </a:rPr>
              <a:t>Given this observation, NS domains co-hosting a substantial volume of user domains likely belong to the same provider.</a:t>
            </a:r>
          </a:p>
          <a:p>
            <a:endParaRPr lang="en-US" altLang="zh-CN" dirty="0">
              <a:solidFill>
                <a:srgbClr val="404040"/>
              </a:solidFill>
              <a:latin typeface="微软雅黑" panose="020B0503020204020204" pitchFamily="34" charset="-122"/>
              <a:ea typeface="微软雅黑" panose="020B0503020204020204" pitchFamily="34" charset="-122"/>
            </a:endParaRPr>
          </a:p>
          <a:p>
            <a:r>
              <a:rPr lang="en-US" altLang="zh-CN" dirty="0">
                <a:solidFill>
                  <a:srgbClr val="404040"/>
                </a:solidFill>
                <a:latin typeface="微软雅黑" panose="020B0503020204020204" pitchFamily="34" charset="-122"/>
                <a:ea typeface="微软雅黑" panose="020B0503020204020204" pitchFamily="34" charset="-122"/>
              </a:rPr>
              <a:t>Threshold: co-hosting rate over </a:t>
            </a:r>
            <a:r>
              <a:rPr lang="en-US" altLang="zh-CN" dirty="0">
                <a:solidFill>
                  <a:srgbClr val="FF0000"/>
                </a:solidFill>
                <a:latin typeface="微软雅黑" panose="020B0503020204020204" pitchFamily="34" charset="-122"/>
                <a:ea typeface="微软雅黑" panose="020B0503020204020204" pitchFamily="34" charset="-122"/>
              </a:rPr>
              <a:t>90% </a:t>
            </a:r>
          </a:p>
        </p:txBody>
      </p:sp>
      <p:sp>
        <p:nvSpPr>
          <p:cNvPr id="24" name="文本框 23">
            <a:extLst>
              <a:ext uri="{FF2B5EF4-FFF2-40B4-BE49-F238E27FC236}">
                <a16:creationId xmlns:a16="http://schemas.microsoft.com/office/drawing/2014/main" id="{CA52CEEF-986B-FC06-BED9-C615D280EE31}"/>
              </a:ext>
            </a:extLst>
          </p:cNvPr>
          <p:cNvSpPr txBox="1"/>
          <p:nvPr/>
        </p:nvSpPr>
        <p:spPr>
          <a:xfrm>
            <a:off x="1791050" y="3949357"/>
            <a:ext cx="1983606" cy="369332"/>
          </a:xfrm>
          <a:prstGeom prst="rect">
            <a:avLst/>
          </a:prstGeom>
          <a:noFill/>
        </p:spPr>
        <p:txBody>
          <a:bodyPr wrap="square" rtlCol="0">
            <a:spAutoFit/>
          </a:bodyPr>
          <a:lstStyle/>
          <a:p>
            <a:r>
              <a:rPr lang="en-US" altLang="zh-CN" dirty="0"/>
              <a:t>ns1.example.com</a:t>
            </a:r>
            <a:endParaRPr lang="zh-CN" altLang="en-US" dirty="0"/>
          </a:p>
        </p:txBody>
      </p:sp>
      <p:sp>
        <p:nvSpPr>
          <p:cNvPr id="25" name="文本框 24">
            <a:extLst>
              <a:ext uri="{FF2B5EF4-FFF2-40B4-BE49-F238E27FC236}">
                <a16:creationId xmlns:a16="http://schemas.microsoft.com/office/drawing/2014/main" id="{72A19CAA-6D74-6C92-D4CF-96FDE6D2EFCC}"/>
              </a:ext>
            </a:extLst>
          </p:cNvPr>
          <p:cNvSpPr txBox="1"/>
          <p:nvPr/>
        </p:nvSpPr>
        <p:spPr>
          <a:xfrm>
            <a:off x="7383118" y="3949357"/>
            <a:ext cx="1966412" cy="369332"/>
          </a:xfrm>
          <a:prstGeom prst="rect">
            <a:avLst/>
          </a:prstGeom>
          <a:noFill/>
        </p:spPr>
        <p:txBody>
          <a:bodyPr wrap="square" rtlCol="0">
            <a:spAutoFit/>
          </a:bodyPr>
          <a:lstStyle/>
          <a:p>
            <a:r>
              <a:rPr lang="en-US" altLang="zh-CN" dirty="0"/>
              <a:t>ns2.example.com</a:t>
            </a:r>
            <a:endParaRPr lang="zh-CN" altLang="en-US" dirty="0"/>
          </a:p>
        </p:txBody>
      </p:sp>
      <p:sp>
        <p:nvSpPr>
          <p:cNvPr id="26" name="左大括号 25">
            <a:extLst>
              <a:ext uri="{FF2B5EF4-FFF2-40B4-BE49-F238E27FC236}">
                <a16:creationId xmlns:a16="http://schemas.microsoft.com/office/drawing/2014/main" id="{2ECB157A-B6B4-6175-BA1F-D93BC6B0276F}"/>
              </a:ext>
            </a:extLst>
          </p:cNvPr>
          <p:cNvSpPr/>
          <p:nvPr/>
        </p:nvSpPr>
        <p:spPr>
          <a:xfrm>
            <a:off x="3798693" y="3388211"/>
            <a:ext cx="174702" cy="1589691"/>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w="0"/>
              <a:effectLst>
                <a:outerShdw blurRad="38100" dist="19050" dir="2700000" algn="tl" rotWithShape="0">
                  <a:schemeClr val="dk1">
                    <a:alpha val="40000"/>
                  </a:schemeClr>
                </a:outerShdw>
              </a:effectLst>
            </a:endParaRPr>
          </a:p>
        </p:txBody>
      </p:sp>
      <p:sp>
        <p:nvSpPr>
          <p:cNvPr id="27" name="左大括号 26">
            <a:extLst>
              <a:ext uri="{FF2B5EF4-FFF2-40B4-BE49-F238E27FC236}">
                <a16:creationId xmlns:a16="http://schemas.microsoft.com/office/drawing/2014/main" id="{618ECC8A-EEA6-8366-1BDF-606335122C11}"/>
              </a:ext>
            </a:extLst>
          </p:cNvPr>
          <p:cNvSpPr/>
          <p:nvPr/>
        </p:nvSpPr>
        <p:spPr>
          <a:xfrm flipH="1">
            <a:off x="7107764" y="3388212"/>
            <a:ext cx="174702" cy="1589691"/>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w="0"/>
              <a:effectLst>
                <a:outerShdw blurRad="38100" dist="19050" dir="2700000" algn="tl" rotWithShape="0">
                  <a:schemeClr val="dk1">
                    <a:alpha val="40000"/>
                  </a:schemeClr>
                </a:outerShdw>
              </a:effectLst>
            </a:endParaRPr>
          </a:p>
        </p:txBody>
      </p:sp>
      <p:sp>
        <p:nvSpPr>
          <p:cNvPr id="28" name="文本框 27">
            <a:extLst>
              <a:ext uri="{FF2B5EF4-FFF2-40B4-BE49-F238E27FC236}">
                <a16:creationId xmlns:a16="http://schemas.microsoft.com/office/drawing/2014/main" id="{9B823A9D-1C61-9206-D6ED-5FB01AFA630A}"/>
              </a:ext>
            </a:extLst>
          </p:cNvPr>
          <p:cNvSpPr txBox="1"/>
          <p:nvPr/>
        </p:nvSpPr>
        <p:spPr>
          <a:xfrm>
            <a:off x="3984005" y="3261931"/>
            <a:ext cx="863109" cy="923330"/>
          </a:xfrm>
          <a:prstGeom prst="rect">
            <a:avLst/>
          </a:prstGeom>
          <a:noFill/>
        </p:spPr>
        <p:txBody>
          <a:bodyPr wrap="square" rtlCol="0">
            <a:spAutoFit/>
          </a:bodyPr>
          <a:lstStyle/>
          <a:p>
            <a:pPr algn="ctr"/>
            <a:r>
              <a:rPr lang="en-US" altLang="zh-CN" dirty="0">
                <a:solidFill>
                  <a:srgbClr val="FF0000"/>
                </a:solidFill>
              </a:rPr>
              <a:t>a.com…</a:t>
            </a:r>
          </a:p>
          <a:p>
            <a:pPr algn="ctr"/>
            <a:r>
              <a:rPr lang="en-US" altLang="zh-CN" dirty="0">
                <a:solidFill>
                  <a:srgbClr val="FF0000"/>
                </a:solidFill>
              </a:rPr>
              <a:t>b.com</a:t>
            </a:r>
          </a:p>
        </p:txBody>
      </p:sp>
      <p:sp>
        <p:nvSpPr>
          <p:cNvPr id="29" name="文本框 28">
            <a:extLst>
              <a:ext uri="{FF2B5EF4-FFF2-40B4-BE49-F238E27FC236}">
                <a16:creationId xmlns:a16="http://schemas.microsoft.com/office/drawing/2014/main" id="{3705AA7A-5088-9047-5BA3-EAEC4F472D18}"/>
              </a:ext>
            </a:extLst>
          </p:cNvPr>
          <p:cNvSpPr txBox="1"/>
          <p:nvPr/>
        </p:nvSpPr>
        <p:spPr>
          <a:xfrm>
            <a:off x="6281810" y="3261931"/>
            <a:ext cx="863109" cy="923330"/>
          </a:xfrm>
          <a:prstGeom prst="rect">
            <a:avLst/>
          </a:prstGeom>
          <a:noFill/>
        </p:spPr>
        <p:txBody>
          <a:bodyPr wrap="square" rtlCol="0">
            <a:spAutoFit/>
          </a:bodyPr>
          <a:lstStyle/>
          <a:p>
            <a:pPr algn="ctr"/>
            <a:r>
              <a:rPr lang="en-US" altLang="zh-CN" dirty="0">
                <a:solidFill>
                  <a:srgbClr val="FF0000"/>
                </a:solidFill>
              </a:rPr>
              <a:t>a.com…</a:t>
            </a:r>
          </a:p>
          <a:p>
            <a:pPr algn="ctr"/>
            <a:r>
              <a:rPr lang="en-US" altLang="zh-CN" dirty="0">
                <a:solidFill>
                  <a:srgbClr val="FF0000"/>
                </a:solidFill>
              </a:rPr>
              <a:t>b.com</a:t>
            </a:r>
          </a:p>
        </p:txBody>
      </p:sp>
      <p:sp>
        <p:nvSpPr>
          <p:cNvPr id="30" name="文本框 29">
            <a:extLst>
              <a:ext uri="{FF2B5EF4-FFF2-40B4-BE49-F238E27FC236}">
                <a16:creationId xmlns:a16="http://schemas.microsoft.com/office/drawing/2014/main" id="{5E2E8587-10AC-57FE-52CD-403DF0C39D71}"/>
              </a:ext>
            </a:extLst>
          </p:cNvPr>
          <p:cNvSpPr txBox="1"/>
          <p:nvPr/>
        </p:nvSpPr>
        <p:spPr>
          <a:xfrm>
            <a:off x="3984004" y="4372343"/>
            <a:ext cx="784315" cy="646331"/>
          </a:xfrm>
          <a:prstGeom prst="rect">
            <a:avLst/>
          </a:prstGeom>
          <a:noFill/>
        </p:spPr>
        <p:txBody>
          <a:bodyPr wrap="square" rtlCol="0">
            <a:spAutoFit/>
          </a:bodyPr>
          <a:lstStyle/>
          <a:p>
            <a:pPr algn="ctr"/>
            <a:r>
              <a:rPr lang="en-US" altLang="zh-CN" dirty="0">
                <a:solidFill>
                  <a:srgbClr val="005BAC"/>
                </a:solidFill>
              </a:rPr>
              <a:t>c.com…</a:t>
            </a:r>
          </a:p>
        </p:txBody>
      </p:sp>
      <p:sp>
        <p:nvSpPr>
          <p:cNvPr id="31" name="文本框 30">
            <a:extLst>
              <a:ext uri="{FF2B5EF4-FFF2-40B4-BE49-F238E27FC236}">
                <a16:creationId xmlns:a16="http://schemas.microsoft.com/office/drawing/2014/main" id="{5D1F1757-6365-524B-BC22-E2C7401D5323}"/>
              </a:ext>
            </a:extLst>
          </p:cNvPr>
          <p:cNvSpPr txBox="1"/>
          <p:nvPr/>
        </p:nvSpPr>
        <p:spPr>
          <a:xfrm>
            <a:off x="6281811" y="4372343"/>
            <a:ext cx="825954" cy="646331"/>
          </a:xfrm>
          <a:prstGeom prst="rect">
            <a:avLst/>
          </a:prstGeom>
          <a:noFill/>
        </p:spPr>
        <p:txBody>
          <a:bodyPr wrap="square" rtlCol="0">
            <a:spAutoFit/>
          </a:bodyPr>
          <a:lstStyle/>
          <a:p>
            <a:pPr algn="ctr"/>
            <a:r>
              <a:rPr lang="en-US" altLang="zh-CN" dirty="0">
                <a:solidFill>
                  <a:srgbClr val="82308F"/>
                </a:solidFill>
              </a:rPr>
              <a:t>d.com…</a:t>
            </a:r>
          </a:p>
        </p:txBody>
      </p:sp>
      <p:sp>
        <p:nvSpPr>
          <p:cNvPr id="32" name="箭头: 左右 31">
            <a:extLst>
              <a:ext uri="{FF2B5EF4-FFF2-40B4-BE49-F238E27FC236}">
                <a16:creationId xmlns:a16="http://schemas.microsoft.com/office/drawing/2014/main" id="{E437137B-81C2-12BE-BB0E-FB282777245A}"/>
              </a:ext>
            </a:extLst>
          </p:cNvPr>
          <p:cNvSpPr/>
          <p:nvPr/>
        </p:nvSpPr>
        <p:spPr>
          <a:xfrm>
            <a:off x="5073119" y="3658853"/>
            <a:ext cx="903891" cy="220718"/>
          </a:xfrm>
          <a:prstGeom prst="lef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C78A6516-F462-A420-DDE0-240BFF9F2208}"/>
              </a:ext>
            </a:extLst>
          </p:cNvPr>
          <p:cNvSpPr txBox="1"/>
          <p:nvPr/>
        </p:nvSpPr>
        <p:spPr>
          <a:xfrm>
            <a:off x="4848747" y="3394231"/>
            <a:ext cx="1434693" cy="307777"/>
          </a:xfrm>
          <a:prstGeom prst="rect">
            <a:avLst/>
          </a:prstGeom>
          <a:noFill/>
        </p:spPr>
        <p:txBody>
          <a:bodyPr wrap="square" rtlCol="0">
            <a:spAutoFit/>
          </a:bodyPr>
          <a:lstStyle/>
          <a:p>
            <a:pPr algn="ctr"/>
            <a:r>
              <a:rPr lang="en-US" altLang="zh-CN" sz="1400" dirty="0">
                <a:solidFill>
                  <a:srgbClr val="FF0000"/>
                </a:solidFill>
              </a:rPr>
              <a:t>90</a:t>
            </a:r>
            <a:r>
              <a:rPr lang="zh-CN" altLang="en-US" sz="1400" dirty="0">
                <a:solidFill>
                  <a:srgbClr val="FF0000"/>
                </a:solidFill>
              </a:rPr>
              <a:t> </a:t>
            </a:r>
            <a:r>
              <a:rPr lang="en-US" altLang="zh-CN" sz="1400" dirty="0">
                <a:solidFill>
                  <a:srgbClr val="FF0000"/>
                </a:solidFill>
              </a:rPr>
              <a:t>co-hosting</a:t>
            </a:r>
            <a:endParaRPr lang="zh-CN" altLang="en-US" sz="1400" dirty="0">
              <a:solidFill>
                <a:srgbClr val="FF0000"/>
              </a:solidFill>
            </a:endParaRPr>
          </a:p>
        </p:txBody>
      </p:sp>
      <p:sp>
        <p:nvSpPr>
          <p:cNvPr id="34" name="文本框 33">
            <a:extLst>
              <a:ext uri="{FF2B5EF4-FFF2-40B4-BE49-F238E27FC236}">
                <a16:creationId xmlns:a16="http://schemas.microsoft.com/office/drawing/2014/main" id="{7B004ADB-9C8D-7BBE-DF5A-ADABB7861732}"/>
              </a:ext>
            </a:extLst>
          </p:cNvPr>
          <p:cNvSpPr txBox="1"/>
          <p:nvPr/>
        </p:nvSpPr>
        <p:spPr>
          <a:xfrm>
            <a:off x="1616349" y="4271177"/>
            <a:ext cx="2017302" cy="523220"/>
          </a:xfrm>
          <a:prstGeom prst="rect">
            <a:avLst/>
          </a:prstGeom>
          <a:noFill/>
        </p:spPr>
        <p:txBody>
          <a:bodyPr wrap="square" rtlCol="0">
            <a:spAutoFit/>
          </a:bodyPr>
          <a:lstStyle/>
          <a:p>
            <a:pPr algn="ctr"/>
            <a:r>
              <a:rPr lang="en-US" altLang="zh-CN" sz="1400" b="1" dirty="0">
                <a:solidFill>
                  <a:srgbClr val="005BAC"/>
                </a:solidFill>
              </a:rPr>
              <a:t>Hosting 100</a:t>
            </a:r>
            <a:r>
              <a:rPr lang="zh-CN" altLang="en-US" sz="1400" b="1" dirty="0">
                <a:solidFill>
                  <a:srgbClr val="005BAC"/>
                </a:solidFill>
              </a:rPr>
              <a:t> </a:t>
            </a:r>
            <a:r>
              <a:rPr lang="en-US" altLang="zh-CN" sz="1400" b="1" dirty="0">
                <a:solidFill>
                  <a:srgbClr val="005BAC"/>
                </a:solidFill>
              </a:rPr>
              <a:t>domains</a:t>
            </a:r>
          </a:p>
          <a:p>
            <a:pPr algn="ctr"/>
            <a:r>
              <a:rPr lang="en-US" altLang="zh-CN" sz="1400" b="1" dirty="0">
                <a:solidFill>
                  <a:srgbClr val="005BAC"/>
                </a:solidFill>
              </a:rPr>
              <a:t>Co-hosting rate 90%</a:t>
            </a:r>
            <a:endParaRPr lang="zh-CN" altLang="en-US" sz="1400" b="1" dirty="0">
              <a:solidFill>
                <a:srgbClr val="005BAC"/>
              </a:solidFill>
            </a:endParaRPr>
          </a:p>
        </p:txBody>
      </p:sp>
      <p:sp>
        <p:nvSpPr>
          <p:cNvPr id="35" name="文本框 34">
            <a:extLst>
              <a:ext uri="{FF2B5EF4-FFF2-40B4-BE49-F238E27FC236}">
                <a16:creationId xmlns:a16="http://schemas.microsoft.com/office/drawing/2014/main" id="{69FE8A51-3D6A-6DA0-4EC2-05DC489C6DB3}"/>
              </a:ext>
            </a:extLst>
          </p:cNvPr>
          <p:cNvSpPr txBox="1"/>
          <p:nvPr/>
        </p:nvSpPr>
        <p:spPr>
          <a:xfrm>
            <a:off x="7312508" y="4284964"/>
            <a:ext cx="2037022" cy="523220"/>
          </a:xfrm>
          <a:prstGeom prst="rect">
            <a:avLst/>
          </a:prstGeom>
          <a:noFill/>
        </p:spPr>
        <p:txBody>
          <a:bodyPr wrap="square" rtlCol="0">
            <a:spAutoFit/>
          </a:bodyPr>
          <a:lstStyle/>
          <a:p>
            <a:pPr algn="ctr"/>
            <a:r>
              <a:rPr lang="en-US" altLang="zh-CN" sz="1400" b="1" dirty="0">
                <a:solidFill>
                  <a:srgbClr val="82308F"/>
                </a:solidFill>
              </a:rPr>
              <a:t>Hosting 96 domains</a:t>
            </a:r>
          </a:p>
          <a:p>
            <a:pPr algn="ctr"/>
            <a:r>
              <a:rPr lang="en-US" altLang="zh-CN" sz="1400" b="1" dirty="0">
                <a:solidFill>
                  <a:srgbClr val="82308F"/>
                </a:solidFill>
              </a:rPr>
              <a:t>Co-hosting rate 93.75%</a:t>
            </a:r>
            <a:endParaRPr lang="zh-CN" altLang="en-US" sz="1400" b="1" dirty="0">
              <a:solidFill>
                <a:srgbClr val="82308F"/>
              </a:solidFill>
            </a:endParaRPr>
          </a:p>
        </p:txBody>
      </p:sp>
      <p:cxnSp>
        <p:nvCxnSpPr>
          <p:cNvPr id="36" name="直接箭头连接符 35">
            <a:extLst>
              <a:ext uri="{FF2B5EF4-FFF2-40B4-BE49-F238E27FC236}">
                <a16:creationId xmlns:a16="http://schemas.microsoft.com/office/drawing/2014/main" id="{223A526C-CABB-345C-EF77-9B2F75884D4A}"/>
              </a:ext>
            </a:extLst>
          </p:cNvPr>
          <p:cNvCxnSpPr/>
          <p:nvPr/>
        </p:nvCxnSpPr>
        <p:spPr>
          <a:xfrm>
            <a:off x="5525064" y="4977902"/>
            <a:ext cx="0" cy="52551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id="{CBEEDF24-AC45-A836-B497-45032C977522}"/>
              </a:ext>
            </a:extLst>
          </p:cNvPr>
          <p:cNvSpPr/>
          <p:nvPr/>
        </p:nvSpPr>
        <p:spPr>
          <a:xfrm>
            <a:off x="3369352" y="5627256"/>
            <a:ext cx="4269378" cy="892224"/>
          </a:xfrm>
          <a:prstGeom prst="ellipse">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A02C3E2C-1587-C57C-453C-3A6CF46C78A6}"/>
              </a:ext>
            </a:extLst>
          </p:cNvPr>
          <p:cNvSpPr txBox="1"/>
          <p:nvPr/>
        </p:nvSpPr>
        <p:spPr>
          <a:xfrm>
            <a:off x="3565321" y="5888702"/>
            <a:ext cx="1938720" cy="369332"/>
          </a:xfrm>
          <a:prstGeom prst="rect">
            <a:avLst/>
          </a:prstGeom>
          <a:noFill/>
        </p:spPr>
        <p:txBody>
          <a:bodyPr wrap="square" rtlCol="0">
            <a:spAutoFit/>
          </a:bodyPr>
          <a:lstStyle/>
          <a:p>
            <a:r>
              <a:rPr lang="en-US" altLang="zh-CN" dirty="0"/>
              <a:t>ns1.example.com</a:t>
            </a:r>
            <a:endParaRPr lang="zh-CN" altLang="en-US" dirty="0"/>
          </a:p>
        </p:txBody>
      </p:sp>
      <p:sp>
        <p:nvSpPr>
          <p:cNvPr id="39" name="文本框 38">
            <a:extLst>
              <a:ext uri="{FF2B5EF4-FFF2-40B4-BE49-F238E27FC236}">
                <a16:creationId xmlns:a16="http://schemas.microsoft.com/office/drawing/2014/main" id="{636915A0-3B50-7500-C069-F81F0C15624E}"/>
              </a:ext>
            </a:extLst>
          </p:cNvPr>
          <p:cNvSpPr txBox="1"/>
          <p:nvPr/>
        </p:nvSpPr>
        <p:spPr>
          <a:xfrm>
            <a:off x="5566094" y="5898625"/>
            <a:ext cx="1938719" cy="369332"/>
          </a:xfrm>
          <a:prstGeom prst="rect">
            <a:avLst/>
          </a:prstGeom>
          <a:noFill/>
        </p:spPr>
        <p:txBody>
          <a:bodyPr wrap="square" rtlCol="0">
            <a:spAutoFit/>
          </a:bodyPr>
          <a:lstStyle/>
          <a:p>
            <a:r>
              <a:rPr lang="en-US" altLang="zh-CN" dirty="0"/>
              <a:t>ns2.example.com</a:t>
            </a:r>
            <a:endParaRPr lang="zh-CN" altLang="en-US" dirty="0"/>
          </a:p>
        </p:txBody>
      </p:sp>
      <p:sp>
        <p:nvSpPr>
          <p:cNvPr id="40" name="文本框 39">
            <a:extLst>
              <a:ext uri="{FF2B5EF4-FFF2-40B4-BE49-F238E27FC236}">
                <a16:creationId xmlns:a16="http://schemas.microsoft.com/office/drawing/2014/main" id="{C335449C-EDAA-95E6-8B19-0DA1878AF4CC}"/>
              </a:ext>
            </a:extLst>
          </p:cNvPr>
          <p:cNvSpPr txBox="1"/>
          <p:nvPr/>
        </p:nvSpPr>
        <p:spPr>
          <a:xfrm>
            <a:off x="7838921" y="5956833"/>
            <a:ext cx="3494606" cy="369332"/>
          </a:xfrm>
          <a:prstGeom prst="rect">
            <a:avLst/>
          </a:prstGeom>
          <a:noFill/>
        </p:spPr>
        <p:txBody>
          <a:bodyPr wrap="square" rtlCol="0">
            <a:spAutoFit/>
          </a:bodyPr>
          <a:lstStyle/>
          <a:p>
            <a:r>
              <a:rPr lang="en-US" altLang="zh-CN" b="1" dirty="0">
                <a:solidFill>
                  <a:srgbClr val="FF0000"/>
                </a:solidFill>
              </a:rPr>
              <a:t>Regarded as the same provider</a:t>
            </a:r>
            <a:endParaRPr lang="zh-CN" altLang="en-US" b="1" dirty="0">
              <a:solidFill>
                <a:srgbClr val="FF0000"/>
              </a:solidFill>
            </a:endParaRPr>
          </a:p>
        </p:txBody>
      </p:sp>
    </p:spTree>
    <p:extLst>
      <p:ext uri="{BB962C8B-B14F-4D97-AF65-F5344CB8AC3E}">
        <p14:creationId xmlns:p14="http://schemas.microsoft.com/office/powerpoint/2010/main" val="648433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ppt_x"/>
                                          </p:val>
                                        </p:tav>
                                        <p:tav tm="100000">
                                          <p:val>
                                            <p:strVal val="#ppt_x"/>
                                          </p:val>
                                        </p:tav>
                                      </p:tavLst>
                                    </p:anim>
                                    <p:anim calcmode="lin" valueType="num">
                                      <p:cBhvr additive="base">
                                        <p:cTn id="18" dur="500" fill="hold"/>
                                        <p:tgtEl>
                                          <p:spTgt spid="2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 calcmode="lin" valueType="num">
                                      <p:cBhvr additive="base">
                                        <p:cTn id="21" dur="500" fill="hold"/>
                                        <p:tgtEl>
                                          <p:spTgt spid="28"/>
                                        </p:tgtEl>
                                        <p:attrNameLst>
                                          <p:attrName>ppt_x</p:attrName>
                                        </p:attrNameLst>
                                      </p:cBhvr>
                                      <p:tavLst>
                                        <p:tav tm="0">
                                          <p:val>
                                            <p:strVal val="#ppt_x"/>
                                          </p:val>
                                        </p:tav>
                                        <p:tav tm="100000">
                                          <p:val>
                                            <p:strVal val="#ppt_x"/>
                                          </p:val>
                                        </p:tav>
                                      </p:tavLst>
                                    </p:anim>
                                    <p:anim calcmode="lin" valueType="num">
                                      <p:cBhvr additive="base">
                                        <p:cTn id="22" dur="500" fill="hold"/>
                                        <p:tgtEl>
                                          <p:spTgt spid="2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fill="hold"/>
                                        <p:tgtEl>
                                          <p:spTgt spid="29"/>
                                        </p:tgtEl>
                                        <p:attrNameLst>
                                          <p:attrName>ppt_x</p:attrName>
                                        </p:attrNameLst>
                                      </p:cBhvr>
                                      <p:tavLst>
                                        <p:tav tm="0">
                                          <p:val>
                                            <p:strVal val="#ppt_x"/>
                                          </p:val>
                                        </p:tav>
                                        <p:tav tm="100000">
                                          <p:val>
                                            <p:strVal val="#ppt_x"/>
                                          </p:val>
                                        </p:tav>
                                      </p:tavLst>
                                    </p:anim>
                                    <p:anim calcmode="lin" valueType="num">
                                      <p:cBhvr additive="base">
                                        <p:cTn id="30" dur="500" fill="hold"/>
                                        <p:tgtEl>
                                          <p:spTgt spid="2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additive="base">
                                        <p:cTn id="33" dur="500" fill="hold"/>
                                        <p:tgtEl>
                                          <p:spTgt spid="31"/>
                                        </p:tgtEl>
                                        <p:attrNameLst>
                                          <p:attrName>ppt_x</p:attrName>
                                        </p:attrNameLst>
                                      </p:cBhvr>
                                      <p:tavLst>
                                        <p:tav tm="0">
                                          <p:val>
                                            <p:strVal val="#ppt_x"/>
                                          </p:val>
                                        </p:tav>
                                        <p:tav tm="100000">
                                          <p:val>
                                            <p:strVal val="#ppt_x"/>
                                          </p:val>
                                        </p:tav>
                                      </p:tavLst>
                                    </p:anim>
                                    <p:anim calcmode="lin" valueType="num">
                                      <p:cBhvr additive="base">
                                        <p:cTn id="34" dur="500" fill="hold"/>
                                        <p:tgtEl>
                                          <p:spTgt spid="3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ppt_x"/>
                                          </p:val>
                                        </p:tav>
                                        <p:tav tm="100000">
                                          <p:val>
                                            <p:strVal val="#ppt_x"/>
                                          </p:val>
                                        </p:tav>
                                      </p:tavLst>
                                    </p:anim>
                                    <p:anim calcmode="lin" valueType="num">
                                      <p:cBhvr additive="base">
                                        <p:cTn id="38" dur="500" fill="hold"/>
                                        <p:tgtEl>
                                          <p:spTgt spid="25"/>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4">
                                            <p:txEl>
                                              <p:pRg st="0" end="0"/>
                                            </p:txEl>
                                          </p:spTgt>
                                        </p:tgtEl>
                                        <p:attrNameLst>
                                          <p:attrName>style.visibility</p:attrName>
                                        </p:attrNameLst>
                                      </p:cBhvr>
                                      <p:to>
                                        <p:strVal val="visible"/>
                                      </p:to>
                                    </p:set>
                                    <p:anim calcmode="lin" valueType="num">
                                      <p:cBhvr additive="base">
                                        <p:cTn id="41"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4">
                                            <p:txEl>
                                              <p:pRg st="0" end="0"/>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5">
                                            <p:txEl>
                                              <p:pRg st="0" end="0"/>
                                            </p:txEl>
                                          </p:spTgt>
                                        </p:tgtEl>
                                        <p:attrNameLst>
                                          <p:attrName>style.visibility</p:attrName>
                                        </p:attrNameLst>
                                      </p:cBhvr>
                                      <p:to>
                                        <p:strVal val="visible"/>
                                      </p:to>
                                    </p:set>
                                    <p:anim calcmode="lin" valueType="num">
                                      <p:cBhvr additive="base">
                                        <p:cTn id="45"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5">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 calcmode="lin" valueType="num">
                                      <p:cBhvr additive="base">
                                        <p:cTn id="49" dur="500" fill="hold"/>
                                        <p:tgtEl>
                                          <p:spTgt spid="27"/>
                                        </p:tgtEl>
                                        <p:attrNameLst>
                                          <p:attrName>ppt_x</p:attrName>
                                        </p:attrNameLst>
                                      </p:cBhvr>
                                      <p:tavLst>
                                        <p:tav tm="0">
                                          <p:val>
                                            <p:strVal val="#ppt_x"/>
                                          </p:val>
                                        </p:tav>
                                        <p:tav tm="100000">
                                          <p:val>
                                            <p:strVal val="#ppt_x"/>
                                          </p:val>
                                        </p:tav>
                                      </p:tavLst>
                                    </p:anim>
                                    <p:anim calcmode="lin" valueType="num">
                                      <p:cBhvr additive="base">
                                        <p:cTn id="5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anim calcmode="lin" valueType="num">
                                      <p:cBhvr additive="base">
                                        <p:cTn id="55" dur="500" fill="hold"/>
                                        <p:tgtEl>
                                          <p:spTgt spid="33"/>
                                        </p:tgtEl>
                                        <p:attrNameLst>
                                          <p:attrName>ppt_x</p:attrName>
                                        </p:attrNameLst>
                                      </p:cBhvr>
                                      <p:tavLst>
                                        <p:tav tm="0">
                                          <p:val>
                                            <p:strVal val="#ppt_x"/>
                                          </p:val>
                                        </p:tav>
                                        <p:tav tm="100000">
                                          <p:val>
                                            <p:strVal val="#ppt_x"/>
                                          </p:val>
                                        </p:tav>
                                      </p:tavLst>
                                    </p:anim>
                                    <p:anim calcmode="lin" valueType="num">
                                      <p:cBhvr additive="base">
                                        <p:cTn id="56" dur="500" fill="hold"/>
                                        <p:tgtEl>
                                          <p:spTgt spid="3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anim calcmode="lin" valueType="num">
                                      <p:cBhvr additive="base">
                                        <p:cTn id="59" dur="500" fill="hold"/>
                                        <p:tgtEl>
                                          <p:spTgt spid="32"/>
                                        </p:tgtEl>
                                        <p:attrNameLst>
                                          <p:attrName>ppt_x</p:attrName>
                                        </p:attrNameLst>
                                      </p:cBhvr>
                                      <p:tavLst>
                                        <p:tav tm="0">
                                          <p:val>
                                            <p:strVal val="#ppt_x"/>
                                          </p:val>
                                        </p:tav>
                                        <p:tav tm="100000">
                                          <p:val>
                                            <p:strVal val="#ppt_x"/>
                                          </p:val>
                                        </p:tav>
                                      </p:tavLst>
                                    </p:anim>
                                    <p:anim calcmode="lin" valueType="num">
                                      <p:cBhvr additive="base">
                                        <p:cTn id="60" dur="500" fill="hold"/>
                                        <p:tgtEl>
                                          <p:spTgt spid="32"/>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4">
                                            <p:txEl>
                                              <p:pRg st="1" end="1"/>
                                            </p:txEl>
                                          </p:spTgt>
                                        </p:tgtEl>
                                        <p:attrNameLst>
                                          <p:attrName>style.visibility</p:attrName>
                                        </p:attrNameLst>
                                      </p:cBhvr>
                                      <p:to>
                                        <p:strVal val="visible"/>
                                      </p:to>
                                    </p:set>
                                    <p:anim calcmode="lin" valueType="num">
                                      <p:cBhvr additive="base">
                                        <p:cTn id="63" dur="500" fill="hold"/>
                                        <p:tgtEl>
                                          <p:spTgt spid="34">
                                            <p:txEl>
                                              <p:pRg st="1" end="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4">
                                            <p:txEl>
                                              <p:pRg st="1" end="1"/>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5">
                                            <p:txEl>
                                              <p:pRg st="1" end="1"/>
                                            </p:txEl>
                                          </p:spTgt>
                                        </p:tgtEl>
                                        <p:attrNameLst>
                                          <p:attrName>style.visibility</p:attrName>
                                        </p:attrNameLst>
                                      </p:cBhvr>
                                      <p:to>
                                        <p:strVal val="visible"/>
                                      </p:to>
                                    </p:set>
                                    <p:anim calcmode="lin" valueType="num">
                                      <p:cBhvr additive="base">
                                        <p:cTn id="67"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ppt_x"/>
                                          </p:val>
                                        </p:tav>
                                        <p:tav tm="100000">
                                          <p:val>
                                            <p:strVal val="#ppt_x"/>
                                          </p:val>
                                        </p:tav>
                                      </p:tavLst>
                                    </p:anim>
                                    <p:anim calcmode="lin" valueType="num">
                                      <p:cBhvr additive="base">
                                        <p:cTn id="74" dur="500" fill="hold"/>
                                        <p:tgtEl>
                                          <p:spTgt spid="36"/>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 calcmode="lin" valueType="num">
                                      <p:cBhvr additive="base">
                                        <p:cTn id="77" dur="500" fill="hold"/>
                                        <p:tgtEl>
                                          <p:spTgt spid="37"/>
                                        </p:tgtEl>
                                        <p:attrNameLst>
                                          <p:attrName>ppt_x</p:attrName>
                                        </p:attrNameLst>
                                      </p:cBhvr>
                                      <p:tavLst>
                                        <p:tav tm="0">
                                          <p:val>
                                            <p:strVal val="#ppt_x"/>
                                          </p:val>
                                        </p:tav>
                                        <p:tav tm="100000">
                                          <p:val>
                                            <p:strVal val="#ppt_x"/>
                                          </p:val>
                                        </p:tav>
                                      </p:tavLst>
                                    </p:anim>
                                    <p:anim calcmode="lin" valueType="num">
                                      <p:cBhvr additive="base">
                                        <p:cTn id="78" dur="500" fill="hold"/>
                                        <p:tgtEl>
                                          <p:spTgt spid="37"/>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 calcmode="lin" valueType="num">
                                      <p:cBhvr additive="base">
                                        <p:cTn id="81" dur="500" fill="hold"/>
                                        <p:tgtEl>
                                          <p:spTgt spid="38"/>
                                        </p:tgtEl>
                                        <p:attrNameLst>
                                          <p:attrName>ppt_x</p:attrName>
                                        </p:attrNameLst>
                                      </p:cBhvr>
                                      <p:tavLst>
                                        <p:tav tm="0">
                                          <p:val>
                                            <p:strVal val="#ppt_x"/>
                                          </p:val>
                                        </p:tav>
                                        <p:tav tm="100000">
                                          <p:val>
                                            <p:strVal val="#ppt_x"/>
                                          </p:val>
                                        </p:tav>
                                      </p:tavLst>
                                    </p:anim>
                                    <p:anim calcmode="lin" valueType="num">
                                      <p:cBhvr additive="base">
                                        <p:cTn id="82" dur="500" fill="hold"/>
                                        <p:tgtEl>
                                          <p:spTgt spid="38"/>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39"/>
                                        </p:tgtEl>
                                        <p:attrNameLst>
                                          <p:attrName>style.visibility</p:attrName>
                                        </p:attrNameLst>
                                      </p:cBhvr>
                                      <p:to>
                                        <p:strVal val="visible"/>
                                      </p:to>
                                    </p:set>
                                    <p:anim calcmode="lin" valueType="num">
                                      <p:cBhvr additive="base">
                                        <p:cTn id="85" dur="500" fill="hold"/>
                                        <p:tgtEl>
                                          <p:spTgt spid="39"/>
                                        </p:tgtEl>
                                        <p:attrNameLst>
                                          <p:attrName>ppt_x</p:attrName>
                                        </p:attrNameLst>
                                      </p:cBhvr>
                                      <p:tavLst>
                                        <p:tav tm="0">
                                          <p:val>
                                            <p:strVal val="#ppt_x"/>
                                          </p:val>
                                        </p:tav>
                                        <p:tav tm="100000">
                                          <p:val>
                                            <p:strVal val="#ppt_x"/>
                                          </p:val>
                                        </p:tav>
                                      </p:tavLst>
                                    </p:anim>
                                    <p:anim calcmode="lin" valueType="num">
                                      <p:cBhvr additive="base">
                                        <p:cTn id="86" dur="500" fill="hold"/>
                                        <p:tgtEl>
                                          <p:spTgt spid="39"/>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40"/>
                                        </p:tgtEl>
                                        <p:attrNameLst>
                                          <p:attrName>style.visibility</p:attrName>
                                        </p:attrNameLst>
                                      </p:cBhvr>
                                      <p:to>
                                        <p:strVal val="visible"/>
                                      </p:to>
                                    </p:set>
                                    <p:anim calcmode="lin" valueType="num">
                                      <p:cBhvr additive="base">
                                        <p:cTn id="89" dur="500" fill="hold"/>
                                        <p:tgtEl>
                                          <p:spTgt spid="40"/>
                                        </p:tgtEl>
                                        <p:attrNameLst>
                                          <p:attrName>ppt_x</p:attrName>
                                        </p:attrNameLst>
                                      </p:cBhvr>
                                      <p:tavLst>
                                        <p:tav tm="0">
                                          <p:val>
                                            <p:strVal val="#ppt_x"/>
                                          </p:val>
                                        </p:tav>
                                        <p:tav tm="100000">
                                          <p:val>
                                            <p:strVal val="#ppt_x"/>
                                          </p:val>
                                        </p:tav>
                                      </p:tavLst>
                                    </p:anim>
                                    <p:anim calcmode="lin" valueType="num">
                                      <p:cBhvr additive="base">
                                        <p:cTn id="90"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4" grpId="0"/>
      <p:bldP spid="25" grpId="0"/>
      <p:bldP spid="26" grpId="0" animBg="1"/>
      <p:bldP spid="27" grpId="0" animBg="1"/>
      <p:bldP spid="28" grpId="0"/>
      <p:bldP spid="29" grpId="0"/>
      <p:bldP spid="30" grpId="0"/>
      <p:bldP spid="31" grpId="0"/>
      <p:bldP spid="32" grpId="0" animBg="1"/>
      <p:bldP spid="33" grpId="0"/>
      <p:bldP spid="37" grpId="0" animBg="1"/>
      <p:bldP spid="38" grpId="0"/>
      <p:bldP spid="39" grpId="0"/>
      <p:bldP spid="4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0" y="184298"/>
            <a:ext cx="6097314" cy="646331"/>
          </a:xfrm>
          <a:prstGeom prst="rect">
            <a:avLst/>
          </a:prstGeom>
          <a:noFill/>
        </p:spPr>
        <p:txBody>
          <a:bodyPr wrap="square">
            <a:spAutoFit/>
          </a:bodyPr>
          <a:lstStyle/>
          <a:p>
            <a:r>
              <a:rPr lang="en-US" altLang="zh-CN" sz="3600" b="1" i="0" dirty="0">
                <a:solidFill>
                  <a:schemeClr val="bg1"/>
                </a:solidFill>
                <a:effectLst/>
                <a:latin typeface="HelveticaNeue-Bold"/>
              </a:rPr>
              <a:t>Full Workflow</a:t>
            </a: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D076BBE8-95BE-B54A-8AE1-6161C7668B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90697"/>
            <a:ext cx="12192000" cy="3367548"/>
          </a:xfrm>
          <a:prstGeom prst="rect">
            <a:avLst/>
          </a:prstGeom>
        </p:spPr>
      </p:pic>
      <p:sp>
        <p:nvSpPr>
          <p:cNvPr id="7" name="文本框 6">
            <a:extLst>
              <a:ext uri="{FF2B5EF4-FFF2-40B4-BE49-F238E27FC236}">
                <a16:creationId xmlns:a16="http://schemas.microsoft.com/office/drawing/2014/main" id="{DD4627F2-B436-36A5-093F-52CC8EE933E4}"/>
              </a:ext>
            </a:extLst>
          </p:cNvPr>
          <p:cNvSpPr txBox="1"/>
          <p:nvPr/>
        </p:nvSpPr>
        <p:spPr>
          <a:xfrm>
            <a:off x="1622221" y="1378210"/>
            <a:ext cx="2974945" cy="369332"/>
          </a:xfrm>
          <a:prstGeom prst="rect">
            <a:avLst/>
          </a:prstGeom>
          <a:noFill/>
        </p:spPr>
        <p:txBody>
          <a:bodyPr wrap="square">
            <a:spAutoFit/>
          </a:bodyPr>
          <a:lstStyle/>
          <a:p>
            <a:r>
              <a:rPr lang="en-US" altLang="zh-CN" sz="1800" b="1" i="0" dirty="0">
                <a:solidFill>
                  <a:srgbClr val="FF0000"/>
                </a:solidFill>
                <a:effectLst/>
                <a:latin typeface="HelveticaNeue-Bold"/>
              </a:rPr>
              <a:t>Textual Pattern Similarity</a:t>
            </a:r>
          </a:p>
        </p:txBody>
      </p:sp>
      <p:sp>
        <p:nvSpPr>
          <p:cNvPr id="9" name="文本框 8">
            <a:extLst>
              <a:ext uri="{FF2B5EF4-FFF2-40B4-BE49-F238E27FC236}">
                <a16:creationId xmlns:a16="http://schemas.microsoft.com/office/drawing/2014/main" id="{08137E4D-52D0-17F7-1D97-F79D746900E1}"/>
              </a:ext>
            </a:extLst>
          </p:cNvPr>
          <p:cNvSpPr txBox="1"/>
          <p:nvPr/>
        </p:nvSpPr>
        <p:spPr>
          <a:xfrm>
            <a:off x="6592699" y="1378210"/>
            <a:ext cx="2484189" cy="369332"/>
          </a:xfrm>
          <a:prstGeom prst="rect">
            <a:avLst/>
          </a:prstGeom>
          <a:noFill/>
        </p:spPr>
        <p:txBody>
          <a:bodyPr wrap="square">
            <a:spAutoFit/>
          </a:bodyPr>
          <a:lstStyle/>
          <a:p>
            <a:r>
              <a:rPr lang="en-US" altLang="zh-CN" sz="1800" b="1" i="0" dirty="0">
                <a:solidFill>
                  <a:srgbClr val="0070C0"/>
                </a:solidFill>
                <a:effectLst/>
                <a:latin typeface="HelveticaNeue-Bold"/>
              </a:rPr>
              <a:t>Co-hosting Similarity</a:t>
            </a:r>
          </a:p>
        </p:txBody>
      </p:sp>
      <p:sp>
        <p:nvSpPr>
          <p:cNvPr id="10" name="文本框 9">
            <a:extLst>
              <a:ext uri="{FF2B5EF4-FFF2-40B4-BE49-F238E27FC236}">
                <a16:creationId xmlns:a16="http://schemas.microsoft.com/office/drawing/2014/main" id="{218A4CAB-DE7B-139D-1524-A64C9534B232}"/>
              </a:ext>
            </a:extLst>
          </p:cNvPr>
          <p:cNvSpPr txBox="1"/>
          <p:nvPr/>
        </p:nvSpPr>
        <p:spPr>
          <a:xfrm>
            <a:off x="6334038" y="5110459"/>
            <a:ext cx="2484189" cy="369332"/>
          </a:xfrm>
          <a:prstGeom prst="rect">
            <a:avLst/>
          </a:prstGeom>
          <a:noFill/>
        </p:spPr>
        <p:txBody>
          <a:bodyPr wrap="square">
            <a:spAutoFit/>
          </a:bodyPr>
          <a:lstStyle/>
          <a:p>
            <a:pPr algn="ctr"/>
            <a:r>
              <a:rPr lang="en-US" altLang="zh-CN" sz="1800" b="1" i="0" dirty="0">
                <a:solidFill>
                  <a:schemeClr val="accent5"/>
                </a:solidFill>
                <a:effectLst/>
                <a:latin typeface="HelveticaNeue-Bold"/>
              </a:rPr>
              <a:t>Labeling</a:t>
            </a:r>
          </a:p>
        </p:txBody>
      </p:sp>
      <p:sp>
        <p:nvSpPr>
          <p:cNvPr id="11" name="文本框 10">
            <a:extLst>
              <a:ext uri="{FF2B5EF4-FFF2-40B4-BE49-F238E27FC236}">
                <a16:creationId xmlns:a16="http://schemas.microsoft.com/office/drawing/2014/main" id="{97C13FD7-9C49-37C6-0419-628C7E750DA4}"/>
              </a:ext>
            </a:extLst>
          </p:cNvPr>
          <p:cNvSpPr txBox="1"/>
          <p:nvPr/>
        </p:nvSpPr>
        <p:spPr>
          <a:xfrm>
            <a:off x="206926" y="5930475"/>
            <a:ext cx="11778143" cy="461665"/>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PS: Given inconsistent names of providers in our data for labeling, we perform an additional Step2 to merge functionally equivalent providers for measuring centralization more easily. This is not strictly required for core analysis.</a:t>
            </a:r>
            <a:endParaRPr lang="zh-CN" altLang="en-US" sz="1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38277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1" y="184298"/>
            <a:ext cx="6844903" cy="646331"/>
          </a:xfrm>
          <a:prstGeom prst="rect">
            <a:avLst/>
          </a:prstGeom>
          <a:noFill/>
        </p:spPr>
        <p:txBody>
          <a:bodyPr wrap="square">
            <a:spAutoFit/>
          </a:bodyPr>
          <a:lstStyle/>
          <a:p>
            <a:r>
              <a:rPr lang="en-US" altLang="zh-CN" sz="3600" b="1" i="0" dirty="0">
                <a:solidFill>
                  <a:schemeClr val="bg1"/>
                </a:solidFill>
                <a:effectLst/>
                <a:latin typeface="HelveticaNeue-Bold"/>
              </a:rPr>
              <a:t>Evaluation and Comparison</a:t>
            </a: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BDED8815-A074-F2C2-95A8-57C2172A697E}"/>
              </a:ext>
            </a:extLst>
          </p:cNvPr>
          <p:cNvPicPr>
            <a:picLocks noChangeAspect="1"/>
          </p:cNvPicPr>
          <p:nvPr/>
        </p:nvPicPr>
        <p:blipFill>
          <a:blip r:embed="rId4"/>
          <a:stretch>
            <a:fillRect/>
          </a:stretch>
        </p:blipFill>
        <p:spPr>
          <a:xfrm>
            <a:off x="1262126" y="2162930"/>
            <a:ext cx="9667739" cy="2878421"/>
          </a:xfrm>
          <a:prstGeom prst="rect">
            <a:avLst/>
          </a:prstGeom>
        </p:spPr>
      </p:pic>
      <p:sp>
        <p:nvSpPr>
          <p:cNvPr id="5" name="文本框 4">
            <a:extLst>
              <a:ext uri="{FF2B5EF4-FFF2-40B4-BE49-F238E27FC236}">
                <a16:creationId xmlns:a16="http://schemas.microsoft.com/office/drawing/2014/main" id="{DEF05A96-D0F1-44B0-B44A-ECC085CB8B5F}"/>
              </a:ext>
            </a:extLst>
          </p:cNvPr>
          <p:cNvSpPr txBox="1"/>
          <p:nvPr/>
        </p:nvSpPr>
        <p:spPr>
          <a:xfrm>
            <a:off x="1748402" y="1572747"/>
            <a:ext cx="8695189" cy="369332"/>
          </a:xfrm>
          <a:prstGeom prst="rect">
            <a:avLst/>
          </a:prstGeom>
          <a:noFill/>
        </p:spPr>
        <p:txBody>
          <a:bodyPr wrap="square">
            <a:spAutoFit/>
          </a:bodyPr>
          <a:lstStyle/>
          <a:p>
            <a:r>
              <a:rPr lang="en-US" altLang="zh-CN" b="0" i="0" dirty="0">
                <a:solidFill>
                  <a:srgbClr val="404040"/>
                </a:solidFill>
                <a:effectLst/>
                <a:latin typeface="微软雅黑" panose="020B0503020204020204" pitchFamily="34" charset="-122"/>
                <a:ea typeface="微软雅黑" panose="020B0503020204020204" pitchFamily="34" charset="-122"/>
              </a:rPr>
              <a:t>Test dataset: 773 NS domains randomly sampled from 57 hosting providers.</a:t>
            </a: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C68E33A4-19E6-97DC-90C1-E5F3ECA3984B}"/>
              </a:ext>
            </a:extLst>
          </p:cNvPr>
          <p:cNvSpPr txBox="1"/>
          <p:nvPr/>
        </p:nvSpPr>
        <p:spPr>
          <a:xfrm>
            <a:off x="2729569" y="5362870"/>
            <a:ext cx="6197366" cy="523220"/>
          </a:xfrm>
          <a:prstGeom prst="rect">
            <a:avLst/>
          </a:prstGeom>
          <a:noFill/>
        </p:spPr>
        <p:txBody>
          <a:bodyPr wrap="square">
            <a:spAutoFit/>
          </a:bodyPr>
          <a:lstStyle/>
          <a:p>
            <a:pPr algn="ctr"/>
            <a:r>
              <a:rPr lang="en-US" altLang="zh-CN" sz="2800" b="1" i="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Higher accuracy!</a:t>
            </a:r>
            <a:endParaRPr lang="zh-CN" altLang="en-US" sz="2800" b="1"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2292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1" y="184298"/>
            <a:ext cx="6844903" cy="646331"/>
          </a:xfrm>
          <a:prstGeom prst="rect">
            <a:avLst/>
          </a:prstGeom>
          <a:noFill/>
        </p:spPr>
        <p:txBody>
          <a:bodyPr wrap="square">
            <a:spAutoFit/>
          </a:bodyPr>
          <a:lstStyle/>
          <a:p>
            <a:r>
              <a:rPr lang="en-US" altLang="zh-CN" sz="3600" b="1" i="0" dirty="0">
                <a:solidFill>
                  <a:schemeClr val="bg1"/>
                </a:solidFill>
                <a:effectLst/>
                <a:latin typeface="HelveticaNeue-Bold"/>
              </a:rPr>
              <a:t>Measurement Results</a:t>
            </a: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DAD4F92E-DD46-0907-9A9D-970858757162}"/>
              </a:ext>
            </a:extLst>
          </p:cNvPr>
          <p:cNvSpPr txBox="1"/>
          <p:nvPr/>
        </p:nvSpPr>
        <p:spPr>
          <a:xfrm>
            <a:off x="159391" y="1254154"/>
            <a:ext cx="8300907" cy="923330"/>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Data: .com </a:t>
            </a:r>
            <a:r>
              <a:rPr lang="en-US" altLang="zh-CN" dirty="0" err="1">
                <a:latin typeface="微软雅黑" panose="020B0503020204020204" pitchFamily="34" charset="-122"/>
                <a:ea typeface="微软雅黑" panose="020B0503020204020204" pitchFamily="34" charset="-122"/>
              </a:rPr>
              <a:t>.net</a:t>
            </a:r>
            <a:r>
              <a:rPr lang="en-US" altLang="zh-CN" dirty="0">
                <a:latin typeface="微软雅黑" panose="020B0503020204020204" pitchFamily="34" charset="-122"/>
                <a:ea typeface="微软雅黑" panose="020B0503020204020204" pitchFamily="34" charset="-122"/>
              </a:rPr>
              <a:t> .org zone files on 2024.09.14 from CZDS</a:t>
            </a: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We also measure AS-level hosting centralization as a comparative basis</a:t>
            </a:r>
            <a:endParaRPr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E7A720C4-A7BF-BFC9-3BFC-7D6E710FF962}"/>
              </a:ext>
            </a:extLst>
          </p:cNvPr>
          <p:cNvPicPr>
            <a:picLocks noChangeAspect="1"/>
          </p:cNvPicPr>
          <p:nvPr/>
        </p:nvPicPr>
        <p:blipFill>
          <a:blip r:embed="rId4"/>
          <a:stretch>
            <a:fillRect/>
          </a:stretch>
        </p:blipFill>
        <p:spPr>
          <a:xfrm>
            <a:off x="516831" y="2474755"/>
            <a:ext cx="5006632" cy="2787477"/>
          </a:xfrm>
          <a:prstGeom prst="rect">
            <a:avLst/>
          </a:prstGeom>
        </p:spPr>
      </p:pic>
      <p:pic>
        <p:nvPicPr>
          <p:cNvPr id="6" name="图片 5">
            <a:extLst>
              <a:ext uri="{FF2B5EF4-FFF2-40B4-BE49-F238E27FC236}">
                <a16:creationId xmlns:a16="http://schemas.microsoft.com/office/drawing/2014/main" id="{51748BF5-3D31-FB3C-F7D2-D6DDD2CB9845}"/>
              </a:ext>
            </a:extLst>
          </p:cNvPr>
          <p:cNvPicPr>
            <a:picLocks noChangeAspect="1"/>
          </p:cNvPicPr>
          <p:nvPr/>
        </p:nvPicPr>
        <p:blipFill>
          <a:blip r:embed="rId5"/>
          <a:stretch>
            <a:fillRect/>
          </a:stretch>
        </p:blipFill>
        <p:spPr>
          <a:xfrm>
            <a:off x="5885326" y="2522841"/>
            <a:ext cx="6229679" cy="2691307"/>
          </a:xfrm>
          <a:prstGeom prst="rect">
            <a:avLst/>
          </a:prstGeom>
        </p:spPr>
      </p:pic>
      <p:pic>
        <p:nvPicPr>
          <p:cNvPr id="7" name="图片 6">
            <a:extLst>
              <a:ext uri="{FF2B5EF4-FFF2-40B4-BE49-F238E27FC236}">
                <a16:creationId xmlns:a16="http://schemas.microsoft.com/office/drawing/2014/main" id="{71B117F4-307D-D643-387B-21A97A8D639E}"/>
              </a:ext>
            </a:extLst>
          </p:cNvPr>
          <p:cNvPicPr>
            <a:picLocks noChangeAspect="1"/>
          </p:cNvPicPr>
          <p:nvPr/>
        </p:nvPicPr>
        <p:blipFill>
          <a:blip r:embed="rId6"/>
          <a:stretch>
            <a:fillRect/>
          </a:stretch>
        </p:blipFill>
        <p:spPr>
          <a:xfrm>
            <a:off x="3421253" y="2934915"/>
            <a:ext cx="4600427" cy="3741404"/>
          </a:xfrm>
          <a:prstGeom prst="rect">
            <a:avLst/>
          </a:prstGeom>
        </p:spPr>
      </p:pic>
      <p:sp>
        <p:nvSpPr>
          <p:cNvPr id="9" name="椭圆 8">
            <a:extLst>
              <a:ext uri="{FF2B5EF4-FFF2-40B4-BE49-F238E27FC236}">
                <a16:creationId xmlns:a16="http://schemas.microsoft.com/office/drawing/2014/main" id="{B645E8D5-CF76-1265-1974-BE6AFA0EFB46}"/>
              </a:ext>
            </a:extLst>
          </p:cNvPr>
          <p:cNvSpPr/>
          <p:nvPr/>
        </p:nvSpPr>
        <p:spPr>
          <a:xfrm>
            <a:off x="4451281" y="4332213"/>
            <a:ext cx="345957" cy="345957"/>
          </a:xfrm>
          <a:prstGeom prst="ellipse">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4D533502-FAF0-5852-FF4B-97512B2FAF79}"/>
              </a:ext>
            </a:extLst>
          </p:cNvPr>
          <p:cNvSpPr/>
          <p:nvPr/>
        </p:nvSpPr>
        <p:spPr>
          <a:xfrm>
            <a:off x="5134879" y="3437350"/>
            <a:ext cx="308517" cy="318778"/>
          </a:xfrm>
          <a:prstGeom prst="ellipse">
            <a:avLst/>
          </a:prstGeom>
          <a:noFill/>
          <a:ln w="28575">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F0A9AA18-A29E-900C-38E4-A4EE811B8ADE}"/>
              </a:ext>
            </a:extLst>
          </p:cNvPr>
          <p:cNvSpPr txBox="1"/>
          <p:nvPr/>
        </p:nvSpPr>
        <p:spPr>
          <a:xfrm>
            <a:off x="1531566" y="2976376"/>
            <a:ext cx="2240791" cy="707886"/>
          </a:xfrm>
          <a:prstGeom prst="rect">
            <a:avLst/>
          </a:prstGeom>
          <a:noFill/>
        </p:spPr>
        <p:txBody>
          <a:bodyPr wrap="square" rtlCol="0">
            <a:spAutoFit/>
          </a:bodyPr>
          <a:lstStyle/>
          <a:p>
            <a:r>
              <a:rPr lang="en-US" altLang="zh-CN" sz="2000" b="1" dirty="0">
                <a:solidFill>
                  <a:srgbClr val="FF0000"/>
                </a:solidFill>
                <a:highlight>
                  <a:srgbClr val="FFFF00"/>
                </a:highlight>
              </a:rPr>
              <a:t>Top 10 providers hosting 54.19%</a:t>
            </a:r>
            <a:endParaRPr lang="zh-CN" altLang="en-US" sz="2000" b="1" dirty="0">
              <a:solidFill>
                <a:srgbClr val="FF0000"/>
              </a:solidFill>
              <a:highlight>
                <a:srgbClr val="FFFF00"/>
              </a:highlight>
            </a:endParaRPr>
          </a:p>
        </p:txBody>
      </p:sp>
      <p:sp>
        <p:nvSpPr>
          <p:cNvPr id="13" name="文本框 12">
            <a:extLst>
              <a:ext uri="{FF2B5EF4-FFF2-40B4-BE49-F238E27FC236}">
                <a16:creationId xmlns:a16="http://schemas.microsoft.com/office/drawing/2014/main" id="{796F666F-2411-EAC7-3B0D-99556EBB676B}"/>
              </a:ext>
            </a:extLst>
          </p:cNvPr>
          <p:cNvSpPr txBox="1"/>
          <p:nvPr/>
        </p:nvSpPr>
        <p:spPr>
          <a:xfrm>
            <a:off x="4404704" y="2252312"/>
            <a:ext cx="4248230" cy="400110"/>
          </a:xfrm>
          <a:prstGeom prst="rect">
            <a:avLst/>
          </a:prstGeom>
          <a:noFill/>
        </p:spPr>
        <p:txBody>
          <a:bodyPr wrap="square" rtlCol="0">
            <a:spAutoFit/>
          </a:bodyPr>
          <a:lstStyle/>
          <a:p>
            <a:r>
              <a:rPr lang="en-US" altLang="zh-CN" sz="2000" b="1" dirty="0">
                <a:solidFill>
                  <a:srgbClr val="FF0000"/>
                </a:solidFill>
                <a:highlight>
                  <a:srgbClr val="FFFF00"/>
                </a:highlight>
                <a:latin typeface="+mn-ea"/>
              </a:rPr>
              <a:t>Top 100 providers hosting 82.99%</a:t>
            </a:r>
            <a:endParaRPr lang="zh-CN" altLang="en-US" sz="2000" b="1" dirty="0">
              <a:solidFill>
                <a:srgbClr val="FF0000"/>
              </a:solidFill>
              <a:highlight>
                <a:srgbClr val="FFFF00"/>
              </a:highlight>
              <a:latin typeface="+mn-ea"/>
            </a:endParaRPr>
          </a:p>
        </p:txBody>
      </p:sp>
      <p:sp>
        <p:nvSpPr>
          <p:cNvPr id="14" name="燕尾形箭头 1">
            <a:extLst>
              <a:ext uri="{FF2B5EF4-FFF2-40B4-BE49-F238E27FC236}">
                <a16:creationId xmlns:a16="http://schemas.microsoft.com/office/drawing/2014/main" id="{FBD13A7C-F48F-0858-11D2-3F54629302C5}"/>
              </a:ext>
            </a:extLst>
          </p:cNvPr>
          <p:cNvSpPr/>
          <p:nvPr/>
        </p:nvSpPr>
        <p:spPr>
          <a:xfrm rot="7137752">
            <a:off x="5242479" y="2975876"/>
            <a:ext cx="775935" cy="153180"/>
          </a:xfrm>
          <a:prstGeom prst="notched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燕尾形箭头 1">
            <a:extLst>
              <a:ext uri="{FF2B5EF4-FFF2-40B4-BE49-F238E27FC236}">
                <a16:creationId xmlns:a16="http://schemas.microsoft.com/office/drawing/2014/main" id="{7EB6040A-86E3-838C-10E6-24E3B8DD57E4}"/>
              </a:ext>
            </a:extLst>
          </p:cNvPr>
          <p:cNvSpPr/>
          <p:nvPr/>
        </p:nvSpPr>
        <p:spPr>
          <a:xfrm rot="3003777">
            <a:off x="3499290" y="3812845"/>
            <a:ext cx="1180256" cy="111297"/>
          </a:xfrm>
          <a:prstGeom prst="notched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a:extLst>
              <a:ext uri="{FF2B5EF4-FFF2-40B4-BE49-F238E27FC236}">
                <a16:creationId xmlns:a16="http://schemas.microsoft.com/office/drawing/2014/main" id="{2DAB85C9-5A55-4EEF-A942-273D190C80A9}"/>
              </a:ext>
            </a:extLst>
          </p:cNvPr>
          <p:cNvSpPr/>
          <p:nvPr/>
        </p:nvSpPr>
        <p:spPr>
          <a:xfrm>
            <a:off x="7631381" y="6068688"/>
            <a:ext cx="345957" cy="345957"/>
          </a:xfrm>
          <a:prstGeom prst="ellipse">
            <a:avLst/>
          </a:prstGeom>
          <a:noFill/>
          <a:ln>
            <a:prstDash val="dash"/>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3B5B8A5B-6DCB-F234-E44F-DA945AD2E4EC}"/>
              </a:ext>
            </a:extLst>
          </p:cNvPr>
          <p:cNvSpPr txBox="1"/>
          <p:nvPr/>
        </p:nvSpPr>
        <p:spPr>
          <a:xfrm>
            <a:off x="8848265" y="6041611"/>
            <a:ext cx="2339794" cy="400110"/>
          </a:xfrm>
          <a:prstGeom prst="rect">
            <a:avLst/>
          </a:prstGeom>
          <a:noFill/>
        </p:spPr>
        <p:txBody>
          <a:bodyPr wrap="square" rtlCol="0">
            <a:spAutoFit/>
          </a:bodyPr>
          <a:lstStyle/>
          <a:p>
            <a:r>
              <a:rPr lang="en-US" altLang="zh-CN" sz="2000" b="1" dirty="0">
                <a:solidFill>
                  <a:srgbClr val="FF0000"/>
                </a:solidFill>
                <a:highlight>
                  <a:srgbClr val="FFFF00"/>
                </a:highlight>
                <a:latin typeface="+mn-ea"/>
              </a:rPr>
              <a:t>530,111 providers</a:t>
            </a:r>
            <a:endParaRPr lang="zh-CN" altLang="en-US" sz="2000" b="1" dirty="0">
              <a:solidFill>
                <a:srgbClr val="FF0000"/>
              </a:solidFill>
              <a:highlight>
                <a:srgbClr val="FFFF00"/>
              </a:highlight>
              <a:latin typeface="+mn-ea"/>
            </a:endParaRPr>
          </a:p>
        </p:txBody>
      </p:sp>
      <p:sp>
        <p:nvSpPr>
          <p:cNvPr id="18" name="燕尾形箭头 1">
            <a:extLst>
              <a:ext uri="{FF2B5EF4-FFF2-40B4-BE49-F238E27FC236}">
                <a16:creationId xmlns:a16="http://schemas.microsoft.com/office/drawing/2014/main" id="{A89B6AB8-9778-FEE8-8453-96C13F3382A0}"/>
              </a:ext>
            </a:extLst>
          </p:cNvPr>
          <p:cNvSpPr/>
          <p:nvPr/>
        </p:nvSpPr>
        <p:spPr>
          <a:xfrm rot="10800000">
            <a:off x="8047005" y="6185113"/>
            <a:ext cx="775935" cy="153180"/>
          </a:xfrm>
          <a:prstGeom prst="notched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082008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3" grpId="0"/>
      <p:bldP spid="14" grpId="0" animBg="1"/>
      <p:bldP spid="15" grpId="0" animBg="1"/>
      <p:bldP spid="16" grpId="0" animBg="1"/>
      <p:bldP spid="17" grpId="0"/>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1" y="184298"/>
            <a:ext cx="6844903" cy="646331"/>
          </a:xfrm>
          <a:prstGeom prst="rect">
            <a:avLst/>
          </a:prstGeom>
          <a:noFill/>
        </p:spPr>
        <p:txBody>
          <a:bodyPr wrap="square">
            <a:spAutoFit/>
          </a:bodyPr>
          <a:lstStyle/>
          <a:p>
            <a:r>
              <a:rPr lang="en-US" altLang="zh-CN" sz="3600" b="1" i="0" dirty="0">
                <a:solidFill>
                  <a:schemeClr val="bg1"/>
                </a:solidFill>
                <a:effectLst/>
                <a:latin typeface="HelveticaNeue-Bold"/>
              </a:rPr>
              <a:t>An Interesting </a:t>
            </a:r>
            <a:r>
              <a:rPr lang="en-US" altLang="zh-CN" sz="3600" b="1" dirty="0">
                <a:solidFill>
                  <a:schemeClr val="bg1"/>
                </a:solidFill>
                <a:latin typeface="HelveticaNeue-Bold"/>
              </a:rPr>
              <a:t>F</a:t>
            </a:r>
            <a:r>
              <a:rPr lang="en-US" altLang="zh-CN" sz="3600" b="1" i="0" dirty="0">
                <a:solidFill>
                  <a:schemeClr val="bg1"/>
                </a:solidFill>
                <a:effectLst/>
                <a:latin typeface="HelveticaNeue-Bold"/>
              </a:rPr>
              <a:t>inding</a:t>
            </a: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88595782-F144-FABF-6D87-7AC0B0C511CD}"/>
              </a:ext>
            </a:extLst>
          </p:cNvPr>
          <p:cNvSpPr txBox="1"/>
          <p:nvPr/>
        </p:nvSpPr>
        <p:spPr>
          <a:xfrm>
            <a:off x="1934631" y="1236818"/>
            <a:ext cx="8322733" cy="369332"/>
          </a:xfrm>
          <a:prstGeom prst="rect">
            <a:avLst/>
          </a:prstGeom>
          <a:noFill/>
        </p:spPr>
        <p:txBody>
          <a:bodyPr wrap="square">
            <a:spAutoFit/>
          </a:bodyPr>
          <a:lstStyle/>
          <a:p>
            <a:r>
              <a:rPr lang="zh-CN" altLang="en-US" i="1" dirty="0">
                <a:latin typeface="微软雅黑" panose="020B0503020204020204" pitchFamily="34" charset="-122"/>
                <a:ea typeface="微软雅黑" panose="020B0503020204020204" pitchFamily="34" charset="-122"/>
              </a:rPr>
              <a:t>squarespacedns.com </a:t>
            </a:r>
            <a:r>
              <a:rPr lang="zh-CN" altLang="en-US" dirty="0">
                <a:latin typeface="微软雅黑" panose="020B0503020204020204" pitchFamily="34" charset="-122"/>
                <a:ea typeface="微软雅黑" panose="020B0503020204020204" pitchFamily="34" charset="-122"/>
              </a:rPr>
              <a:t>and </a:t>
            </a:r>
            <a:r>
              <a:rPr lang="zh-CN" altLang="en-US" i="1" dirty="0">
                <a:latin typeface="微软雅黑" panose="020B0503020204020204" pitchFamily="34" charset="-122"/>
                <a:ea typeface="微软雅黑" panose="020B0503020204020204" pitchFamily="34" charset="-122"/>
              </a:rPr>
              <a:t>gannett-dns.com </a:t>
            </a:r>
            <a:r>
              <a:rPr lang="zh-CN" altLang="en-US" dirty="0">
                <a:latin typeface="微软雅黑" panose="020B0503020204020204" pitchFamily="34" charset="-122"/>
                <a:ea typeface="微软雅黑" panose="020B0503020204020204" pitchFamily="34" charset="-122"/>
              </a:rPr>
              <a:t>are categorized under NSone</a:t>
            </a:r>
          </a:p>
        </p:txBody>
      </p:sp>
      <p:pic>
        <p:nvPicPr>
          <p:cNvPr id="8" name="图片 7">
            <a:extLst>
              <a:ext uri="{FF2B5EF4-FFF2-40B4-BE49-F238E27FC236}">
                <a16:creationId xmlns:a16="http://schemas.microsoft.com/office/drawing/2014/main" id="{703E3072-9B8F-EAFE-C804-58CE8DA72E7C}"/>
              </a:ext>
            </a:extLst>
          </p:cNvPr>
          <p:cNvPicPr>
            <a:picLocks noChangeAspect="1"/>
          </p:cNvPicPr>
          <p:nvPr/>
        </p:nvPicPr>
        <p:blipFill>
          <a:blip r:embed="rId3"/>
          <a:stretch>
            <a:fillRect/>
          </a:stretch>
        </p:blipFill>
        <p:spPr>
          <a:xfrm>
            <a:off x="309035" y="1827679"/>
            <a:ext cx="5219780" cy="3438588"/>
          </a:xfrm>
          <a:prstGeom prst="rect">
            <a:avLst/>
          </a:prstGeom>
        </p:spPr>
      </p:pic>
      <p:sp>
        <p:nvSpPr>
          <p:cNvPr id="22" name="矩形 21">
            <a:extLst>
              <a:ext uri="{FF2B5EF4-FFF2-40B4-BE49-F238E27FC236}">
                <a16:creationId xmlns:a16="http://schemas.microsoft.com/office/drawing/2014/main" id="{5F97B6C7-586E-3015-2AF1-F91EE1D0BB1E}"/>
              </a:ext>
            </a:extLst>
          </p:cNvPr>
          <p:cNvSpPr/>
          <p:nvPr/>
        </p:nvSpPr>
        <p:spPr>
          <a:xfrm>
            <a:off x="3039533" y="4961467"/>
            <a:ext cx="609600" cy="19896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3" name="箭头: 下 22">
            <a:extLst>
              <a:ext uri="{FF2B5EF4-FFF2-40B4-BE49-F238E27FC236}">
                <a16:creationId xmlns:a16="http://schemas.microsoft.com/office/drawing/2014/main" id="{CA38A745-C10C-1FCC-2ECB-A09F4DA41CF3}"/>
              </a:ext>
            </a:extLst>
          </p:cNvPr>
          <p:cNvSpPr/>
          <p:nvPr/>
        </p:nvSpPr>
        <p:spPr>
          <a:xfrm rot="18801108">
            <a:off x="3762290" y="5053660"/>
            <a:ext cx="93134" cy="24908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7D8E4B6F-F310-234C-9989-F7FCEAED1187}"/>
              </a:ext>
            </a:extLst>
          </p:cNvPr>
          <p:cNvSpPr txBox="1"/>
          <p:nvPr/>
        </p:nvSpPr>
        <p:spPr>
          <a:xfrm>
            <a:off x="3344333" y="5251327"/>
            <a:ext cx="1593420" cy="830997"/>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gannett-dns.com</a:t>
            </a:r>
          </a:p>
          <a:p>
            <a:pPr algn="ctr"/>
            <a:r>
              <a:rPr lang="en-US" altLang="zh-CN" sz="1200" dirty="0">
                <a:latin typeface="微软雅黑" panose="020B0503020204020204" pitchFamily="34" charset="-122"/>
                <a:ea typeface="微软雅黑" panose="020B0503020204020204" pitchFamily="34" charset="-122"/>
              </a:rPr>
              <a:t>kenvuedns.com</a:t>
            </a:r>
          </a:p>
          <a:p>
            <a:pPr algn="ctr"/>
            <a:r>
              <a:rPr lang="en-US" altLang="zh-CN" sz="1200" dirty="0">
                <a:latin typeface="微软雅黑" panose="020B0503020204020204" pitchFamily="34" charset="-122"/>
                <a:ea typeface="微软雅黑" panose="020B0503020204020204" pitchFamily="34" charset="-122"/>
              </a:rPr>
              <a:t>jnjdns.com</a:t>
            </a:r>
          </a:p>
          <a:p>
            <a:pPr algn="ctr"/>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FAE528AE-1D1C-83D1-30FF-04997FE775D3}"/>
              </a:ext>
            </a:extLst>
          </p:cNvPr>
          <p:cNvSpPr txBox="1"/>
          <p:nvPr/>
        </p:nvSpPr>
        <p:spPr>
          <a:xfrm>
            <a:off x="6163733" y="4106333"/>
            <a:ext cx="5092700" cy="954107"/>
          </a:xfrm>
          <a:prstGeom prst="rect">
            <a:avLst/>
          </a:prstGeom>
          <a:noFill/>
        </p:spPr>
        <p:txBody>
          <a:bodyPr wrap="square" rtlCol="0">
            <a:spAutoFit/>
          </a:bodyPr>
          <a:lstStyle/>
          <a:p>
            <a:r>
              <a:rPr lang="en-US" altLang="zh-CN" sz="2800" dirty="0">
                <a:latin typeface="微软雅黑" panose="020B0503020204020204" pitchFamily="34" charset="-122"/>
                <a:ea typeface="微软雅黑" panose="020B0503020204020204" pitchFamily="34" charset="-122"/>
              </a:rPr>
              <a:t>High rate of Co-hosting</a:t>
            </a:r>
          </a:p>
          <a:p>
            <a:r>
              <a:rPr lang="en-US" altLang="zh-CN" sz="2800" dirty="0">
                <a:latin typeface="Times New Roman" panose="02020603050405020304" pitchFamily="18" charset="0"/>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Unrelated</a:t>
            </a:r>
            <a:r>
              <a:rPr lang="en-US" altLang="zh-CN" sz="2800" dirty="0">
                <a:latin typeface="Times New Roman" panose="02020603050405020304" pitchFamily="18" charset="0"/>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base domain</a:t>
            </a:r>
            <a:endParaRPr lang="zh-CN" altLang="en-US" sz="2800" dirty="0">
              <a:latin typeface="微软雅黑" panose="020B0503020204020204" pitchFamily="34" charset="-122"/>
              <a:ea typeface="微软雅黑" panose="020B0503020204020204" pitchFamily="34" charset="-122"/>
            </a:endParaRPr>
          </a:p>
        </p:txBody>
      </p:sp>
      <p:sp>
        <p:nvSpPr>
          <p:cNvPr id="26" name="箭头: 左 25">
            <a:extLst>
              <a:ext uri="{FF2B5EF4-FFF2-40B4-BE49-F238E27FC236}">
                <a16:creationId xmlns:a16="http://schemas.microsoft.com/office/drawing/2014/main" id="{5EBE2C7A-7D7D-1804-5157-EE248DE853A2}"/>
              </a:ext>
            </a:extLst>
          </p:cNvPr>
          <p:cNvSpPr/>
          <p:nvPr/>
        </p:nvSpPr>
        <p:spPr>
          <a:xfrm rot="1615927">
            <a:off x="5140695" y="3679983"/>
            <a:ext cx="1227667" cy="197169"/>
          </a:xfrm>
          <a:prstGeom prst="lef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7" name="箭头: 左 26">
            <a:extLst>
              <a:ext uri="{FF2B5EF4-FFF2-40B4-BE49-F238E27FC236}">
                <a16:creationId xmlns:a16="http://schemas.microsoft.com/office/drawing/2014/main" id="{47DF9CC9-D8B6-E0DF-0E28-6F83FA411D84}"/>
              </a:ext>
            </a:extLst>
          </p:cNvPr>
          <p:cNvSpPr/>
          <p:nvPr/>
        </p:nvSpPr>
        <p:spPr>
          <a:xfrm rot="20486074">
            <a:off x="4883594" y="4983202"/>
            <a:ext cx="1227667" cy="197169"/>
          </a:xfrm>
          <a:prstGeom prst="lef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D3529F0D-431A-7678-20A8-5695F46CDC22}"/>
              </a:ext>
            </a:extLst>
          </p:cNvPr>
          <p:cNvSpPr/>
          <p:nvPr/>
        </p:nvSpPr>
        <p:spPr>
          <a:xfrm>
            <a:off x="-13830" y="6037007"/>
            <a:ext cx="12205830" cy="820992"/>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29" name="文本框 28">
            <a:extLst>
              <a:ext uri="{FF2B5EF4-FFF2-40B4-BE49-F238E27FC236}">
                <a16:creationId xmlns:a16="http://schemas.microsoft.com/office/drawing/2014/main" id="{D115012C-706D-9B13-1824-D6473D5BBED3}"/>
              </a:ext>
            </a:extLst>
          </p:cNvPr>
          <p:cNvSpPr txBox="1"/>
          <p:nvPr/>
        </p:nvSpPr>
        <p:spPr>
          <a:xfrm>
            <a:off x="2113655" y="6228576"/>
            <a:ext cx="7937034" cy="461665"/>
          </a:xfrm>
          <a:prstGeom prst="rect">
            <a:avLst/>
          </a:prstGeom>
          <a:noFill/>
        </p:spPr>
        <p:txBody>
          <a:bodyPr wrap="squar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Base domain ≠ hosting providers</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32419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 calcmode="lin" valueType="num">
                                      <p:cBhvr additive="base">
                                        <p:cTn id="30" dur="500" fill="hold"/>
                                        <p:tgtEl>
                                          <p:spTgt spid="29"/>
                                        </p:tgtEl>
                                        <p:attrNameLst>
                                          <p:attrName>ppt_x</p:attrName>
                                        </p:attrNameLst>
                                      </p:cBhvr>
                                      <p:tavLst>
                                        <p:tav tm="0">
                                          <p:val>
                                            <p:strVal val="#ppt_x"/>
                                          </p:val>
                                        </p:tav>
                                        <p:tav tm="100000">
                                          <p:val>
                                            <p:strVal val="#ppt_x"/>
                                          </p:val>
                                        </p:tav>
                                      </p:tavLst>
                                    </p:anim>
                                    <p:anim calcmode="lin" valueType="num">
                                      <p:cBhvr additive="base">
                                        <p:cTn id="31" dur="500" fill="hold"/>
                                        <p:tgtEl>
                                          <p:spTgt spid="2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 calcmode="lin" valueType="num">
                                      <p:cBhvr additive="base">
                                        <p:cTn id="34" dur="500" fill="hold"/>
                                        <p:tgtEl>
                                          <p:spTgt spid="28"/>
                                        </p:tgtEl>
                                        <p:attrNameLst>
                                          <p:attrName>ppt_x</p:attrName>
                                        </p:attrNameLst>
                                      </p:cBhvr>
                                      <p:tavLst>
                                        <p:tav tm="0">
                                          <p:val>
                                            <p:strVal val="#ppt_x"/>
                                          </p:val>
                                        </p:tav>
                                        <p:tav tm="100000">
                                          <p:val>
                                            <p:strVal val="#ppt_x"/>
                                          </p:val>
                                        </p:tav>
                                      </p:tavLst>
                                    </p:anim>
                                    <p:anim calcmode="lin" valueType="num">
                                      <p:cBhvr additive="base">
                                        <p:cTn id="35"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p:bldP spid="25" grpId="0"/>
      <p:bldP spid="26" grpId="0" animBg="1"/>
      <p:bldP spid="27" grpId="0" animBg="1"/>
      <p:bldP spid="28" grpId="0" animBg="1"/>
      <p:bldP spid="2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1" y="184298"/>
            <a:ext cx="6844903" cy="646331"/>
          </a:xfrm>
          <a:prstGeom prst="rect">
            <a:avLst/>
          </a:prstGeom>
          <a:noFill/>
        </p:spPr>
        <p:txBody>
          <a:bodyPr wrap="square">
            <a:spAutoFit/>
          </a:bodyPr>
          <a:lstStyle/>
          <a:p>
            <a:r>
              <a:rPr lang="en-US" altLang="zh-CN" sz="3600" b="1" i="0" dirty="0">
                <a:solidFill>
                  <a:schemeClr val="bg1"/>
                </a:solidFill>
                <a:effectLst/>
                <a:latin typeface="HelveticaNeue-Bold"/>
              </a:rPr>
              <a:t>Providers vs Infrastructures </a:t>
            </a: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D6BEC0B1-D1CD-E4B4-914E-19C69454B477}"/>
              </a:ext>
            </a:extLst>
          </p:cNvPr>
          <p:cNvPicPr>
            <a:picLocks noChangeAspect="1"/>
          </p:cNvPicPr>
          <p:nvPr/>
        </p:nvPicPr>
        <p:blipFill>
          <a:blip r:embed="rId3"/>
          <a:stretch>
            <a:fillRect/>
          </a:stretch>
        </p:blipFill>
        <p:spPr>
          <a:xfrm>
            <a:off x="478731" y="1845057"/>
            <a:ext cx="5006632" cy="2787477"/>
          </a:xfrm>
          <a:prstGeom prst="rect">
            <a:avLst/>
          </a:prstGeom>
        </p:spPr>
      </p:pic>
      <p:pic>
        <p:nvPicPr>
          <p:cNvPr id="3" name="图片 2">
            <a:extLst>
              <a:ext uri="{FF2B5EF4-FFF2-40B4-BE49-F238E27FC236}">
                <a16:creationId xmlns:a16="http://schemas.microsoft.com/office/drawing/2014/main" id="{6B5BFE0A-D22D-04B1-68F9-5F7A7AF9F950}"/>
              </a:ext>
            </a:extLst>
          </p:cNvPr>
          <p:cNvPicPr>
            <a:picLocks noChangeAspect="1"/>
          </p:cNvPicPr>
          <p:nvPr/>
        </p:nvPicPr>
        <p:blipFill>
          <a:blip r:embed="rId4"/>
          <a:stretch>
            <a:fillRect/>
          </a:stretch>
        </p:blipFill>
        <p:spPr>
          <a:xfrm>
            <a:off x="5766792" y="1893141"/>
            <a:ext cx="6229679" cy="2691307"/>
          </a:xfrm>
          <a:prstGeom prst="rect">
            <a:avLst/>
          </a:prstGeom>
        </p:spPr>
      </p:pic>
      <p:sp>
        <p:nvSpPr>
          <p:cNvPr id="4" name="矩形 3">
            <a:extLst>
              <a:ext uri="{FF2B5EF4-FFF2-40B4-BE49-F238E27FC236}">
                <a16:creationId xmlns:a16="http://schemas.microsoft.com/office/drawing/2014/main" id="{AC7C528A-77BC-F9DE-7940-4D9383442D51}"/>
              </a:ext>
            </a:extLst>
          </p:cNvPr>
          <p:cNvSpPr/>
          <p:nvPr/>
        </p:nvSpPr>
        <p:spPr>
          <a:xfrm>
            <a:off x="516222" y="1896075"/>
            <a:ext cx="1382110" cy="270256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045BE4D-6FB2-A6F4-FCFD-A98F23A59992}"/>
              </a:ext>
            </a:extLst>
          </p:cNvPr>
          <p:cNvSpPr/>
          <p:nvPr/>
        </p:nvSpPr>
        <p:spPr>
          <a:xfrm>
            <a:off x="6753484" y="1874908"/>
            <a:ext cx="1565015" cy="2691307"/>
          </a:xfrm>
          <a:prstGeom prst="rect">
            <a:avLst/>
          </a:prstGeom>
          <a:noFill/>
          <a:ln w="38100">
            <a:solidFill>
              <a:srgbClr val="005BA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7F5072B2-A8FF-BB0B-9F20-315C1DC9BBCC}"/>
              </a:ext>
            </a:extLst>
          </p:cNvPr>
          <p:cNvSpPr txBox="1"/>
          <p:nvPr/>
        </p:nvSpPr>
        <p:spPr>
          <a:xfrm>
            <a:off x="2561166" y="4721200"/>
            <a:ext cx="6197600" cy="461665"/>
          </a:xfrm>
          <a:prstGeom prst="rect">
            <a:avLst/>
          </a:prstGeom>
          <a:noFill/>
        </p:spPr>
        <p:txBody>
          <a:bodyPr wrap="square">
            <a:spAutoFit/>
          </a:bodyPr>
          <a:lstStyle/>
          <a:p>
            <a:pPr algn="ctr"/>
            <a:r>
              <a:rPr lang="en-US" altLang="zh-CN" sz="2400" b="1" i="0" dirty="0">
                <a:solidFill>
                  <a:srgbClr val="FF0000"/>
                </a:solidFill>
                <a:effectLst/>
                <a:latin typeface="微软雅黑" panose="020B0503020204020204" pitchFamily="34" charset="-122"/>
                <a:ea typeface="微软雅黑" panose="020B0503020204020204" pitchFamily="34" charset="-122"/>
              </a:rPr>
              <a:t>Exhibit no one-to-one correspondence</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E5B238E1-5987-3757-A69A-4E4EF1974E78}"/>
              </a:ext>
            </a:extLst>
          </p:cNvPr>
          <p:cNvPicPr>
            <a:picLocks noChangeAspect="1"/>
          </p:cNvPicPr>
          <p:nvPr/>
        </p:nvPicPr>
        <p:blipFill>
          <a:blip r:embed="rId5"/>
          <a:stretch>
            <a:fillRect/>
          </a:stretch>
        </p:blipFill>
        <p:spPr>
          <a:xfrm>
            <a:off x="325506" y="1845057"/>
            <a:ext cx="5398844" cy="3253040"/>
          </a:xfrm>
          <a:prstGeom prst="rect">
            <a:avLst/>
          </a:prstGeom>
        </p:spPr>
      </p:pic>
      <p:pic>
        <p:nvPicPr>
          <p:cNvPr id="14" name="图片 13">
            <a:extLst>
              <a:ext uri="{FF2B5EF4-FFF2-40B4-BE49-F238E27FC236}">
                <a16:creationId xmlns:a16="http://schemas.microsoft.com/office/drawing/2014/main" id="{5DC92EA5-62AD-F426-A15A-A6868C5AA8DC}"/>
              </a:ext>
            </a:extLst>
          </p:cNvPr>
          <p:cNvPicPr>
            <a:picLocks noChangeAspect="1"/>
          </p:cNvPicPr>
          <p:nvPr/>
        </p:nvPicPr>
        <p:blipFill>
          <a:blip r:embed="rId6"/>
          <a:stretch>
            <a:fillRect/>
          </a:stretch>
        </p:blipFill>
        <p:spPr>
          <a:xfrm>
            <a:off x="6007115" y="1545167"/>
            <a:ext cx="4937969" cy="4230563"/>
          </a:xfrm>
          <a:prstGeom prst="rect">
            <a:avLst/>
          </a:prstGeom>
        </p:spPr>
      </p:pic>
      <p:sp>
        <p:nvSpPr>
          <p:cNvPr id="15" name="文本框 14">
            <a:extLst>
              <a:ext uri="{FF2B5EF4-FFF2-40B4-BE49-F238E27FC236}">
                <a16:creationId xmlns:a16="http://schemas.microsoft.com/office/drawing/2014/main" id="{2A9AFF55-94C0-99B6-F417-226B7DCA45E1}"/>
              </a:ext>
            </a:extLst>
          </p:cNvPr>
          <p:cNvSpPr txBox="1"/>
          <p:nvPr/>
        </p:nvSpPr>
        <p:spPr>
          <a:xfrm>
            <a:off x="1235797" y="5086865"/>
            <a:ext cx="3492500"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Providers to infrastructures</a:t>
            </a:r>
            <a:endParaRPr lang="zh-CN" altLang="en-US"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A5D08D19-6170-CBC1-9175-E265210542B1}"/>
              </a:ext>
            </a:extLst>
          </p:cNvPr>
          <p:cNvSpPr txBox="1"/>
          <p:nvPr/>
        </p:nvSpPr>
        <p:spPr>
          <a:xfrm>
            <a:off x="6603662" y="5755702"/>
            <a:ext cx="3962737"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Top 5 infrastructures to providers</a:t>
            </a:r>
            <a:endParaRPr lang="zh-CN" altLang="en-US" dirty="0">
              <a:latin typeface="微软雅黑" panose="020B0503020204020204" pitchFamily="34" charset="-122"/>
              <a:ea typeface="微软雅黑" panose="020B0503020204020204" pitchFamily="34" charset="-122"/>
            </a:endParaRPr>
          </a:p>
        </p:txBody>
      </p:sp>
      <p:pic>
        <p:nvPicPr>
          <p:cNvPr id="17" name="图片 16" descr="图片包含 表格&#10;&#10;AI-generated content may be incorrect.">
            <a:extLst>
              <a:ext uri="{FF2B5EF4-FFF2-40B4-BE49-F238E27FC236}">
                <a16:creationId xmlns:a16="http://schemas.microsoft.com/office/drawing/2014/main" id="{5AFD9719-6A9E-5B24-6CCC-4C1EE00C769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55701" y="1130848"/>
            <a:ext cx="4410905" cy="4983255"/>
          </a:xfrm>
          <a:prstGeom prst="rect">
            <a:avLst/>
          </a:prstGeom>
        </p:spPr>
      </p:pic>
      <p:sp>
        <p:nvSpPr>
          <p:cNvPr id="18" name="矩形 17">
            <a:extLst>
              <a:ext uri="{FF2B5EF4-FFF2-40B4-BE49-F238E27FC236}">
                <a16:creationId xmlns:a16="http://schemas.microsoft.com/office/drawing/2014/main" id="{21682C20-88FA-A49E-DFA6-49B88190C418}"/>
              </a:ext>
            </a:extLst>
          </p:cNvPr>
          <p:cNvSpPr/>
          <p:nvPr/>
        </p:nvSpPr>
        <p:spPr>
          <a:xfrm>
            <a:off x="-13830" y="6176441"/>
            <a:ext cx="12205830" cy="681558"/>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9" name="文本框 18">
            <a:extLst>
              <a:ext uri="{FF2B5EF4-FFF2-40B4-BE49-F238E27FC236}">
                <a16:creationId xmlns:a16="http://schemas.microsoft.com/office/drawing/2014/main" id="{02F02B10-E087-DD95-D552-55445AC816D9}"/>
              </a:ext>
            </a:extLst>
          </p:cNvPr>
          <p:cNvSpPr txBox="1"/>
          <p:nvPr/>
        </p:nvSpPr>
        <p:spPr>
          <a:xfrm>
            <a:off x="2120568" y="6286387"/>
            <a:ext cx="7937034" cy="461665"/>
          </a:xfrm>
          <a:prstGeom prst="rect">
            <a:avLst/>
          </a:prstGeom>
          <a:noFill/>
        </p:spPr>
        <p:txBody>
          <a:bodyPr wrap="squar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Complex many-to-many relationships</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84466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2"/>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3"/>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4"/>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1"/>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4"/>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16"/>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5"/>
                                        </p:tgtEl>
                                        <p:attrNameLst>
                                          <p:attrName>style.visibility</p:attrName>
                                        </p:attrNameLst>
                                      </p:cBhvr>
                                      <p:to>
                                        <p:strVal val="hidden"/>
                                      </p:to>
                                    </p:set>
                                  </p:childTnLst>
                                </p:cTn>
                              </p:par>
                              <p:par>
                                <p:cTn id="49" presetID="2" presetClass="entr" presetSubtype="4"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ppt_x"/>
                                          </p:val>
                                        </p:tav>
                                        <p:tav tm="100000">
                                          <p:val>
                                            <p:strVal val="#ppt_x"/>
                                          </p:val>
                                        </p:tav>
                                      </p:tavLst>
                                    </p:anim>
                                    <p:anim calcmode="lin" valueType="num">
                                      <p:cBhvr additive="base">
                                        <p:cTn id="6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6" grpId="0" animBg="1"/>
      <p:bldP spid="6" grpId="1" animBg="1"/>
      <p:bldP spid="9" grpId="0"/>
      <p:bldP spid="9" grpId="1"/>
      <p:bldP spid="15" grpId="0"/>
      <p:bldP spid="15" grpId="1"/>
      <p:bldP spid="16" grpId="0"/>
      <p:bldP spid="16" grpId="1"/>
      <p:bldP spid="18" grpId="0" animBg="1"/>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矩形 1032">
            <a:extLst>
              <a:ext uri="{FF2B5EF4-FFF2-40B4-BE49-F238E27FC236}">
                <a16:creationId xmlns:a16="http://schemas.microsoft.com/office/drawing/2014/main" id="{BE82BEE0-9C83-7957-A3D9-EF92CAE59019}"/>
              </a:ext>
            </a:extLst>
          </p:cNvPr>
          <p:cNvSpPr/>
          <p:nvPr/>
        </p:nvSpPr>
        <p:spPr>
          <a:xfrm>
            <a:off x="-4" y="1"/>
            <a:ext cx="12192004" cy="1093050"/>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12" name="文本框 11">
            <a:extLst>
              <a:ext uri="{FF2B5EF4-FFF2-40B4-BE49-F238E27FC236}">
                <a16:creationId xmlns:a16="http://schemas.microsoft.com/office/drawing/2014/main" id="{41C4DBEA-3675-53E1-7BF9-045E651F38BA}"/>
              </a:ext>
            </a:extLst>
          </p:cNvPr>
          <p:cNvSpPr txBox="1"/>
          <p:nvPr/>
        </p:nvSpPr>
        <p:spPr>
          <a:xfrm>
            <a:off x="-12071" y="184298"/>
            <a:ext cx="6844903" cy="646331"/>
          </a:xfrm>
          <a:prstGeom prst="rect">
            <a:avLst/>
          </a:prstGeom>
          <a:noFill/>
        </p:spPr>
        <p:txBody>
          <a:bodyPr wrap="square">
            <a:spAutoFit/>
          </a:bodyPr>
          <a:lstStyle/>
          <a:p>
            <a:r>
              <a:rPr lang="en-US" altLang="zh-CN" sz="3600" b="1" i="0" dirty="0">
                <a:solidFill>
                  <a:schemeClr val="bg1"/>
                </a:solidFill>
                <a:effectLst/>
                <a:latin typeface="HelveticaNeue-Bold"/>
              </a:rPr>
              <a:t>Conclusion</a:t>
            </a:r>
          </a:p>
        </p:txBody>
      </p:sp>
      <p:pic>
        <p:nvPicPr>
          <p:cNvPr id="1035" name="Picture 2">
            <a:extLst>
              <a:ext uri="{FF2B5EF4-FFF2-40B4-BE49-F238E27FC236}">
                <a16:creationId xmlns:a16="http://schemas.microsoft.com/office/drawing/2014/main" id="{5C3D98CA-D4B4-34B2-0F28-57630EAE0F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1ECEAD5D-34A2-147A-09F1-5BA18336D816}"/>
              </a:ext>
            </a:extLst>
          </p:cNvPr>
          <p:cNvSpPr txBox="1"/>
          <p:nvPr/>
        </p:nvSpPr>
        <p:spPr>
          <a:xfrm>
            <a:off x="533397" y="2121585"/>
            <a:ext cx="11125201" cy="279704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T</a:t>
            </a:r>
            <a:r>
              <a:rPr lang="en-US" altLang="zh-CN" sz="2400" b="0" i="0" dirty="0">
                <a:effectLst/>
                <a:latin typeface="微软雅黑" panose="020B0503020204020204" pitchFamily="34" charset="-122"/>
                <a:ea typeface="微软雅黑" panose="020B0503020204020204" pitchFamily="34" charset="-122"/>
              </a:rPr>
              <a:t>wo kinds of clustering for identifying hosting providers are effective.</a:t>
            </a:r>
          </a:p>
          <a:p>
            <a:pPr marL="285750" indent="-285750">
              <a:lnSpc>
                <a:spcPct val="15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DNS exhibits significant centralization at the cloud hosting provider level</a:t>
            </a:r>
          </a:p>
          <a:p>
            <a:pPr marL="285750" indent="-285750">
              <a:lnSpc>
                <a:spcPct val="15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NS cannot be directly inferred from their visible characteristics</a:t>
            </a:r>
          </a:p>
          <a:p>
            <a:pPr marL="285750" indent="-285750">
              <a:lnSpc>
                <a:spcPct val="15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Hosting providers and physical infrastructure operate as a complex many-to-many relationship.</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34638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14B4F88-D454-822E-6959-E72E96450BE4}"/>
              </a:ext>
            </a:extLst>
          </p:cNvPr>
          <p:cNvSpPr/>
          <p:nvPr/>
        </p:nvSpPr>
        <p:spPr>
          <a:xfrm>
            <a:off x="-4" y="1"/>
            <a:ext cx="12192001" cy="3563006"/>
          </a:xfrm>
          <a:prstGeom prst="rect">
            <a:avLst/>
          </a:prstGeom>
          <a:solidFill>
            <a:srgbClr val="82308F"/>
          </a:solidFill>
          <a:ln>
            <a:solidFill>
              <a:srgbClr val="82308F"/>
            </a:solid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endParaRPr>
          </a:p>
        </p:txBody>
      </p:sp>
      <p:sp>
        <p:nvSpPr>
          <p:cNvPr id="6" name="文本框 5">
            <a:extLst>
              <a:ext uri="{FF2B5EF4-FFF2-40B4-BE49-F238E27FC236}">
                <a16:creationId xmlns:a16="http://schemas.microsoft.com/office/drawing/2014/main" id="{A572E3DB-ADF1-DB2A-31F2-EB9625EEDFAC}"/>
              </a:ext>
            </a:extLst>
          </p:cNvPr>
          <p:cNvSpPr txBox="1"/>
          <p:nvPr/>
        </p:nvSpPr>
        <p:spPr>
          <a:xfrm>
            <a:off x="857902" y="2192198"/>
            <a:ext cx="10476186" cy="830997"/>
          </a:xfrm>
          <a:prstGeom prst="rect">
            <a:avLst/>
          </a:prstGeom>
          <a:noFill/>
        </p:spPr>
        <p:txBody>
          <a:bodyPr wrap="square" rtlCol="0">
            <a:spAutoFit/>
          </a:bodyPr>
          <a:lstStyle/>
          <a:p>
            <a:pPr algn="ctr"/>
            <a:r>
              <a:rPr lang="en-US" altLang="zh-CN" sz="4800" b="1" dirty="0">
                <a:solidFill>
                  <a:schemeClr val="bg1"/>
                </a:solidFill>
              </a:rPr>
              <a:t>Thanks for your listening!</a:t>
            </a:r>
            <a:endParaRPr lang="zh-CN" altLang="en-US" sz="4800" b="1" dirty="0">
              <a:solidFill>
                <a:schemeClr val="bg1"/>
              </a:solidFill>
            </a:endParaRPr>
          </a:p>
        </p:txBody>
      </p:sp>
      <p:sp>
        <p:nvSpPr>
          <p:cNvPr id="7" name="文本框 6">
            <a:extLst>
              <a:ext uri="{FF2B5EF4-FFF2-40B4-BE49-F238E27FC236}">
                <a16:creationId xmlns:a16="http://schemas.microsoft.com/office/drawing/2014/main" id="{5F204B41-F151-A9E1-2ED1-705715A31218}"/>
              </a:ext>
            </a:extLst>
          </p:cNvPr>
          <p:cNvSpPr txBox="1"/>
          <p:nvPr/>
        </p:nvSpPr>
        <p:spPr>
          <a:xfrm>
            <a:off x="2379274" y="3816412"/>
            <a:ext cx="7433443" cy="461665"/>
          </a:xfrm>
          <a:prstGeom prst="rect">
            <a:avLst/>
          </a:prstGeom>
          <a:noFill/>
        </p:spPr>
        <p:txBody>
          <a:bodyPr wrap="square" rtlCol="0">
            <a:spAutoFit/>
          </a:bodyPr>
          <a:lstStyle/>
          <a:p>
            <a:pPr algn="ctr"/>
            <a:r>
              <a:rPr lang="en-US" altLang="zh-CN" sz="2400" dirty="0">
                <a:latin typeface="微软雅黑" panose="020B0503020204020204" pitchFamily="34" charset="-122"/>
                <a:ea typeface="微软雅黑" panose="020B0503020204020204" pitchFamily="34" charset="-122"/>
              </a:rPr>
              <a:t>Presenter: </a:t>
            </a:r>
            <a:r>
              <a:rPr lang="en-US" altLang="zh-CN" sz="2400" dirty="0" err="1">
                <a:latin typeface="微软雅黑" panose="020B0503020204020204" pitchFamily="34" charset="-122"/>
                <a:ea typeface="微软雅黑" panose="020B0503020204020204" pitchFamily="34" charset="-122"/>
              </a:rPr>
              <a:t>Qihang</a:t>
            </a:r>
            <a:r>
              <a:rPr lang="en-US" altLang="zh-CN" sz="2400" dirty="0">
                <a:latin typeface="微软雅黑" panose="020B0503020204020204" pitchFamily="34" charset="-122"/>
                <a:ea typeface="微软雅黑" panose="020B0503020204020204" pitchFamily="34" charset="-122"/>
              </a:rPr>
              <a:t> Peng</a:t>
            </a:r>
            <a:endParaRPr lang="zh-CN" altLang="en-US" sz="2400" dirty="0">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1D095C9A-47F1-C639-776E-4638C548B5C5}"/>
              </a:ext>
            </a:extLst>
          </p:cNvPr>
          <p:cNvPicPr>
            <a:picLocks noChangeAspect="1"/>
          </p:cNvPicPr>
          <p:nvPr/>
        </p:nvPicPr>
        <p:blipFill>
          <a:blip r:embed="rId2"/>
          <a:stretch>
            <a:fillRect/>
          </a:stretch>
        </p:blipFill>
        <p:spPr>
          <a:xfrm>
            <a:off x="1162047" y="5260205"/>
            <a:ext cx="9867906" cy="1354792"/>
          </a:xfrm>
          <a:prstGeom prst="rect">
            <a:avLst/>
          </a:prstGeom>
        </p:spPr>
      </p:pic>
      <p:sp>
        <p:nvSpPr>
          <p:cNvPr id="10" name="AutoShape 4" descr="IETF logo">
            <a:extLst>
              <a:ext uri="{FF2B5EF4-FFF2-40B4-BE49-F238E27FC236}">
                <a16:creationId xmlns:a16="http://schemas.microsoft.com/office/drawing/2014/main" id="{E983861F-7507-0321-1733-EFFE2A55D25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6" descr="IETF logo">
            <a:extLst>
              <a:ext uri="{FF2B5EF4-FFF2-40B4-BE49-F238E27FC236}">
                <a16:creationId xmlns:a16="http://schemas.microsoft.com/office/drawing/2014/main" id="{89BFBB01-8A59-E8FE-0533-B773ACF54935}"/>
              </a:ext>
            </a:extLst>
          </p:cNvPr>
          <p:cNvSpPr>
            <a:spLocks noChangeAspect="1" noChangeArrowheads="1"/>
          </p:cNvSpPr>
          <p:nvPr/>
        </p:nvSpPr>
        <p:spPr bwMode="auto">
          <a:xfrm>
            <a:off x="1162047" y="453501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32" name="Picture 8" descr="Internet Engineering Task Force - Wikipedia">
            <a:extLst>
              <a:ext uri="{FF2B5EF4-FFF2-40B4-BE49-F238E27FC236}">
                <a16:creationId xmlns:a16="http://schemas.microsoft.com/office/drawing/2014/main" id="{FF28A269-3D37-074A-5514-35A55D2648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381" y="0"/>
            <a:ext cx="1630060" cy="93303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bout - IEEE Entrepreneurship">
            <a:extLst>
              <a:ext uri="{FF2B5EF4-FFF2-40B4-BE49-F238E27FC236}">
                <a16:creationId xmlns:a16="http://schemas.microsoft.com/office/drawing/2014/main" id="{558B738D-5D45-05E2-EAEE-551333C01D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820788" cy="93303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87667F89-BBD5-FFE7-D739-BB8F2866E8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45084" y="78763"/>
            <a:ext cx="1246916" cy="1052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358968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651</TotalTime>
  <Words>1716</Words>
  <Application>Microsoft Office PowerPoint</Application>
  <PresentationFormat>宽屏</PresentationFormat>
  <Paragraphs>186</Paragraphs>
  <Slides>16</Slides>
  <Notes>12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HelveticaNeue-Bold</vt:lpstr>
      <vt:lpstr>等线</vt:lpstr>
      <vt:lpstr>等线 Light</vt:lpstr>
      <vt:lpstr>微软雅黑</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dc:creator>
  <cp:lastModifiedBy>PC</cp:lastModifiedBy>
  <cp:revision>129</cp:revision>
  <dcterms:created xsi:type="dcterms:W3CDTF">2025-05-12T12:57:32Z</dcterms:created>
  <dcterms:modified xsi:type="dcterms:W3CDTF">2025-06-21T13:48:34Z</dcterms:modified>
</cp:coreProperties>
</file>